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143500" cx="9144000"/>
  <p:notesSz cx="5143500" cy="9144000"/>
  <p:embeddedFontLst>
    <p:embeddedFont>
      <p:font typeface="Poppi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jzE79DsdyqkAsYx1mIsE59xXk3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Poppins-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italic.fntdata"/><Relationship Id="rId25" Type="http://schemas.openxmlformats.org/officeDocument/2006/relationships/font" Target="fonts/Poppins-bold.fntdata"/><Relationship Id="rId28" Type="http://customschemas.google.com/relationships/presentationmetadata" Target="metadata"/><Relationship Id="rId27" Type="http://schemas.openxmlformats.org/officeDocument/2006/relationships/font" Target="fonts/Poppi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d60807834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d60807834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g3d60807834f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d60807834f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g3d60807834f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g3d60807834f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60807834f_0_2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g3d60807834f_0_2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d60807834f_0_2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60807834f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3d60807834f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3d60807834f_0_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60807834f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d60807834f_0_1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d60807834f_0_1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d60807834f_0_2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3d60807834f_0_2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g3d60807834f_0_2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d60807834f_0_2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3d60807834f_0_2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g3d60807834f_0_2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5" name="Shape 15"/>
        <p:cNvGrpSpPr/>
        <p:nvPr/>
      </p:nvGrpSpPr>
      <p:grpSpPr>
        <a:xfrm>
          <a:off x="0" y="0"/>
          <a:ext cx="0" cy="0"/>
          <a:chOff x="0" y="0"/>
          <a:chExt cx="0" cy="0"/>
        </a:xfrm>
      </p:grpSpPr>
      <p:sp>
        <p:nvSpPr>
          <p:cNvPr id="16" name="Google Shape;16;g3d60807834f_0_0"/>
          <p:cNvSpPr/>
          <p:nvPr/>
        </p:nvSpPr>
        <p:spPr>
          <a:xfrm>
            <a:off x="640080" y="1371600"/>
            <a:ext cx="914400" cy="45600"/>
          </a:xfrm>
          <a:prstGeom prst="rect">
            <a:avLst/>
          </a:prstGeom>
          <a:solidFill>
            <a:srgbClr val="F48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g3d60807834f_0_0"/>
          <p:cNvSpPr/>
          <p:nvPr/>
        </p:nvSpPr>
        <p:spPr>
          <a:xfrm>
            <a:off x="640080" y="1554480"/>
            <a:ext cx="7315200" cy="1280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4000"/>
              <a:buFont typeface="Poppins"/>
              <a:buNone/>
            </a:pPr>
            <a:r>
              <a:rPr b="1" i="0" lang="en-US" sz="4000" u="none" cap="none" strike="noStrike">
                <a:solidFill>
                  <a:srgbClr val="FFFFFF"/>
                </a:solidFill>
                <a:latin typeface="Poppins"/>
                <a:ea typeface="Poppins"/>
                <a:cs typeface="Poppins"/>
                <a:sym typeface="Poppins"/>
              </a:rPr>
              <a:t>Mobile vs. Desktop</a:t>
            </a:r>
            <a:endParaRPr b="0" i="0" sz="40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4000"/>
              <a:buFont typeface="Poppins"/>
              <a:buNone/>
            </a:pPr>
            <a:r>
              <a:rPr b="1" i="0" lang="en-US" sz="4000" u="none" cap="none" strike="noStrike">
                <a:solidFill>
                  <a:srgbClr val="FFFFFF"/>
                </a:solidFill>
                <a:latin typeface="Poppins"/>
                <a:ea typeface="Poppins"/>
                <a:cs typeface="Poppins"/>
                <a:sym typeface="Poppins"/>
              </a:rPr>
              <a:t>Photo Editing</a:t>
            </a:r>
            <a:endParaRPr b="0" i="0" sz="4000" u="none" cap="none" strike="noStrike">
              <a:solidFill>
                <a:schemeClr val="dk1"/>
              </a:solidFill>
              <a:latin typeface="Calibri"/>
              <a:ea typeface="Calibri"/>
              <a:cs typeface="Calibri"/>
              <a:sym typeface="Calibri"/>
            </a:endParaRPr>
          </a:p>
        </p:txBody>
      </p:sp>
      <p:sp>
        <p:nvSpPr>
          <p:cNvPr id="18" name="Google Shape;18;g3d60807834f_0_0"/>
          <p:cNvSpPr/>
          <p:nvPr/>
        </p:nvSpPr>
        <p:spPr>
          <a:xfrm>
            <a:off x="640075" y="2926075"/>
            <a:ext cx="633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800"/>
              <a:buFont typeface="Poppins"/>
              <a:buNone/>
            </a:pPr>
            <a:r>
              <a:rPr b="0" i="0" lang="en-US" sz="1800" u="none" cap="none" strike="noStrike">
                <a:solidFill>
                  <a:srgbClr val="F48FB1"/>
                </a:solidFill>
                <a:latin typeface="Poppins"/>
                <a:ea typeface="Poppins"/>
                <a:cs typeface="Poppins"/>
                <a:sym typeface="Poppins"/>
              </a:rPr>
              <a:t>How do users edit today </a:t>
            </a:r>
            <a:r>
              <a:rPr lang="en-US" sz="1800">
                <a:solidFill>
                  <a:srgbClr val="F48FB1"/>
                </a:solidFill>
                <a:latin typeface="Poppins"/>
                <a:ea typeface="Poppins"/>
                <a:cs typeface="Poppins"/>
                <a:sym typeface="Poppins"/>
              </a:rPr>
              <a:t>-</a:t>
            </a:r>
            <a:r>
              <a:rPr b="0" i="0" lang="en-US" sz="1800" u="none" cap="none" strike="noStrike">
                <a:solidFill>
                  <a:srgbClr val="F48FB1"/>
                </a:solidFill>
                <a:latin typeface="Poppins"/>
                <a:ea typeface="Poppins"/>
                <a:cs typeface="Poppins"/>
                <a:sym typeface="Poppins"/>
              </a:rPr>
              <a:t> and should Facetune build for desktop?</a:t>
            </a:r>
            <a:endParaRPr b="0" i="0" sz="1800" u="none" cap="none" strike="noStrike">
              <a:solidFill>
                <a:schemeClr val="dk1"/>
              </a:solidFill>
              <a:latin typeface="Calibri"/>
              <a:ea typeface="Calibri"/>
              <a:cs typeface="Calibri"/>
              <a:sym typeface="Calibri"/>
            </a:endParaRPr>
          </a:p>
        </p:txBody>
      </p:sp>
      <p:sp>
        <p:nvSpPr>
          <p:cNvPr id="19" name="Google Shape;19;g3d60807834f_0_0"/>
          <p:cNvSpPr/>
          <p:nvPr/>
        </p:nvSpPr>
        <p:spPr>
          <a:xfrm>
            <a:off x="640080" y="4373560"/>
            <a:ext cx="7315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UX Research  |  April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sp>
        <p:nvSpPr>
          <p:cNvPr id="25" name="Google Shape;25;p2"/>
          <p:cNvSpPr/>
          <p:nvPr/>
        </p:nvSpPr>
        <p:spPr>
          <a:xfrm>
            <a:off x="640080" y="761410"/>
            <a:ext cx="7863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800"/>
              <a:buFont typeface="Poppins"/>
              <a:buNone/>
            </a:pPr>
            <a:r>
              <a:rPr b="1" i="0" lang="en-US" sz="2800" u="none" cap="none" strike="noStrike">
                <a:solidFill>
                  <a:srgbClr val="1A1A1A"/>
                </a:solidFill>
                <a:latin typeface="Poppins"/>
                <a:ea typeface="Poppins"/>
                <a:cs typeface="Poppins"/>
                <a:sym typeface="Poppins"/>
              </a:rPr>
              <a:t>What is the </a:t>
            </a:r>
            <a:r>
              <a:rPr b="1" i="0" lang="en-US" sz="2800" u="none" cap="none" strike="noStrike">
                <a:solidFill>
                  <a:srgbClr val="C2185B"/>
                </a:solidFill>
                <a:latin typeface="Poppins"/>
                <a:ea typeface="Poppins"/>
                <a:cs typeface="Poppins"/>
                <a:sym typeface="Poppins"/>
              </a:rPr>
              <a:t>purpose</a:t>
            </a:r>
            <a:r>
              <a:rPr b="1" i="0" lang="en-US" sz="2800" u="none" cap="none" strike="noStrike">
                <a:solidFill>
                  <a:srgbClr val="1A1A1A"/>
                </a:solidFill>
                <a:latin typeface="Poppins"/>
                <a:ea typeface="Poppins"/>
                <a:cs typeface="Poppins"/>
                <a:sym typeface="Poppins"/>
              </a:rPr>
              <a:t> of this research?</a:t>
            </a:r>
            <a:endParaRPr b="0" i="0" sz="2800" u="none" cap="none" strike="noStrike">
              <a:solidFill>
                <a:schemeClr val="dk1"/>
              </a:solidFill>
              <a:latin typeface="Calibri"/>
              <a:ea typeface="Calibri"/>
              <a:cs typeface="Calibri"/>
              <a:sym typeface="Calibri"/>
            </a:endParaRPr>
          </a:p>
        </p:txBody>
      </p:sp>
      <p:sp>
        <p:nvSpPr>
          <p:cNvPr id="26" name="Google Shape;26;p2"/>
          <p:cNvSpPr/>
          <p:nvPr/>
        </p:nvSpPr>
        <p:spPr>
          <a:xfrm>
            <a:off x="822960" y="1858690"/>
            <a:ext cx="457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600"/>
              <a:buFont typeface="Poppins"/>
              <a:buNone/>
            </a:pPr>
            <a:r>
              <a:rPr b="1" i="0" lang="en-US" sz="1600" u="none" cap="none" strike="noStrike">
                <a:solidFill>
                  <a:srgbClr val="C2185B"/>
                </a:solidFill>
                <a:latin typeface="Poppins"/>
                <a:ea typeface="Poppins"/>
                <a:cs typeface="Poppins"/>
                <a:sym typeface="Poppins"/>
              </a:rPr>
              <a:t>1)</a:t>
            </a:r>
            <a:endParaRPr b="0" i="0" sz="1600" u="none" cap="none" strike="noStrike">
              <a:solidFill>
                <a:schemeClr val="dk1"/>
              </a:solidFill>
              <a:latin typeface="Calibri"/>
              <a:ea typeface="Calibri"/>
              <a:cs typeface="Calibri"/>
              <a:sym typeface="Calibri"/>
            </a:endParaRPr>
          </a:p>
        </p:txBody>
      </p:sp>
      <p:sp>
        <p:nvSpPr>
          <p:cNvPr id="27" name="Google Shape;27;p2"/>
          <p:cNvSpPr/>
          <p:nvPr/>
        </p:nvSpPr>
        <p:spPr>
          <a:xfrm>
            <a:off x="1371600" y="1858700"/>
            <a:ext cx="6178800" cy="5487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A1A1A"/>
              </a:buClr>
              <a:buSzPts val="1600"/>
              <a:buFont typeface="Poppins"/>
              <a:buNone/>
            </a:pPr>
            <a:r>
              <a:rPr b="0" i="0" lang="en-US" sz="1600" u="none" cap="none" strike="noStrike">
                <a:solidFill>
                  <a:srgbClr val="1A1A1A"/>
                </a:solidFill>
                <a:latin typeface="Poppins"/>
                <a:ea typeface="Poppins"/>
                <a:cs typeface="Poppins"/>
                <a:sym typeface="Poppins"/>
              </a:rPr>
              <a:t>Understand users’ current behaviors, pain points, and needs when it comes to mobile vs. desktop photo editing</a:t>
            </a:r>
            <a:endParaRPr b="0" i="0" sz="1600" u="none" cap="none" strike="noStrike">
              <a:solidFill>
                <a:schemeClr val="dk1"/>
              </a:solidFill>
              <a:latin typeface="Calibri"/>
              <a:ea typeface="Calibri"/>
              <a:cs typeface="Calibri"/>
              <a:sym typeface="Calibri"/>
            </a:endParaRPr>
          </a:p>
        </p:txBody>
      </p:sp>
      <p:sp>
        <p:nvSpPr>
          <p:cNvPr id="28" name="Google Shape;28;p2"/>
          <p:cNvSpPr/>
          <p:nvPr/>
        </p:nvSpPr>
        <p:spPr>
          <a:xfrm>
            <a:off x="822960" y="2773090"/>
            <a:ext cx="457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600"/>
              <a:buFont typeface="Poppins"/>
              <a:buNone/>
            </a:pPr>
            <a:r>
              <a:rPr b="1" i="0" lang="en-US" sz="1600" u="none" cap="none" strike="noStrike">
                <a:solidFill>
                  <a:srgbClr val="C2185B"/>
                </a:solidFill>
                <a:latin typeface="Poppins"/>
                <a:ea typeface="Poppins"/>
                <a:cs typeface="Poppins"/>
                <a:sym typeface="Poppins"/>
              </a:rPr>
              <a:t>2)</a:t>
            </a:r>
            <a:endParaRPr b="0" i="0" sz="1600" u="none" cap="none" strike="noStrike">
              <a:solidFill>
                <a:schemeClr val="dk1"/>
              </a:solidFill>
              <a:latin typeface="Calibri"/>
              <a:ea typeface="Calibri"/>
              <a:cs typeface="Calibri"/>
              <a:sym typeface="Calibri"/>
            </a:endParaRPr>
          </a:p>
        </p:txBody>
      </p:sp>
      <p:sp>
        <p:nvSpPr>
          <p:cNvPr id="29" name="Google Shape;29;p2"/>
          <p:cNvSpPr/>
          <p:nvPr/>
        </p:nvSpPr>
        <p:spPr>
          <a:xfrm>
            <a:off x="1371600" y="2806075"/>
            <a:ext cx="6022200" cy="5487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A1A1A"/>
              </a:buClr>
              <a:buSzPts val="1600"/>
              <a:buFont typeface="Poppins"/>
              <a:buNone/>
            </a:pPr>
            <a:r>
              <a:rPr b="0" i="0" lang="en-US" sz="1600" u="none" cap="none" strike="noStrike">
                <a:solidFill>
                  <a:srgbClr val="1A1A1A"/>
                </a:solidFill>
                <a:latin typeface="Poppins"/>
                <a:ea typeface="Poppins"/>
                <a:cs typeface="Poppins"/>
                <a:sym typeface="Poppins"/>
              </a:rPr>
              <a:t>Assess whether there’s a real opportunity for Facetune</a:t>
            </a:r>
            <a:r>
              <a:rPr lang="en-US" sz="1600">
                <a:solidFill>
                  <a:srgbClr val="1A1A1A"/>
                </a:solidFill>
                <a:latin typeface="Poppins"/>
                <a:ea typeface="Poppins"/>
                <a:cs typeface="Poppins"/>
                <a:sym typeface="Poppins"/>
              </a:rPr>
              <a:t> in the web space</a:t>
            </a:r>
            <a:endParaRPr sz="1600">
              <a:solidFill>
                <a:srgbClr val="1A1A1A"/>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 name="Shape 34"/>
        <p:cNvGrpSpPr/>
        <p:nvPr/>
      </p:nvGrpSpPr>
      <p:grpSpPr>
        <a:xfrm>
          <a:off x="0" y="0"/>
          <a:ext cx="0" cy="0"/>
          <a:chOff x="0" y="0"/>
          <a:chExt cx="0" cy="0"/>
        </a:xfrm>
      </p:grpSpPr>
      <p:sp>
        <p:nvSpPr>
          <p:cNvPr id="35" name="Google Shape;35;p3"/>
          <p:cNvSpPr/>
          <p:nvPr/>
        </p:nvSpPr>
        <p:spPr>
          <a:xfrm>
            <a:off x="640080" y="36576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800"/>
              <a:buFont typeface="Poppins"/>
              <a:buNone/>
            </a:pPr>
            <a:r>
              <a:rPr b="1" i="0" lang="en-US" sz="2800" u="none" cap="none" strike="noStrike">
                <a:solidFill>
                  <a:srgbClr val="C2185B"/>
                </a:solidFill>
                <a:latin typeface="Poppins"/>
                <a:ea typeface="Poppins"/>
                <a:cs typeface="Poppins"/>
                <a:sym typeface="Poppins"/>
              </a:rPr>
              <a:t>Main RQ</a:t>
            </a:r>
            <a:endParaRPr b="0" i="0" sz="2800" u="none" cap="none" strike="noStrike">
              <a:solidFill>
                <a:schemeClr val="dk1"/>
              </a:solidFill>
              <a:latin typeface="Calibri"/>
              <a:ea typeface="Calibri"/>
              <a:cs typeface="Calibri"/>
              <a:sym typeface="Calibri"/>
            </a:endParaRPr>
          </a:p>
        </p:txBody>
      </p:sp>
      <p:sp>
        <p:nvSpPr>
          <p:cNvPr id="36" name="Google Shape;36;p3"/>
          <p:cNvSpPr/>
          <p:nvPr/>
        </p:nvSpPr>
        <p:spPr>
          <a:xfrm>
            <a:off x="480063" y="1473490"/>
            <a:ext cx="2606100" cy="640200"/>
          </a:xfrm>
          <a:prstGeom prst="roundRect">
            <a:avLst>
              <a:gd fmla="val 14286" name="adj"/>
            </a:avLst>
          </a:prstGeom>
          <a:solidFill>
            <a:srgbClr val="FFFFFF"/>
          </a:solidFill>
          <a:ln cap="flat" cmpd="sng" w="22850">
            <a:solidFill>
              <a:srgbClr val="C218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480063" y="1473490"/>
            <a:ext cx="26061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1A"/>
              </a:buClr>
              <a:buSzPts val="1300"/>
              <a:buFont typeface="Poppins"/>
              <a:buNone/>
            </a:pPr>
            <a:r>
              <a:rPr b="1" i="0" lang="en-US" sz="1300" u="none" cap="none" strike="noStrike">
                <a:solidFill>
                  <a:srgbClr val="1A1A1A"/>
                </a:solidFill>
                <a:latin typeface="Poppins"/>
                <a:ea typeface="Poppins"/>
                <a:cs typeface="Poppins"/>
                <a:sym typeface="Poppins"/>
              </a:rPr>
              <a:t>Behaviors</a:t>
            </a:r>
            <a:endParaRPr b="0" i="0" sz="1300" u="none" cap="none" strike="noStrike">
              <a:solidFill>
                <a:schemeClr val="dk1"/>
              </a:solidFill>
              <a:latin typeface="Calibri"/>
              <a:ea typeface="Calibri"/>
              <a:cs typeface="Calibri"/>
              <a:sym typeface="Calibri"/>
            </a:endParaRPr>
          </a:p>
        </p:txBody>
      </p:sp>
      <p:sp>
        <p:nvSpPr>
          <p:cNvPr id="38" name="Google Shape;38;p3"/>
          <p:cNvSpPr/>
          <p:nvPr/>
        </p:nvSpPr>
        <p:spPr>
          <a:xfrm>
            <a:off x="640072" y="2428325"/>
            <a:ext cx="2377500" cy="5487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rgbClr val="2D2D2D"/>
              </a:buClr>
              <a:buSzPts val="1100"/>
              <a:buFont typeface="Poppins"/>
              <a:buChar char="●"/>
            </a:pPr>
            <a:r>
              <a:rPr b="0" i="0" lang="en-US" sz="1100" u="none" cap="none" strike="noStrike">
                <a:solidFill>
                  <a:srgbClr val="2D2D2D"/>
                </a:solidFill>
                <a:latin typeface="Poppins"/>
                <a:ea typeface="Poppins"/>
                <a:cs typeface="Poppins"/>
                <a:sym typeface="Poppins"/>
              </a:rPr>
              <a:t>What do users actually do on each device?</a:t>
            </a:r>
            <a:endParaRPr b="0" i="0" sz="1100" u="none" cap="none" strike="noStrike">
              <a:solidFill>
                <a:schemeClr val="dk1"/>
              </a:solidFill>
              <a:latin typeface="Calibri"/>
              <a:ea typeface="Calibri"/>
              <a:cs typeface="Calibri"/>
              <a:sym typeface="Calibri"/>
            </a:endParaRPr>
          </a:p>
        </p:txBody>
      </p:sp>
      <p:sp>
        <p:nvSpPr>
          <p:cNvPr id="39" name="Google Shape;39;p3"/>
          <p:cNvSpPr/>
          <p:nvPr/>
        </p:nvSpPr>
        <p:spPr>
          <a:xfrm>
            <a:off x="640072" y="3022685"/>
            <a:ext cx="2377500" cy="5487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rgbClr val="2D2D2D"/>
              </a:buClr>
              <a:buSzPts val="1100"/>
              <a:buFont typeface="Poppins"/>
              <a:buChar char="●"/>
            </a:pPr>
            <a:r>
              <a:rPr b="0" i="0" lang="en-US" sz="1100" u="none" cap="none" strike="noStrike">
                <a:solidFill>
                  <a:srgbClr val="2D2D2D"/>
                </a:solidFill>
                <a:latin typeface="Poppins"/>
                <a:ea typeface="Poppins"/>
                <a:cs typeface="Poppins"/>
                <a:sym typeface="Poppins"/>
              </a:rPr>
              <a:t>What types of edits do they make on phone vs. desktop?</a:t>
            </a:r>
            <a:endParaRPr b="0" i="0" sz="1100" u="none" cap="none" strike="noStrike">
              <a:solidFill>
                <a:schemeClr val="dk1"/>
              </a:solidFill>
              <a:latin typeface="Calibri"/>
              <a:ea typeface="Calibri"/>
              <a:cs typeface="Calibri"/>
              <a:sym typeface="Calibri"/>
            </a:endParaRPr>
          </a:p>
        </p:txBody>
      </p:sp>
      <p:sp>
        <p:nvSpPr>
          <p:cNvPr id="40" name="Google Shape;40;p3"/>
          <p:cNvSpPr/>
          <p:nvPr/>
        </p:nvSpPr>
        <p:spPr>
          <a:xfrm>
            <a:off x="640072" y="3765395"/>
            <a:ext cx="2377500" cy="5487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rgbClr val="2D2D2D"/>
              </a:buClr>
              <a:buSzPts val="1100"/>
              <a:buFont typeface="Poppins"/>
              <a:buChar char="●"/>
            </a:pPr>
            <a:r>
              <a:rPr b="0" i="0" lang="en-US" sz="1100" u="none" cap="none" strike="noStrike">
                <a:solidFill>
                  <a:srgbClr val="2D2D2D"/>
                </a:solidFill>
                <a:latin typeface="Poppins"/>
                <a:ea typeface="Poppins"/>
                <a:cs typeface="Poppins"/>
                <a:sym typeface="Poppins"/>
              </a:rPr>
              <a:t>How long are their editing sessions?</a:t>
            </a:r>
            <a:endParaRPr b="0" i="0" sz="1100" u="none" cap="none" strike="noStrike">
              <a:solidFill>
                <a:schemeClr val="dk1"/>
              </a:solidFill>
              <a:latin typeface="Calibri"/>
              <a:ea typeface="Calibri"/>
              <a:cs typeface="Calibri"/>
              <a:sym typeface="Calibri"/>
            </a:endParaRPr>
          </a:p>
        </p:txBody>
      </p:sp>
      <p:sp>
        <p:nvSpPr>
          <p:cNvPr id="41" name="Google Shape;41;p3"/>
          <p:cNvSpPr/>
          <p:nvPr/>
        </p:nvSpPr>
        <p:spPr>
          <a:xfrm>
            <a:off x="3986108" y="1473490"/>
            <a:ext cx="2606100" cy="640200"/>
          </a:xfrm>
          <a:prstGeom prst="roundRect">
            <a:avLst>
              <a:gd fmla="val 14286" name="adj"/>
            </a:avLst>
          </a:prstGeom>
          <a:solidFill>
            <a:srgbClr val="FFFFFF"/>
          </a:solidFill>
          <a:ln cap="flat" cmpd="sng" w="22850">
            <a:solidFill>
              <a:srgbClr val="C218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3986108" y="1473490"/>
            <a:ext cx="26061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A1A"/>
              </a:buClr>
              <a:buSzPts val="1300"/>
              <a:buFont typeface="Poppins"/>
              <a:buNone/>
            </a:pPr>
            <a:r>
              <a:rPr b="1" i="0" lang="en-US" sz="1300" u="none" cap="none" strike="noStrike">
                <a:solidFill>
                  <a:srgbClr val="1A1A1A"/>
                </a:solidFill>
                <a:latin typeface="Poppins"/>
                <a:ea typeface="Poppins"/>
                <a:cs typeface="Poppins"/>
                <a:sym typeface="Poppins"/>
              </a:rPr>
              <a:t>Motivations</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1A1A1A"/>
              </a:buClr>
              <a:buSzPts val="1300"/>
              <a:buFont typeface="Poppins"/>
              <a:buNone/>
            </a:pPr>
            <a:r>
              <a:rPr b="1" i="0" lang="en-US" sz="1300" u="none" cap="none" strike="noStrike">
                <a:solidFill>
                  <a:srgbClr val="1A1A1A"/>
                </a:solidFill>
                <a:latin typeface="Poppins"/>
                <a:ea typeface="Poppins"/>
                <a:cs typeface="Poppins"/>
                <a:sym typeface="Poppins"/>
              </a:rPr>
              <a:t>&amp; Pain Points</a:t>
            </a:r>
            <a:endParaRPr b="0" i="0" sz="1300" u="none" cap="none" strike="noStrike">
              <a:solidFill>
                <a:schemeClr val="dk1"/>
              </a:solidFill>
              <a:latin typeface="Calibri"/>
              <a:ea typeface="Calibri"/>
              <a:cs typeface="Calibri"/>
              <a:sym typeface="Calibri"/>
            </a:endParaRPr>
          </a:p>
        </p:txBody>
      </p:sp>
      <p:sp>
        <p:nvSpPr>
          <p:cNvPr id="43" name="Google Shape;43;p3"/>
          <p:cNvSpPr/>
          <p:nvPr/>
        </p:nvSpPr>
        <p:spPr>
          <a:xfrm>
            <a:off x="4146118" y="2428325"/>
            <a:ext cx="2377500" cy="5487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rgbClr val="2D2D2D"/>
              </a:buClr>
              <a:buSzPts val="1100"/>
              <a:buFont typeface="Poppins"/>
              <a:buChar char="●"/>
            </a:pPr>
            <a:r>
              <a:rPr b="0" i="0" lang="en-US" sz="1100" u="none" cap="none" strike="noStrike">
                <a:solidFill>
                  <a:srgbClr val="2D2D2D"/>
                </a:solidFill>
                <a:latin typeface="Poppins"/>
                <a:ea typeface="Poppins"/>
                <a:cs typeface="Poppins"/>
                <a:sym typeface="Poppins"/>
              </a:rPr>
              <a:t>Why do they choose one device over the other?</a:t>
            </a:r>
            <a:endParaRPr b="0" i="0" sz="1100" u="none" cap="none" strike="noStrike">
              <a:solidFill>
                <a:schemeClr val="dk1"/>
              </a:solidFill>
              <a:latin typeface="Calibri"/>
              <a:ea typeface="Calibri"/>
              <a:cs typeface="Calibri"/>
              <a:sym typeface="Calibri"/>
            </a:endParaRPr>
          </a:p>
        </p:txBody>
      </p:sp>
      <p:sp>
        <p:nvSpPr>
          <p:cNvPr id="44" name="Google Shape;44;p3"/>
          <p:cNvSpPr/>
          <p:nvPr/>
        </p:nvSpPr>
        <p:spPr>
          <a:xfrm>
            <a:off x="4146118" y="3022685"/>
            <a:ext cx="2377500" cy="5487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rgbClr val="2D2D2D"/>
              </a:buClr>
              <a:buSzPts val="1100"/>
              <a:buFont typeface="Poppins"/>
              <a:buChar char="●"/>
            </a:pPr>
            <a:r>
              <a:rPr b="0" i="0" lang="en-US" sz="1100" u="none" cap="none" strike="noStrike">
                <a:solidFill>
                  <a:srgbClr val="2D2D2D"/>
                </a:solidFill>
                <a:latin typeface="Poppins"/>
                <a:ea typeface="Poppins"/>
                <a:cs typeface="Poppins"/>
                <a:sym typeface="Poppins"/>
              </a:rPr>
              <a:t>What’s frustrating or missing on each device?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 name="Shape 49"/>
        <p:cNvGrpSpPr/>
        <p:nvPr/>
      </p:nvGrpSpPr>
      <p:grpSpPr>
        <a:xfrm>
          <a:off x="0" y="0"/>
          <a:ext cx="0" cy="0"/>
          <a:chOff x="0" y="0"/>
          <a:chExt cx="0" cy="0"/>
        </a:xfrm>
      </p:grpSpPr>
      <p:sp>
        <p:nvSpPr>
          <p:cNvPr id="50" name="Google Shape;50;p4"/>
          <p:cNvSpPr/>
          <p:nvPr/>
        </p:nvSpPr>
        <p:spPr>
          <a:xfrm>
            <a:off x="640080" y="36576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800"/>
              <a:buFont typeface="Poppins"/>
              <a:buNone/>
            </a:pPr>
            <a:r>
              <a:rPr b="1" i="0" lang="en-US" sz="2800" u="none" cap="none" strike="noStrike">
                <a:solidFill>
                  <a:srgbClr val="C2185B"/>
                </a:solidFill>
                <a:latin typeface="Poppins"/>
                <a:ea typeface="Poppins"/>
                <a:cs typeface="Poppins"/>
                <a:sym typeface="Poppins"/>
              </a:rPr>
              <a:t>What was done</a:t>
            </a:r>
            <a:endParaRPr b="0" i="0" sz="2800" u="none" cap="none" strike="noStrike">
              <a:solidFill>
                <a:schemeClr val="dk1"/>
              </a:solidFill>
              <a:latin typeface="Calibri"/>
              <a:ea typeface="Calibri"/>
              <a:cs typeface="Calibri"/>
              <a:sym typeface="Calibri"/>
            </a:endParaRPr>
          </a:p>
        </p:txBody>
      </p:sp>
      <p:sp>
        <p:nvSpPr>
          <p:cNvPr id="51" name="Google Shape;51;p4"/>
          <p:cNvSpPr/>
          <p:nvPr/>
        </p:nvSpPr>
        <p:spPr>
          <a:xfrm>
            <a:off x="640080" y="11887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800"/>
              <a:buFont typeface="Poppins"/>
              <a:buNone/>
            </a:pPr>
            <a:r>
              <a:rPr b="1" i="0" lang="en-US" sz="1800" u="none" cap="none" strike="noStrike">
                <a:solidFill>
                  <a:srgbClr val="1A1A1A"/>
                </a:solidFill>
                <a:latin typeface="Poppins"/>
                <a:ea typeface="Poppins"/>
                <a:cs typeface="Poppins"/>
                <a:sym typeface="Poppins"/>
              </a:rPr>
              <a:t>Audience</a:t>
            </a:r>
            <a:endParaRPr b="0" i="0" sz="1800" u="none" cap="none" strike="noStrike">
              <a:solidFill>
                <a:schemeClr val="dk1"/>
              </a:solidFill>
              <a:latin typeface="Calibri"/>
              <a:ea typeface="Calibri"/>
              <a:cs typeface="Calibri"/>
              <a:sym typeface="Calibri"/>
            </a:endParaRPr>
          </a:p>
        </p:txBody>
      </p:sp>
      <p:sp>
        <p:nvSpPr>
          <p:cNvPr id="52" name="Google Shape;52;p4"/>
          <p:cNvSpPr/>
          <p:nvPr/>
        </p:nvSpPr>
        <p:spPr>
          <a:xfrm>
            <a:off x="640080" y="1600200"/>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300"/>
              <a:buFont typeface="Poppins"/>
              <a:buNone/>
            </a:pPr>
            <a:r>
              <a:rPr b="1" i="0" lang="en-US" sz="1300" u="none" cap="none" strike="noStrike">
                <a:solidFill>
                  <a:srgbClr val="1A1A1A"/>
                </a:solidFill>
                <a:latin typeface="Poppins"/>
                <a:ea typeface="Poppins"/>
                <a:cs typeface="Poppins"/>
                <a:sym typeface="Poppins"/>
              </a:rPr>
              <a:t>1,438 users</a:t>
            </a:r>
            <a:r>
              <a:rPr b="0" i="0" lang="en-US" sz="1300" u="none" cap="none" strike="noStrike">
                <a:solidFill>
                  <a:srgbClr val="2D2D2D"/>
                </a:solidFill>
                <a:latin typeface="Poppins"/>
                <a:ea typeface="Poppins"/>
                <a:cs typeface="Poppins"/>
                <a:sym typeface="Poppins"/>
              </a:rPr>
              <a:t> completed </a:t>
            </a:r>
            <a:r>
              <a:rPr lang="en-US" sz="1300">
                <a:solidFill>
                  <a:srgbClr val="2D2D2D"/>
                </a:solidFill>
                <a:latin typeface="Poppins"/>
                <a:ea typeface="Poppins"/>
                <a:cs typeface="Poppins"/>
                <a:sym typeface="Poppins"/>
              </a:rPr>
              <a:t>a</a:t>
            </a:r>
            <a:r>
              <a:rPr b="0" i="0" lang="en-US" sz="1300" u="none" cap="none" strike="noStrike">
                <a:solidFill>
                  <a:srgbClr val="2D2D2D"/>
                </a:solidFill>
                <a:latin typeface="Poppins"/>
                <a:ea typeface="Poppins"/>
                <a:cs typeface="Poppins"/>
                <a:sym typeface="Poppins"/>
              </a:rPr>
              <a:t> quantitative surveys via UserTesting</a:t>
            </a:r>
            <a:r>
              <a:rPr lang="en-US" sz="1300">
                <a:solidFill>
                  <a:srgbClr val="2D2D2D"/>
                </a:solidFill>
                <a:latin typeface="Poppins"/>
                <a:ea typeface="Poppins"/>
                <a:cs typeface="Poppins"/>
                <a:sym typeface="Poppins"/>
              </a:rPr>
              <a:t>:</a:t>
            </a:r>
            <a:endParaRPr b="0" i="0" sz="1300" u="none" cap="none" strike="noStrike">
              <a:solidFill>
                <a:schemeClr val="dk1"/>
              </a:solidFill>
              <a:latin typeface="Calibri"/>
              <a:ea typeface="Calibri"/>
              <a:cs typeface="Calibri"/>
              <a:sym typeface="Calibri"/>
            </a:endParaRPr>
          </a:p>
        </p:txBody>
      </p:sp>
      <p:sp>
        <p:nvSpPr>
          <p:cNvPr id="53" name="Google Shape;53;p4"/>
          <p:cNvSpPr/>
          <p:nvPr/>
        </p:nvSpPr>
        <p:spPr>
          <a:xfrm>
            <a:off x="1188720" y="2011680"/>
            <a:ext cx="6858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00"/>
              <a:buFont typeface="Poppins"/>
              <a:buNone/>
            </a:pPr>
            <a:r>
              <a:rPr b="0" i="0" lang="en-US" sz="1200" u="none" cap="none" strike="noStrike">
                <a:solidFill>
                  <a:srgbClr val="6B6B6B"/>
                </a:solidFill>
                <a:latin typeface="Poppins"/>
                <a:ea typeface="Poppins"/>
                <a:cs typeface="Poppins"/>
                <a:sym typeface="Poppins"/>
              </a:rPr>
              <a:t>○   </a:t>
            </a:r>
            <a:r>
              <a:rPr b="1" i="0" lang="en-US" sz="1200" u="none" cap="none" strike="noStrike">
                <a:solidFill>
                  <a:srgbClr val="C2185B"/>
                </a:solidFill>
                <a:latin typeface="Poppins"/>
                <a:ea typeface="Poppins"/>
                <a:cs typeface="Poppins"/>
                <a:sym typeface="Poppins"/>
              </a:rPr>
              <a:t>Survey 1</a:t>
            </a:r>
            <a:r>
              <a:rPr b="1" i="0" lang="en-US" sz="1200" u="none" cap="none" strike="noStrike">
                <a:solidFill>
                  <a:srgbClr val="1A1A1A"/>
                </a:solidFill>
                <a:latin typeface="Poppins"/>
                <a:ea typeface="Poppins"/>
                <a:cs typeface="Poppins"/>
                <a:sym typeface="Poppins"/>
              </a:rPr>
              <a:t> – 430 </a:t>
            </a:r>
            <a:r>
              <a:rPr b="0" i="0" lang="en-US" sz="1200" u="none" cap="none" strike="noStrike">
                <a:solidFill>
                  <a:srgbClr val="2D2D2D"/>
                </a:solidFill>
                <a:latin typeface="Poppins"/>
                <a:ea typeface="Poppins"/>
                <a:cs typeface="Poppins"/>
                <a:sym typeface="Poppins"/>
              </a:rPr>
              <a:t>Facetune mobile users who </a:t>
            </a:r>
            <a:r>
              <a:rPr b="0" i="1" lang="en-US" sz="1200" u="none" cap="none" strike="noStrike">
                <a:solidFill>
                  <a:srgbClr val="C2185B"/>
                </a:solidFill>
                <a:latin typeface="Poppins"/>
                <a:ea typeface="Poppins"/>
                <a:cs typeface="Poppins"/>
                <a:sym typeface="Poppins"/>
              </a:rPr>
              <a:t>also use desktop editing tools</a:t>
            </a:r>
            <a:endParaRPr b="0" i="0" sz="1200" u="none" cap="none" strike="noStrike">
              <a:solidFill>
                <a:schemeClr val="dk1"/>
              </a:solidFill>
              <a:latin typeface="Calibri"/>
              <a:ea typeface="Calibri"/>
              <a:cs typeface="Calibri"/>
              <a:sym typeface="Calibri"/>
            </a:endParaRPr>
          </a:p>
        </p:txBody>
      </p:sp>
      <p:sp>
        <p:nvSpPr>
          <p:cNvPr id="54" name="Google Shape;54;p4"/>
          <p:cNvSpPr/>
          <p:nvPr/>
        </p:nvSpPr>
        <p:spPr>
          <a:xfrm>
            <a:off x="1188725" y="2422963"/>
            <a:ext cx="7113900" cy="502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B6B"/>
              </a:buClr>
              <a:buSzPts val="1200"/>
              <a:buFont typeface="Poppins"/>
              <a:buNone/>
            </a:pPr>
            <a:r>
              <a:rPr b="0" i="0" lang="en-US" sz="1200" u="none" cap="none" strike="noStrike">
                <a:solidFill>
                  <a:srgbClr val="6B6B6B"/>
                </a:solidFill>
                <a:latin typeface="Poppins"/>
                <a:ea typeface="Poppins"/>
                <a:cs typeface="Poppins"/>
                <a:sym typeface="Poppins"/>
              </a:rPr>
              <a:t>○   </a:t>
            </a:r>
            <a:r>
              <a:rPr b="1" i="0" lang="en-US" sz="1200" u="none" cap="none" strike="noStrike">
                <a:solidFill>
                  <a:srgbClr val="C2185B"/>
                </a:solidFill>
                <a:latin typeface="Poppins"/>
                <a:ea typeface="Poppins"/>
                <a:cs typeface="Poppins"/>
                <a:sym typeface="Poppins"/>
              </a:rPr>
              <a:t>Survey 2</a:t>
            </a:r>
            <a:r>
              <a:rPr b="1" i="0" lang="en-US" sz="1200" u="none" cap="none" strike="noStrike">
                <a:solidFill>
                  <a:srgbClr val="1A1A1A"/>
                </a:solidFill>
                <a:latin typeface="Poppins"/>
                <a:ea typeface="Poppins"/>
                <a:cs typeface="Poppins"/>
                <a:sym typeface="Poppins"/>
              </a:rPr>
              <a:t> – 1,008 </a:t>
            </a:r>
            <a:r>
              <a:rPr b="0" i="0" lang="en-US" sz="1200" u="none" cap="none" strike="noStrike">
                <a:solidFill>
                  <a:srgbClr val="2D2D2D"/>
                </a:solidFill>
                <a:latin typeface="Poppins"/>
                <a:ea typeface="Poppins"/>
                <a:cs typeface="Poppins"/>
                <a:sym typeface="Poppins"/>
              </a:rPr>
              <a:t>Non-Facetune users of </a:t>
            </a:r>
            <a:r>
              <a:rPr lang="en-US" sz="1200">
                <a:solidFill>
                  <a:srgbClr val="2D2D2D"/>
                </a:solidFill>
                <a:latin typeface="Poppins"/>
                <a:ea typeface="Poppins"/>
                <a:cs typeface="Poppins"/>
                <a:sym typeface="Poppins"/>
              </a:rPr>
              <a:t>mobile &amp; </a:t>
            </a:r>
            <a:r>
              <a:rPr b="0" i="0" lang="en-US" sz="1200" u="none" cap="none" strike="noStrike">
                <a:solidFill>
                  <a:srgbClr val="2D2D2D"/>
                </a:solidFill>
                <a:latin typeface="Poppins"/>
                <a:ea typeface="Poppins"/>
                <a:cs typeface="Poppins"/>
                <a:sym typeface="Poppins"/>
              </a:rPr>
              <a:t>desktop photo </a:t>
            </a:r>
            <a:r>
              <a:rPr lang="en-US" sz="1200">
                <a:solidFill>
                  <a:srgbClr val="2D2D2D"/>
                </a:solidFill>
                <a:latin typeface="Poppins"/>
                <a:ea typeface="Poppins"/>
                <a:cs typeface="Poppins"/>
                <a:sym typeface="Poppins"/>
              </a:rPr>
              <a:t>editing</a:t>
            </a:r>
            <a:r>
              <a:rPr lang="en-US" sz="1200">
                <a:solidFill>
                  <a:srgbClr val="2D2D2D"/>
                </a:solidFill>
                <a:latin typeface="Poppins"/>
                <a:ea typeface="Poppins"/>
                <a:cs typeface="Poppins"/>
                <a:sym typeface="Poppins"/>
              </a:rPr>
              <a:t> tools </a:t>
            </a:r>
            <a:br>
              <a:rPr lang="en-US" sz="1200">
                <a:solidFill>
                  <a:srgbClr val="2D2D2D"/>
                </a:solidFill>
                <a:latin typeface="Poppins"/>
                <a:ea typeface="Poppins"/>
                <a:cs typeface="Poppins"/>
                <a:sym typeface="Poppins"/>
              </a:rPr>
            </a:br>
            <a:r>
              <a:rPr lang="en-US" sz="1200">
                <a:solidFill>
                  <a:srgbClr val="2D2D2D"/>
                </a:solidFill>
                <a:latin typeface="Poppins"/>
                <a:ea typeface="Poppins"/>
                <a:cs typeface="Poppins"/>
                <a:sym typeface="Poppins"/>
              </a:rPr>
              <a:t>     </a:t>
            </a:r>
            <a:r>
              <a:rPr lang="en-US" sz="1000">
                <a:solidFill>
                  <a:srgbClr val="2D2D2D"/>
                </a:solidFill>
                <a:latin typeface="Poppins"/>
                <a:ea typeface="Poppins"/>
                <a:cs typeface="Poppins"/>
                <a:sym typeface="Poppins"/>
              </a:rPr>
              <a:t>(such as Canva, PicsArt, Adobe lightroom, FaceApp, VSCO, Photoroom, Prequel, SCRL)</a:t>
            </a:r>
            <a:endParaRPr b="0" i="0" sz="1000" u="none" cap="none" strike="noStrike">
              <a:solidFill>
                <a:schemeClr val="dk1"/>
              </a:solidFill>
              <a:latin typeface="Calibri"/>
              <a:ea typeface="Calibri"/>
              <a:cs typeface="Calibri"/>
              <a:sym typeface="Calibri"/>
            </a:endParaRPr>
          </a:p>
        </p:txBody>
      </p:sp>
      <p:sp>
        <p:nvSpPr>
          <p:cNvPr id="55" name="Google Shape;55;p4"/>
          <p:cNvSpPr/>
          <p:nvPr/>
        </p:nvSpPr>
        <p:spPr>
          <a:xfrm>
            <a:off x="1188720" y="3017005"/>
            <a:ext cx="6858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00"/>
              <a:buFont typeface="Poppins"/>
              <a:buNone/>
            </a:pPr>
            <a:r>
              <a:rPr b="0" i="0" lang="en-US" sz="1200" u="none" cap="none" strike="noStrike">
                <a:solidFill>
                  <a:srgbClr val="6B6B6B"/>
                </a:solidFill>
                <a:latin typeface="Poppins"/>
                <a:ea typeface="Poppins"/>
                <a:cs typeface="Poppins"/>
                <a:sym typeface="Poppins"/>
              </a:rPr>
              <a:t>○   </a:t>
            </a:r>
            <a:r>
              <a:rPr b="0" i="0" lang="en-US" sz="1200" u="none" cap="none" strike="noStrike">
                <a:solidFill>
                  <a:srgbClr val="2D2D2D"/>
                </a:solidFill>
                <a:latin typeface="Poppins"/>
                <a:ea typeface="Poppins"/>
                <a:cs typeface="Poppins"/>
                <a:sym typeface="Poppins"/>
              </a:rPr>
              <a:t>Aged between 18 to 54</a:t>
            </a:r>
            <a:endParaRPr b="0" i="0" sz="1200" u="none" cap="none" strike="noStrike">
              <a:solidFill>
                <a:schemeClr val="dk1"/>
              </a:solidFill>
              <a:latin typeface="Calibri"/>
              <a:ea typeface="Calibri"/>
              <a:cs typeface="Calibri"/>
              <a:sym typeface="Calibri"/>
            </a:endParaRPr>
          </a:p>
        </p:txBody>
      </p:sp>
      <p:sp>
        <p:nvSpPr>
          <p:cNvPr id="56" name="Google Shape;56;p4"/>
          <p:cNvSpPr/>
          <p:nvPr/>
        </p:nvSpPr>
        <p:spPr>
          <a:xfrm>
            <a:off x="1188720" y="3428348"/>
            <a:ext cx="6858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00"/>
              <a:buFont typeface="Poppins"/>
              <a:buNone/>
            </a:pPr>
            <a:r>
              <a:rPr b="0" i="0" lang="en-US" sz="1200" u="none" cap="none" strike="noStrike">
                <a:solidFill>
                  <a:srgbClr val="6B6B6B"/>
                </a:solidFill>
                <a:latin typeface="Poppins"/>
                <a:ea typeface="Poppins"/>
                <a:cs typeface="Poppins"/>
                <a:sym typeface="Poppins"/>
              </a:rPr>
              <a:t>○   </a:t>
            </a:r>
            <a:r>
              <a:rPr b="0" i="0" lang="en-US" sz="1200" u="none" cap="none" strike="noStrike">
                <a:solidFill>
                  <a:srgbClr val="2D2D2D"/>
                </a:solidFill>
                <a:latin typeface="Poppins"/>
                <a:ea typeface="Poppins"/>
                <a:cs typeface="Poppins"/>
                <a:sym typeface="Poppins"/>
              </a:rPr>
              <a:t>All participants edit photos on </a:t>
            </a:r>
            <a:r>
              <a:rPr b="0" i="1" lang="en-US" sz="1200" u="none" cap="none" strike="noStrike">
                <a:solidFill>
                  <a:srgbClr val="C2185B"/>
                </a:solidFill>
                <a:latin typeface="Poppins"/>
                <a:ea typeface="Poppins"/>
                <a:cs typeface="Poppins"/>
                <a:sym typeface="Poppins"/>
              </a:rPr>
              <a:t>both mobile and desktop</a:t>
            </a:r>
            <a:endParaRPr b="0" i="0" sz="1200" u="none" cap="none" strike="noStrike">
              <a:solidFill>
                <a:schemeClr val="dk1"/>
              </a:solidFill>
              <a:latin typeface="Calibri"/>
              <a:ea typeface="Calibri"/>
              <a:cs typeface="Calibri"/>
              <a:sym typeface="Calibri"/>
            </a:endParaRPr>
          </a:p>
        </p:txBody>
      </p:sp>
      <p:sp>
        <p:nvSpPr>
          <p:cNvPr id="57" name="Google Shape;57;p4"/>
          <p:cNvSpPr/>
          <p:nvPr/>
        </p:nvSpPr>
        <p:spPr>
          <a:xfrm>
            <a:off x="640050" y="4012344"/>
            <a:ext cx="7863900" cy="773400"/>
          </a:xfrm>
          <a:prstGeom prst="roundRect">
            <a:avLst>
              <a:gd fmla="val 12308" name="adj"/>
            </a:avLst>
          </a:prstGeom>
          <a:solidFill>
            <a:srgbClr val="F5F5F5"/>
          </a:solidFill>
          <a:ln cap="flat" cmpd="sng" w="15225">
            <a:solidFill>
              <a:srgbClr val="C218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914375" y="4147583"/>
            <a:ext cx="7315200" cy="502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Important: </a:t>
            </a:r>
            <a:r>
              <a:rPr lang="en-US" sz="1100">
                <a:solidFill>
                  <a:srgbClr val="2D2D2D"/>
                </a:solidFill>
                <a:latin typeface="Poppins"/>
                <a:ea typeface="Poppins"/>
                <a:cs typeface="Poppins"/>
                <a:sym typeface="Poppins"/>
              </a:rPr>
              <a:t>All participants were screened to edit on both devices, so this sample doesn't represent the split between mobile and desktop users. Our goal was to understand how they use each device - not how many use each one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g3d60807834f_0_12"/>
          <p:cNvSpPr/>
          <p:nvPr/>
        </p:nvSpPr>
        <p:spPr>
          <a:xfrm>
            <a:off x="640080" y="320040"/>
            <a:ext cx="7863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400"/>
              <a:buFont typeface="Poppins"/>
              <a:buNone/>
            </a:pPr>
            <a:r>
              <a:rPr b="1" lang="en-US" sz="2400">
                <a:solidFill>
                  <a:srgbClr val="C2185B"/>
                </a:solidFill>
                <a:latin typeface="Poppins"/>
                <a:ea typeface="Poppins"/>
                <a:cs typeface="Poppins"/>
                <a:sym typeface="Poppins"/>
              </a:rPr>
              <a:t>What do users actually do on each device?</a:t>
            </a:r>
            <a:endParaRPr b="0" i="0" sz="2400" u="none" cap="none" strike="noStrike">
              <a:solidFill>
                <a:schemeClr val="dk1"/>
              </a:solidFill>
              <a:latin typeface="Calibri"/>
              <a:ea typeface="Calibri"/>
              <a:cs typeface="Calibri"/>
              <a:sym typeface="Calibri"/>
            </a:endParaRPr>
          </a:p>
        </p:txBody>
      </p:sp>
      <p:sp>
        <p:nvSpPr>
          <p:cNvPr id="65" name="Google Shape;65;g3d60807834f_0_12"/>
          <p:cNvSpPr/>
          <p:nvPr/>
        </p:nvSpPr>
        <p:spPr>
          <a:xfrm>
            <a:off x="640080" y="960120"/>
            <a:ext cx="7863900" cy="3657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When we asked users to rate where they do different activities (1=phone, 5=desktop), both surveys showed the same pattern</a:t>
            </a:r>
            <a:r>
              <a:rPr lang="en-US" sz="1100">
                <a:solidFill>
                  <a:srgbClr val="6B6B6B"/>
                </a:solidFill>
                <a:latin typeface="Poppins"/>
                <a:ea typeface="Poppins"/>
                <a:cs typeface="Poppins"/>
                <a:sym typeface="Poppins"/>
              </a:rPr>
              <a:t>. These are the weighted average across both surveys:</a:t>
            </a:r>
            <a:endParaRPr sz="1100">
              <a:solidFill>
                <a:srgbClr val="6B6B6B"/>
              </a:solidFill>
              <a:latin typeface="Poppins"/>
              <a:ea typeface="Poppins"/>
              <a:cs typeface="Poppins"/>
              <a:sym typeface="Poppins"/>
            </a:endParaRPr>
          </a:p>
        </p:txBody>
      </p:sp>
      <p:sp>
        <p:nvSpPr>
          <p:cNvPr id="66" name="Google Shape;66;g3d60807834f_0_12"/>
          <p:cNvSpPr/>
          <p:nvPr/>
        </p:nvSpPr>
        <p:spPr>
          <a:xfrm>
            <a:off x="2468895" y="2117658"/>
            <a:ext cx="5669400" cy="18300"/>
          </a:xfrm>
          <a:prstGeom prst="rect">
            <a:avLst/>
          </a:prstGeom>
          <a:solidFill>
            <a:srgbClr val="D0D0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g3d60807834f_0_12"/>
          <p:cNvSpPr/>
          <p:nvPr/>
        </p:nvSpPr>
        <p:spPr>
          <a:xfrm>
            <a:off x="2464323" y="2053650"/>
            <a:ext cx="9000" cy="146400"/>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g3d60807834f_0_12"/>
          <p:cNvSpPr/>
          <p:nvPr/>
        </p:nvSpPr>
        <p:spPr>
          <a:xfrm>
            <a:off x="2103135" y="1619244"/>
            <a:ext cx="731400" cy="4116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6B6B6B"/>
              </a:buClr>
              <a:buSzPts val="900"/>
              <a:buFont typeface="Poppins"/>
              <a:buNone/>
            </a:pPr>
            <a:r>
              <a:rPr b="0" i="0" lang="en-US" sz="900" u="none" cap="none" strike="noStrike">
                <a:solidFill>
                  <a:srgbClr val="6B6B6B"/>
                </a:solidFill>
                <a:latin typeface="Poppins"/>
                <a:ea typeface="Poppins"/>
                <a:cs typeface="Poppins"/>
                <a:sym typeface="Poppins"/>
              </a:rPr>
              <a:t>1</a:t>
            </a:r>
            <a:endParaRPr b="0" i="0" sz="9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6B6B6B"/>
              </a:buClr>
              <a:buSzPts val="900"/>
              <a:buFont typeface="Poppins"/>
              <a:buNone/>
            </a:pPr>
            <a:r>
              <a:rPr b="0" i="0" lang="en-US" sz="900" u="none" cap="none" strike="noStrike">
                <a:solidFill>
                  <a:srgbClr val="6B6B6B"/>
                </a:solidFill>
                <a:latin typeface="Poppins"/>
                <a:ea typeface="Poppins"/>
                <a:cs typeface="Poppins"/>
                <a:sym typeface="Poppins"/>
              </a:rPr>
              <a:t>Phone</a:t>
            </a:r>
            <a:endParaRPr b="0" i="0" sz="900" u="none" cap="none" strike="noStrike">
              <a:solidFill>
                <a:srgbClr val="000000"/>
              </a:solidFill>
              <a:latin typeface="Calibri"/>
              <a:ea typeface="Calibri"/>
              <a:cs typeface="Calibri"/>
              <a:sym typeface="Calibri"/>
            </a:endParaRPr>
          </a:p>
        </p:txBody>
      </p:sp>
      <p:sp>
        <p:nvSpPr>
          <p:cNvPr id="69" name="Google Shape;69;g3d60807834f_0_12"/>
          <p:cNvSpPr/>
          <p:nvPr/>
        </p:nvSpPr>
        <p:spPr>
          <a:xfrm>
            <a:off x="3881643" y="2053650"/>
            <a:ext cx="9000" cy="146400"/>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g3d60807834f_0_12"/>
          <p:cNvSpPr/>
          <p:nvPr/>
        </p:nvSpPr>
        <p:spPr>
          <a:xfrm>
            <a:off x="3520455" y="1619244"/>
            <a:ext cx="731400" cy="4116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6B6B6B"/>
              </a:buClr>
              <a:buSzPts val="900"/>
              <a:buFont typeface="Poppins"/>
              <a:buNone/>
            </a:pPr>
            <a:r>
              <a:rPr b="0" i="0" lang="en-US" sz="900" u="none" cap="none" strike="noStrike">
                <a:solidFill>
                  <a:srgbClr val="6B6B6B"/>
                </a:solidFill>
                <a:latin typeface="Poppins"/>
                <a:ea typeface="Poppins"/>
                <a:cs typeface="Poppins"/>
                <a:sym typeface="Poppins"/>
              </a:rPr>
              <a:t>2</a:t>
            </a:r>
            <a:endParaRPr b="0" i="0" sz="900" u="none" cap="none" strike="noStrike">
              <a:solidFill>
                <a:srgbClr val="000000"/>
              </a:solidFill>
              <a:latin typeface="Calibri"/>
              <a:ea typeface="Calibri"/>
              <a:cs typeface="Calibri"/>
              <a:sym typeface="Calibri"/>
            </a:endParaRPr>
          </a:p>
        </p:txBody>
      </p:sp>
      <p:sp>
        <p:nvSpPr>
          <p:cNvPr id="71" name="Google Shape;71;g3d60807834f_0_12"/>
          <p:cNvSpPr/>
          <p:nvPr/>
        </p:nvSpPr>
        <p:spPr>
          <a:xfrm>
            <a:off x="5298963" y="2053650"/>
            <a:ext cx="9000" cy="146400"/>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g3d60807834f_0_12"/>
          <p:cNvSpPr/>
          <p:nvPr/>
        </p:nvSpPr>
        <p:spPr>
          <a:xfrm>
            <a:off x="4937775" y="1619244"/>
            <a:ext cx="731400" cy="4116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6B6B6B"/>
              </a:buClr>
              <a:buSzPts val="900"/>
              <a:buFont typeface="Poppins"/>
              <a:buNone/>
            </a:pPr>
            <a:r>
              <a:rPr b="0" i="0" lang="en-US" sz="900" u="none" cap="none" strike="noStrike">
                <a:solidFill>
                  <a:srgbClr val="6B6B6B"/>
                </a:solidFill>
                <a:latin typeface="Poppins"/>
                <a:ea typeface="Poppins"/>
                <a:cs typeface="Poppins"/>
                <a:sym typeface="Poppins"/>
              </a:rPr>
              <a:t>3</a:t>
            </a:r>
            <a:endParaRPr b="0" i="0" sz="9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6B6B6B"/>
              </a:buClr>
              <a:buSzPts val="900"/>
              <a:buFont typeface="Poppins"/>
              <a:buNone/>
            </a:pPr>
            <a:r>
              <a:rPr b="0" i="0" lang="en-US" sz="900" u="none" cap="none" strike="noStrike">
                <a:solidFill>
                  <a:srgbClr val="6B6B6B"/>
                </a:solidFill>
                <a:latin typeface="Poppins"/>
                <a:ea typeface="Poppins"/>
                <a:cs typeface="Poppins"/>
                <a:sym typeface="Poppins"/>
              </a:rPr>
              <a:t>Both</a:t>
            </a:r>
            <a:endParaRPr b="0" i="0" sz="900" u="none" cap="none" strike="noStrike">
              <a:solidFill>
                <a:srgbClr val="000000"/>
              </a:solidFill>
              <a:latin typeface="Calibri"/>
              <a:ea typeface="Calibri"/>
              <a:cs typeface="Calibri"/>
              <a:sym typeface="Calibri"/>
            </a:endParaRPr>
          </a:p>
        </p:txBody>
      </p:sp>
      <p:sp>
        <p:nvSpPr>
          <p:cNvPr id="73" name="Google Shape;73;g3d60807834f_0_12"/>
          <p:cNvSpPr/>
          <p:nvPr/>
        </p:nvSpPr>
        <p:spPr>
          <a:xfrm>
            <a:off x="6716283" y="2053650"/>
            <a:ext cx="9000" cy="146400"/>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g3d60807834f_0_12"/>
          <p:cNvSpPr/>
          <p:nvPr/>
        </p:nvSpPr>
        <p:spPr>
          <a:xfrm>
            <a:off x="6355095" y="1619244"/>
            <a:ext cx="731400" cy="4116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6B6B6B"/>
              </a:buClr>
              <a:buSzPts val="900"/>
              <a:buFont typeface="Poppins"/>
              <a:buNone/>
            </a:pPr>
            <a:r>
              <a:rPr b="0" i="0" lang="en-US" sz="900" u="none" cap="none" strike="noStrike">
                <a:solidFill>
                  <a:srgbClr val="6B6B6B"/>
                </a:solidFill>
                <a:latin typeface="Poppins"/>
                <a:ea typeface="Poppins"/>
                <a:cs typeface="Poppins"/>
                <a:sym typeface="Poppins"/>
              </a:rPr>
              <a:t>4</a:t>
            </a:r>
            <a:endParaRPr b="0" i="0" sz="900" u="none" cap="none" strike="noStrike">
              <a:solidFill>
                <a:srgbClr val="000000"/>
              </a:solidFill>
              <a:latin typeface="Calibri"/>
              <a:ea typeface="Calibri"/>
              <a:cs typeface="Calibri"/>
              <a:sym typeface="Calibri"/>
            </a:endParaRPr>
          </a:p>
        </p:txBody>
      </p:sp>
      <p:sp>
        <p:nvSpPr>
          <p:cNvPr id="75" name="Google Shape;75;g3d60807834f_0_12"/>
          <p:cNvSpPr/>
          <p:nvPr/>
        </p:nvSpPr>
        <p:spPr>
          <a:xfrm>
            <a:off x="8133603" y="2053650"/>
            <a:ext cx="9000" cy="146400"/>
          </a:xfrm>
          <a:prstGeom prst="rect">
            <a:avLst/>
          </a:prstGeom>
          <a:solidFill>
            <a:srgbClr val="AAAA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d60807834f_0_12"/>
          <p:cNvSpPr/>
          <p:nvPr/>
        </p:nvSpPr>
        <p:spPr>
          <a:xfrm>
            <a:off x="7772415" y="1619244"/>
            <a:ext cx="731400" cy="4116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6B6B6B"/>
              </a:buClr>
              <a:buSzPts val="900"/>
              <a:buFont typeface="Poppins"/>
              <a:buNone/>
            </a:pPr>
            <a:r>
              <a:rPr b="0" i="0" lang="en-US" sz="900" u="none" cap="none" strike="noStrike">
                <a:solidFill>
                  <a:srgbClr val="6B6B6B"/>
                </a:solidFill>
                <a:latin typeface="Poppins"/>
                <a:ea typeface="Poppins"/>
                <a:cs typeface="Poppins"/>
                <a:sym typeface="Poppins"/>
              </a:rPr>
              <a:t>5</a:t>
            </a:r>
            <a:endParaRPr b="0" i="0" sz="9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6B6B6B"/>
              </a:buClr>
              <a:buSzPts val="900"/>
              <a:buFont typeface="Poppins"/>
              <a:buNone/>
            </a:pPr>
            <a:r>
              <a:rPr b="0" i="0" lang="en-US" sz="900" u="none" cap="none" strike="noStrike">
                <a:solidFill>
                  <a:srgbClr val="6B6B6B"/>
                </a:solidFill>
                <a:latin typeface="Poppins"/>
                <a:ea typeface="Poppins"/>
                <a:cs typeface="Poppins"/>
                <a:sym typeface="Poppins"/>
              </a:rPr>
              <a:t>Desktop</a:t>
            </a:r>
            <a:endParaRPr b="0" i="0" sz="900" u="none" cap="none" strike="noStrike">
              <a:solidFill>
                <a:srgbClr val="000000"/>
              </a:solidFill>
              <a:latin typeface="Calibri"/>
              <a:ea typeface="Calibri"/>
              <a:cs typeface="Calibri"/>
              <a:sym typeface="Calibri"/>
            </a:endParaRPr>
          </a:p>
        </p:txBody>
      </p:sp>
      <p:sp>
        <p:nvSpPr>
          <p:cNvPr id="77" name="Google Shape;77;g3d60807834f_0_12"/>
          <p:cNvSpPr/>
          <p:nvPr/>
        </p:nvSpPr>
        <p:spPr>
          <a:xfrm>
            <a:off x="321472" y="2388372"/>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Social media browsing</a:t>
            </a:r>
            <a:endParaRPr b="0" i="0" sz="1100" u="none" cap="none" strike="noStrike">
              <a:solidFill>
                <a:srgbClr val="000000"/>
              </a:solidFill>
              <a:latin typeface="Calibri"/>
              <a:ea typeface="Calibri"/>
              <a:cs typeface="Calibri"/>
              <a:sym typeface="Calibri"/>
            </a:endParaRPr>
          </a:p>
        </p:txBody>
      </p:sp>
      <p:sp>
        <p:nvSpPr>
          <p:cNvPr id="78" name="Google Shape;78;g3d60807834f_0_12"/>
          <p:cNvSpPr/>
          <p:nvPr/>
        </p:nvSpPr>
        <p:spPr>
          <a:xfrm>
            <a:off x="2193791" y="2534676"/>
            <a:ext cx="5669400" cy="4500"/>
          </a:xfrm>
          <a:prstGeom prst="rect">
            <a:avLst/>
          </a:pr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d60807834f_0_12"/>
          <p:cNvSpPr/>
          <p:nvPr/>
        </p:nvSpPr>
        <p:spPr>
          <a:xfrm>
            <a:off x="4290510" y="2429520"/>
            <a:ext cx="228600" cy="228600"/>
          </a:xfrm>
          <a:prstGeom prst="ellipse">
            <a:avLst/>
          </a:prstGeom>
          <a:solidFill>
            <a:srgbClr val="F48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d60807834f_0_12"/>
          <p:cNvSpPr/>
          <p:nvPr/>
        </p:nvSpPr>
        <p:spPr>
          <a:xfrm>
            <a:off x="4564830" y="2388372"/>
            <a:ext cx="457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000"/>
              <a:buFont typeface="Poppins"/>
              <a:buNone/>
            </a:pPr>
            <a:r>
              <a:rPr b="1" i="0" lang="en-US" sz="1000" u="none" cap="none" strike="noStrike">
                <a:solidFill>
                  <a:srgbClr val="F48FB1"/>
                </a:solidFill>
                <a:latin typeface="Poppins"/>
                <a:ea typeface="Poppins"/>
                <a:cs typeface="Poppins"/>
                <a:sym typeface="Poppins"/>
              </a:rPr>
              <a:t>2.6</a:t>
            </a:r>
            <a:endParaRPr b="0" i="0" sz="1000" u="none" cap="none" strike="noStrike">
              <a:solidFill>
                <a:srgbClr val="000000"/>
              </a:solidFill>
              <a:latin typeface="Calibri"/>
              <a:ea typeface="Calibri"/>
              <a:cs typeface="Calibri"/>
              <a:sym typeface="Calibri"/>
            </a:endParaRPr>
          </a:p>
        </p:txBody>
      </p:sp>
      <p:sp>
        <p:nvSpPr>
          <p:cNvPr id="81" name="Google Shape;81;g3d60807834f_0_12"/>
          <p:cNvSpPr/>
          <p:nvPr/>
        </p:nvSpPr>
        <p:spPr>
          <a:xfrm>
            <a:off x="321472" y="2918724"/>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Social media posting</a:t>
            </a:r>
            <a:endParaRPr b="0" i="0" sz="1100" u="none" cap="none" strike="noStrike">
              <a:solidFill>
                <a:srgbClr val="000000"/>
              </a:solidFill>
              <a:latin typeface="Calibri"/>
              <a:ea typeface="Calibri"/>
              <a:cs typeface="Calibri"/>
              <a:sym typeface="Calibri"/>
            </a:endParaRPr>
          </a:p>
        </p:txBody>
      </p:sp>
      <p:sp>
        <p:nvSpPr>
          <p:cNvPr id="82" name="Google Shape;82;g3d60807834f_0_12"/>
          <p:cNvSpPr/>
          <p:nvPr/>
        </p:nvSpPr>
        <p:spPr>
          <a:xfrm>
            <a:off x="2193791" y="3065028"/>
            <a:ext cx="5669400" cy="4500"/>
          </a:xfrm>
          <a:prstGeom prst="rect">
            <a:avLst/>
          </a:pr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g3d60807834f_0_12"/>
          <p:cNvSpPr/>
          <p:nvPr/>
        </p:nvSpPr>
        <p:spPr>
          <a:xfrm>
            <a:off x="4474762" y="2959872"/>
            <a:ext cx="228600" cy="228600"/>
          </a:xfrm>
          <a:prstGeom prst="ellipse">
            <a:avLst/>
          </a:prstGeom>
          <a:solidFill>
            <a:srgbClr val="F48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g3d60807834f_0_12"/>
          <p:cNvSpPr/>
          <p:nvPr/>
        </p:nvSpPr>
        <p:spPr>
          <a:xfrm>
            <a:off x="4749082" y="2918724"/>
            <a:ext cx="457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000"/>
              <a:buFont typeface="Poppins"/>
              <a:buNone/>
            </a:pPr>
            <a:r>
              <a:rPr b="1" i="0" lang="en-US" sz="1000" u="none" cap="none" strike="noStrike">
                <a:solidFill>
                  <a:srgbClr val="F48FB1"/>
                </a:solidFill>
                <a:latin typeface="Poppins"/>
                <a:ea typeface="Poppins"/>
                <a:cs typeface="Poppins"/>
                <a:sym typeface="Poppins"/>
              </a:rPr>
              <a:t>2.7</a:t>
            </a:r>
            <a:endParaRPr b="0" i="0" sz="1000" u="none" cap="none" strike="noStrike">
              <a:solidFill>
                <a:srgbClr val="000000"/>
              </a:solidFill>
              <a:latin typeface="Calibri"/>
              <a:ea typeface="Calibri"/>
              <a:cs typeface="Calibri"/>
              <a:sym typeface="Calibri"/>
            </a:endParaRPr>
          </a:p>
        </p:txBody>
      </p:sp>
      <p:sp>
        <p:nvSpPr>
          <p:cNvPr id="85" name="Google Shape;85;g3d60807834f_0_12"/>
          <p:cNvSpPr/>
          <p:nvPr/>
        </p:nvSpPr>
        <p:spPr>
          <a:xfrm>
            <a:off x="321472" y="3449076"/>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Photo editing</a:t>
            </a:r>
            <a:endParaRPr b="0" i="0" sz="1100" u="none" cap="none" strike="noStrike">
              <a:solidFill>
                <a:srgbClr val="000000"/>
              </a:solidFill>
              <a:latin typeface="Calibri"/>
              <a:ea typeface="Calibri"/>
              <a:cs typeface="Calibri"/>
              <a:sym typeface="Calibri"/>
            </a:endParaRPr>
          </a:p>
        </p:txBody>
      </p:sp>
      <p:sp>
        <p:nvSpPr>
          <p:cNvPr id="86" name="Google Shape;86;g3d60807834f_0_12"/>
          <p:cNvSpPr/>
          <p:nvPr/>
        </p:nvSpPr>
        <p:spPr>
          <a:xfrm>
            <a:off x="2193791" y="3595380"/>
            <a:ext cx="5669400" cy="4500"/>
          </a:xfrm>
          <a:prstGeom prst="rect">
            <a:avLst/>
          </a:pr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3d60807834f_0_12"/>
          <p:cNvSpPr/>
          <p:nvPr/>
        </p:nvSpPr>
        <p:spPr>
          <a:xfrm>
            <a:off x="5364016" y="3458220"/>
            <a:ext cx="292500" cy="292500"/>
          </a:xfrm>
          <a:prstGeom prst="ellipse">
            <a:avLst/>
          </a:prstGeom>
          <a:solidFill>
            <a:srgbClr val="C21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d60807834f_0_12"/>
          <p:cNvSpPr/>
          <p:nvPr/>
        </p:nvSpPr>
        <p:spPr>
          <a:xfrm>
            <a:off x="5702344" y="3449076"/>
            <a:ext cx="457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000"/>
              <a:buFont typeface="Poppins"/>
              <a:buNone/>
            </a:pPr>
            <a:r>
              <a:rPr b="1" i="0" lang="en-US" sz="1000" u="none" cap="none" strike="noStrike">
                <a:solidFill>
                  <a:srgbClr val="C2185B"/>
                </a:solidFill>
                <a:latin typeface="Poppins"/>
                <a:ea typeface="Poppins"/>
                <a:cs typeface="Poppins"/>
                <a:sym typeface="Poppins"/>
              </a:rPr>
              <a:t>3.3</a:t>
            </a:r>
            <a:endParaRPr b="0" i="0" sz="1000" u="none" cap="none" strike="noStrike">
              <a:solidFill>
                <a:srgbClr val="000000"/>
              </a:solidFill>
              <a:latin typeface="Calibri"/>
              <a:ea typeface="Calibri"/>
              <a:cs typeface="Calibri"/>
              <a:sym typeface="Calibri"/>
            </a:endParaRPr>
          </a:p>
        </p:txBody>
      </p:sp>
      <p:sp>
        <p:nvSpPr>
          <p:cNvPr id="89" name="Google Shape;89;g3d60807834f_0_12"/>
          <p:cNvSpPr/>
          <p:nvPr/>
        </p:nvSpPr>
        <p:spPr>
          <a:xfrm>
            <a:off x="321472" y="3979428"/>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Video editing</a:t>
            </a:r>
            <a:endParaRPr b="0" i="0" sz="1100" u="none" cap="none" strike="noStrike">
              <a:solidFill>
                <a:srgbClr val="000000"/>
              </a:solidFill>
              <a:latin typeface="Calibri"/>
              <a:ea typeface="Calibri"/>
              <a:cs typeface="Calibri"/>
              <a:sym typeface="Calibri"/>
            </a:endParaRPr>
          </a:p>
        </p:txBody>
      </p:sp>
      <p:sp>
        <p:nvSpPr>
          <p:cNvPr id="90" name="Google Shape;90;g3d60807834f_0_12"/>
          <p:cNvSpPr/>
          <p:nvPr/>
        </p:nvSpPr>
        <p:spPr>
          <a:xfrm>
            <a:off x="2193791" y="4125732"/>
            <a:ext cx="5669400" cy="4500"/>
          </a:xfrm>
          <a:prstGeom prst="rect">
            <a:avLst/>
          </a:pr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3d60807834f_0_12"/>
          <p:cNvSpPr/>
          <p:nvPr/>
        </p:nvSpPr>
        <p:spPr>
          <a:xfrm>
            <a:off x="5835389" y="4020576"/>
            <a:ext cx="228600" cy="228600"/>
          </a:xfrm>
          <a:prstGeom prst="ellipse">
            <a:avLst/>
          </a:prstGeom>
          <a:solidFill>
            <a:srgbClr val="C21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g3d60807834f_0_12"/>
          <p:cNvSpPr/>
          <p:nvPr/>
        </p:nvSpPr>
        <p:spPr>
          <a:xfrm>
            <a:off x="6109709" y="3979428"/>
            <a:ext cx="457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000"/>
              <a:buFont typeface="Poppins"/>
              <a:buNone/>
            </a:pPr>
            <a:r>
              <a:rPr b="1" i="0" lang="en-US" sz="1000" u="none" cap="none" strike="noStrike">
                <a:solidFill>
                  <a:srgbClr val="C2185B"/>
                </a:solidFill>
                <a:latin typeface="Poppins"/>
                <a:ea typeface="Poppins"/>
                <a:cs typeface="Poppins"/>
                <a:sym typeface="Poppins"/>
              </a:rPr>
              <a:t>3.6</a:t>
            </a:r>
            <a:endParaRPr b="0" i="0" sz="1000" u="none" cap="none" strike="noStrike">
              <a:solidFill>
                <a:srgbClr val="000000"/>
              </a:solidFill>
              <a:latin typeface="Calibri"/>
              <a:ea typeface="Calibri"/>
              <a:cs typeface="Calibri"/>
              <a:sym typeface="Calibri"/>
            </a:endParaRPr>
          </a:p>
        </p:txBody>
      </p:sp>
      <p:sp>
        <p:nvSpPr>
          <p:cNvPr id="93" name="Google Shape;93;g3d60807834f_0_12"/>
          <p:cNvSpPr/>
          <p:nvPr/>
        </p:nvSpPr>
        <p:spPr>
          <a:xfrm>
            <a:off x="321472" y="4509780"/>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Focused tasks</a:t>
            </a:r>
            <a:endParaRPr b="0" i="0" sz="1100" u="none" cap="none" strike="noStrike">
              <a:solidFill>
                <a:srgbClr val="000000"/>
              </a:solidFill>
              <a:latin typeface="Calibri"/>
              <a:ea typeface="Calibri"/>
              <a:cs typeface="Calibri"/>
              <a:sym typeface="Calibri"/>
            </a:endParaRPr>
          </a:p>
        </p:txBody>
      </p:sp>
      <p:sp>
        <p:nvSpPr>
          <p:cNvPr id="94" name="Google Shape;94;g3d60807834f_0_12"/>
          <p:cNvSpPr/>
          <p:nvPr/>
        </p:nvSpPr>
        <p:spPr>
          <a:xfrm>
            <a:off x="2193791" y="4656084"/>
            <a:ext cx="5669400" cy="4500"/>
          </a:xfrm>
          <a:prstGeom prst="rect">
            <a:avLst/>
          </a:prstGeom>
          <a:solidFill>
            <a:srgbClr val="EC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g3d60807834f_0_12"/>
          <p:cNvSpPr/>
          <p:nvPr/>
        </p:nvSpPr>
        <p:spPr>
          <a:xfrm>
            <a:off x="5920428" y="4550928"/>
            <a:ext cx="228600" cy="228600"/>
          </a:xfrm>
          <a:prstGeom prst="ellipse">
            <a:avLst/>
          </a:prstGeom>
          <a:solidFill>
            <a:srgbClr val="C21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g3d60807834f_0_12"/>
          <p:cNvSpPr/>
          <p:nvPr/>
        </p:nvSpPr>
        <p:spPr>
          <a:xfrm>
            <a:off x="6194748" y="4509780"/>
            <a:ext cx="457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000"/>
              <a:buFont typeface="Poppins"/>
              <a:buNone/>
            </a:pPr>
            <a:r>
              <a:rPr b="1" i="0" lang="en-US" sz="1000" u="none" cap="none" strike="noStrike">
                <a:solidFill>
                  <a:srgbClr val="C2185B"/>
                </a:solidFill>
                <a:latin typeface="Poppins"/>
                <a:ea typeface="Poppins"/>
                <a:cs typeface="Poppins"/>
                <a:sym typeface="Poppins"/>
              </a:rPr>
              <a:t>3.7</a:t>
            </a:r>
            <a:endParaRPr b="0" i="0" sz="1000" u="none" cap="none" strike="noStrike">
              <a:solidFill>
                <a:srgbClr val="000000"/>
              </a:solidFill>
              <a:latin typeface="Calibri"/>
              <a:ea typeface="Calibri"/>
              <a:cs typeface="Calibri"/>
              <a:sym typeface="Calibri"/>
            </a:endParaRPr>
          </a:p>
        </p:txBody>
      </p:sp>
      <p:sp>
        <p:nvSpPr>
          <p:cNvPr id="97" name="Google Shape;97;g3d60807834f_0_12"/>
          <p:cNvSpPr txBox="1"/>
          <p:nvPr/>
        </p:nvSpPr>
        <p:spPr>
          <a:xfrm>
            <a:off x="6109721" y="3372925"/>
            <a:ext cx="2759400" cy="44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800">
                <a:solidFill>
                  <a:srgbClr val="C2185B"/>
                </a:solidFill>
                <a:latin typeface="Poppins"/>
                <a:ea typeface="Poppins"/>
                <a:cs typeface="Poppins"/>
                <a:sym typeface="Poppins"/>
              </a:rPr>
              <a:t>***</a:t>
            </a:r>
            <a:r>
              <a:rPr lang="en-US" sz="800">
                <a:solidFill>
                  <a:srgbClr val="C2185B"/>
                </a:solidFill>
                <a:latin typeface="Poppins"/>
                <a:ea typeface="Poppins"/>
                <a:cs typeface="Poppins"/>
                <a:sym typeface="Poppins"/>
              </a:rPr>
              <a:t>Photo editing is the one activity users do on both devices (with slight desktop lean)</a:t>
            </a:r>
            <a:endParaRPr sz="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6"/>
          <p:cNvSpPr/>
          <p:nvPr/>
        </p:nvSpPr>
        <p:spPr>
          <a:xfrm>
            <a:off x="640080" y="32004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400"/>
              <a:buFont typeface="Poppins"/>
              <a:buNone/>
            </a:pPr>
            <a:r>
              <a:rPr b="1" i="0" lang="en-US" sz="2100" u="none" cap="none" strike="noStrike">
                <a:solidFill>
                  <a:srgbClr val="C2185B"/>
                </a:solidFill>
                <a:latin typeface="Poppins"/>
                <a:ea typeface="Poppins"/>
                <a:cs typeface="Poppins"/>
                <a:sym typeface="Poppins"/>
              </a:rPr>
              <a:t>Phone is about convenience</a:t>
            </a:r>
            <a:r>
              <a:rPr b="1" lang="en-US" sz="2100">
                <a:solidFill>
                  <a:srgbClr val="C2185B"/>
                </a:solidFill>
                <a:latin typeface="Poppins"/>
                <a:ea typeface="Poppins"/>
                <a:cs typeface="Poppins"/>
                <a:sym typeface="Poppins"/>
              </a:rPr>
              <a:t>,</a:t>
            </a:r>
            <a:r>
              <a:rPr b="1" i="0" lang="en-US" sz="2100" u="none" cap="none" strike="noStrike">
                <a:solidFill>
                  <a:srgbClr val="C2185B"/>
                </a:solidFill>
                <a:latin typeface="Poppins"/>
                <a:ea typeface="Poppins"/>
                <a:cs typeface="Poppins"/>
                <a:sym typeface="Poppins"/>
              </a:rPr>
              <a:t> Desktop is about </a:t>
            </a:r>
            <a:r>
              <a:rPr b="1" lang="en-US" sz="2100">
                <a:solidFill>
                  <a:srgbClr val="C2185B"/>
                </a:solidFill>
                <a:latin typeface="Poppins"/>
                <a:ea typeface="Poppins"/>
                <a:cs typeface="Poppins"/>
                <a:sym typeface="Poppins"/>
              </a:rPr>
              <a:t>precision</a:t>
            </a:r>
            <a:endParaRPr b="0" i="0" sz="2100" u="none" cap="none" strike="noStrike">
              <a:solidFill>
                <a:schemeClr val="dk1"/>
              </a:solidFill>
              <a:latin typeface="Calibri"/>
              <a:ea typeface="Calibri"/>
              <a:cs typeface="Calibri"/>
              <a:sym typeface="Calibri"/>
            </a:endParaRPr>
          </a:p>
        </p:txBody>
      </p:sp>
      <p:sp>
        <p:nvSpPr>
          <p:cNvPr id="104" name="Google Shape;104;p6"/>
          <p:cNvSpPr/>
          <p:nvPr/>
        </p:nvSpPr>
        <p:spPr>
          <a:xfrm>
            <a:off x="640080" y="923695"/>
            <a:ext cx="7863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We asked: “Why did you choose this device for your last edit?” The answers are mirror images.</a:t>
            </a:r>
            <a:endParaRPr b="0" i="0" sz="1100" u="none" cap="none" strike="noStrike">
              <a:solidFill>
                <a:schemeClr val="dk1"/>
              </a:solidFill>
              <a:latin typeface="Calibri"/>
              <a:ea typeface="Calibri"/>
              <a:cs typeface="Calibri"/>
              <a:sym typeface="Calibri"/>
            </a:endParaRPr>
          </a:p>
        </p:txBody>
      </p:sp>
      <p:sp>
        <p:nvSpPr>
          <p:cNvPr id="105" name="Google Shape;105;p6"/>
          <p:cNvSpPr/>
          <p:nvPr/>
        </p:nvSpPr>
        <p:spPr>
          <a:xfrm>
            <a:off x="640077" y="1620417"/>
            <a:ext cx="1863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800"/>
              <a:buFont typeface="Poppins"/>
              <a:buNone/>
            </a:pPr>
            <a:r>
              <a:rPr b="1" i="0" lang="en-US" sz="1600" u="none" cap="none" strike="noStrike">
                <a:solidFill>
                  <a:schemeClr val="dk1"/>
                </a:solidFill>
                <a:latin typeface="Poppins"/>
                <a:ea typeface="Poppins"/>
                <a:cs typeface="Poppins"/>
                <a:sym typeface="Poppins"/>
              </a:rPr>
              <a:t>Why phone?</a:t>
            </a:r>
            <a:endParaRPr b="0" i="0" sz="1600" u="none" cap="none" strike="noStrike">
              <a:solidFill>
                <a:schemeClr val="dk1"/>
              </a:solidFill>
              <a:latin typeface="Calibri"/>
              <a:ea typeface="Calibri"/>
              <a:cs typeface="Calibri"/>
              <a:sym typeface="Calibri"/>
            </a:endParaRPr>
          </a:p>
        </p:txBody>
      </p:sp>
      <p:sp>
        <p:nvSpPr>
          <p:cNvPr id="106" name="Google Shape;106;p6"/>
          <p:cNvSpPr/>
          <p:nvPr/>
        </p:nvSpPr>
        <p:spPr>
          <a:xfrm>
            <a:off x="640075" y="2105042"/>
            <a:ext cx="2743200" cy="256200"/>
          </a:xfrm>
          <a:prstGeom prst="rect">
            <a:avLst/>
          </a:prstGeom>
          <a:solidFill>
            <a:srgbClr val="F48FB1">
              <a:alpha val="189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777249" y="2077617"/>
            <a:ext cx="2400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It was more convenient</a:t>
            </a:r>
            <a:endParaRPr b="0" i="0" sz="1100" u="none" cap="none" strike="noStrike">
              <a:solidFill>
                <a:schemeClr val="dk1"/>
              </a:solidFill>
              <a:latin typeface="Calibri"/>
              <a:ea typeface="Calibri"/>
              <a:cs typeface="Calibri"/>
              <a:sym typeface="Calibri"/>
            </a:endParaRPr>
          </a:p>
        </p:txBody>
      </p:sp>
      <p:sp>
        <p:nvSpPr>
          <p:cNvPr id="108" name="Google Shape;108;p6"/>
          <p:cNvSpPr/>
          <p:nvPr/>
        </p:nvSpPr>
        <p:spPr>
          <a:xfrm>
            <a:off x="3474720" y="2077622"/>
            <a:ext cx="731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55–56%</a:t>
            </a:r>
            <a:endParaRPr b="0" i="0" sz="1100" u="none" cap="none" strike="noStrike">
              <a:solidFill>
                <a:schemeClr val="dk1"/>
              </a:solidFill>
              <a:latin typeface="Calibri"/>
              <a:ea typeface="Calibri"/>
              <a:cs typeface="Calibri"/>
              <a:sym typeface="Calibri"/>
            </a:endParaRPr>
          </a:p>
        </p:txBody>
      </p:sp>
      <p:sp>
        <p:nvSpPr>
          <p:cNvPr id="109" name="Google Shape;109;p6"/>
          <p:cNvSpPr/>
          <p:nvPr/>
        </p:nvSpPr>
        <p:spPr>
          <a:xfrm>
            <a:off x="640080" y="2607974"/>
            <a:ext cx="2613600" cy="255900"/>
          </a:xfrm>
          <a:prstGeom prst="rect">
            <a:avLst/>
          </a:prstGeom>
          <a:solidFill>
            <a:srgbClr val="F48FB1">
              <a:alpha val="189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777240" y="2580542"/>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Photo was already on my phone</a:t>
            </a:r>
            <a:endParaRPr b="0" i="0" sz="1100" u="none" cap="none" strike="noStrike">
              <a:solidFill>
                <a:schemeClr val="dk1"/>
              </a:solidFill>
              <a:latin typeface="Calibri"/>
              <a:ea typeface="Calibri"/>
              <a:cs typeface="Calibri"/>
              <a:sym typeface="Calibri"/>
            </a:endParaRPr>
          </a:p>
        </p:txBody>
      </p:sp>
      <p:sp>
        <p:nvSpPr>
          <p:cNvPr id="111" name="Google Shape;111;p6"/>
          <p:cNvSpPr/>
          <p:nvPr/>
        </p:nvSpPr>
        <p:spPr>
          <a:xfrm>
            <a:off x="3474720" y="2580542"/>
            <a:ext cx="731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49%</a:t>
            </a:r>
            <a:endParaRPr b="0" i="0" sz="1100" u="none" cap="none" strike="noStrike">
              <a:solidFill>
                <a:schemeClr val="dk1"/>
              </a:solidFill>
              <a:latin typeface="Calibri"/>
              <a:ea typeface="Calibri"/>
              <a:cs typeface="Calibri"/>
              <a:sym typeface="Calibri"/>
            </a:endParaRPr>
          </a:p>
        </p:txBody>
      </p:sp>
      <p:sp>
        <p:nvSpPr>
          <p:cNvPr id="112" name="Google Shape;112;p6"/>
          <p:cNvSpPr/>
          <p:nvPr/>
        </p:nvSpPr>
        <p:spPr>
          <a:xfrm>
            <a:off x="640080" y="3110894"/>
            <a:ext cx="2400300" cy="255900"/>
          </a:xfrm>
          <a:prstGeom prst="rect">
            <a:avLst/>
          </a:prstGeom>
          <a:solidFill>
            <a:srgbClr val="F48FB1">
              <a:alpha val="189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777240" y="3083462"/>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Wanted to share quickly</a:t>
            </a:r>
            <a:endParaRPr b="0" i="0" sz="1100" u="none" cap="none" strike="noStrike">
              <a:solidFill>
                <a:schemeClr val="dk1"/>
              </a:solidFill>
              <a:latin typeface="Calibri"/>
              <a:ea typeface="Calibri"/>
              <a:cs typeface="Calibri"/>
              <a:sym typeface="Calibri"/>
            </a:endParaRPr>
          </a:p>
        </p:txBody>
      </p:sp>
      <p:sp>
        <p:nvSpPr>
          <p:cNvPr id="114" name="Google Shape;114;p6"/>
          <p:cNvSpPr/>
          <p:nvPr/>
        </p:nvSpPr>
        <p:spPr>
          <a:xfrm>
            <a:off x="3474720" y="3083462"/>
            <a:ext cx="731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45–48%</a:t>
            </a:r>
            <a:endParaRPr b="0" i="0" sz="1100" u="none" cap="none" strike="noStrike">
              <a:solidFill>
                <a:schemeClr val="dk1"/>
              </a:solidFill>
              <a:latin typeface="Calibri"/>
              <a:ea typeface="Calibri"/>
              <a:cs typeface="Calibri"/>
              <a:sym typeface="Calibri"/>
            </a:endParaRPr>
          </a:p>
        </p:txBody>
      </p:sp>
      <p:sp>
        <p:nvSpPr>
          <p:cNvPr id="115" name="Google Shape;115;p6"/>
          <p:cNvSpPr/>
          <p:nvPr/>
        </p:nvSpPr>
        <p:spPr>
          <a:xfrm>
            <a:off x="640074" y="3613817"/>
            <a:ext cx="2255700" cy="255900"/>
          </a:xfrm>
          <a:prstGeom prst="rect">
            <a:avLst/>
          </a:prstGeom>
          <a:solidFill>
            <a:srgbClr val="F48FB1">
              <a:alpha val="189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777240" y="3586382"/>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I was already using my phone</a:t>
            </a:r>
            <a:endParaRPr b="0" i="0" sz="1100" u="none" cap="none" strike="noStrike">
              <a:solidFill>
                <a:schemeClr val="dk1"/>
              </a:solidFill>
              <a:latin typeface="Calibri"/>
              <a:ea typeface="Calibri"/>
              <a:cs typeface="Calibri"/>
              <a:sym typeface="Calibri"/>
            </a:endParaRPr>
          </a:p>
        </p:txBody>
      </p:sp>
      <p:sp>
        <p:nvSpPr>
          <p:cNvPr id="117" name="Google Shape;117;p6"/>
          <p:cNvSpPr/>
          <p:nvPr/>
        </p:nvSpPr>
        <p:spPr>
          <a:xfrm>
            <a:off x="3474720" y="3586382"/>
            <a:ext cx="731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36–40%</a:t>
            </a:r>
            <a:endParaRPr b="0" i="0" sz="1100" u="none" cap="none" strike="noStrike">
              <a:solidFill>
                <a:schemeClr val="dk1"/>
              </a:solidFill>
              <a:latin typeface="Calibri"/>
              <a:ea typeface="Calibri"/>
              <a:cs typeface="Calibri"/>
              <a:sym typeface="Calibri"/>
            </a:endParaRPr>
          </a:p>
        </p:txBody>
      </p:sp>
      <p:sp>
        <p:nvSpPr>
          <p:cNvPr id="118" name="Google Shape;118;p6"/>
          <p:cNvSpPr/>
          <p:nvPr/>
        </p:nvSpPr>
        <p:spPr>
          <a:xfrm>
            <a:off x="4937755" y="1620417"/>
            <a:ext cx="1920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800"/>
              <a:buFont typeface="Poppins"/>
              <a:buNone/>
            </a:pPr>
            <a:r>
              <a:rPr b="1" i="0" lang="en-US" sz="1600" u="none" cap="none" strike="noStrike">
                <a:solidFill>
                  <a:schemeClr val="dk1"/>
                </a:solidFill>
                <a:latin typeface="Poppins"/>
                <a:ea typeface="Poppins"/>
                <a:cs typeface="Poppins"/>
                <a:sym typeface="Poppins"/>
              </a:rPr>
              <a:t>Why desktop?</a:t>
            </a:r>
            <a:endParaRPr b="0" i="0" sz="1600" u="none" cap="none" strike="noStrike">
              <a:solidFill>
                <a:schemeClr val="dk1"/>
              </a:solidFill>
              <a:latin typeface="Calibri"/>
              <a:ea typeface="Calibri"/>
              <a:cs typeface="Calibri"/>
              <a:sym typeface="Calibri"/>
            </a:endParaRPr>
          </a:p>
        </p:txBody>
      </p:sp>
      <p:sp>
        <p:nvSpPr>
          <p:cNvPr id="119" name="Google Shape;119;p6"/>
          <p:cNvSpPr/>
          <p:nvPr/>
        </p:nvSpPr>
        <p:spPr>
          <a:xfrm>
            <a:off x="4937760" y="2105054"/>
            <a:ext cx="2187000" cy="255900"/>
          </a:xfrm>
          <a:prstGeom prst="rect">
            <a:avLst/>
          </a:prstGeom>
          <a:solidFill>
            <a:srgbClr val="C2185B">
              <a:alpha val="41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5074920" y="2077622"/>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Better editing tools</a:t>
            </a:r>
            <a:endParaRPr b="0" i="0" sz="1100" u="none" cap="none" strike="noStrike">
              <a:solidFill>
                <a:schemeClr val="dk1"/>
              </a:solidFill>
              <a:latin typeface="Calibri"/>
              <a:ea typeface="Calibri"/>
              <a:cs typeface="Calibri"/>
              <a:sym typeface="Calibri"/>
            </a:endParaRPr>
          </a:p>
        </p:txBody>
      </p:sp>
      <p:sp>
        <p:nvSpPr>
          <p:cNvPr id="121" name="Google Shape;121;p6"/>
          <p:cNvSpPr/>
          <p:nvPr/>
        </p:nvSpPr>
        <p:spPr>
          <a:xfrm>
            <a:off x="7772400" y="2077622"/>
            <a:ext cx="731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41–48%</a:t>
            </a:r>
            <a:endParaRPr b="0" i="0" sz="1100" u="none" cap="none" strike="noStrike">
              <a:solidFill>
                <a:schemeClr val="dk1"/>
              </a:solidFill>
              <a:latin typeface="Calibri"/>
              <a:ea typeface="Calibri"/>
              <a:cs typeface="Calibri"/>
              <a:sym typeface="Calibri"/>
            </a:endParaRPr>
          </a:p>
        </p:txBody>
      </p:sp>
      <p:sp>
        <p:nvSpPr>
          <p:cNvPr id="122" name="Google Shape;122;p6"/>
          <p:cNvSpPr/>
          <p:nvPr/>
        </p:nvSpPr>
        <p:spPr>
          <a:xfrm>
            <a:off x="4937760" y="2607974"/>
            <a:ext cx="2400300" cy="255900"/>
          </a:xfrm>
          <a:prstGeom prst="rect">
            <a:avLst/>
          </a:prstGeom>
          <a:solidFill>
            <a:srgbClr val="C2185B">
              <a:alpha val="41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5074920" y="2580542"/>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Need more control / precision</a:t>
            </a:r>
            <a:endParaRPr b="0" i="0" sz="1100" u="none" cap="none" strike="noStrike">
              <a:solidFill>
                <a:schemeClr val="dk1"/>
              </a:solidFill>
              <a:latin typeface="Calibri"/>
              <a:ea typeface="Calibri"/>
              <a:cs typeface="Calibri"/>
              <a:sym typeface="Calibri"/>
            </a:endParaRPr>
          </a:p>
        </p:txBody>
      </p:sp>
      <p:sp>
        <p:nvSpPr>
          <p:cNvPr id="124" name="Google Shape;124;p6"/>
          <p:cNvSpPr/>
          <p:nvPr/>
        </p:nvSpPr>
        <p:spPr>
          <a:xfrm>
            <a:off x="7772400" y="2580542"/>
            <a:ext cx="731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45–47%</a:t>
            </a:r>
            <a:endParaRPr b="0" i="0" sz="1100" u="none" cap="none" strike="noStrike">
              <a:solidFill>
                <a:schemeClr val="dk1"/>
              </a:solidFill>
              <a:latin typeface="Calibri"/>
              <a:ea typeface="Calibri"/>
              <a:cs typeface="Calibri"/>
              <a:sym typeface="Calibri"/>
            </a:endParaRPr>
          </a:p>
        </p:txBody>
      </p:sp>
      <p:sp>
        <p:nvSpPr>
          <p:cNvPr id="125" name="Google Shape;125;p6"/>
          <p:cNvSpPr/>
          <p:nvPr/>
        </p:nvSpPr>
        <p:spPr>
          <a:xfrm>
            <a:off x="4937760" y="3110894"/>
            <a:ext cx="1707000" cy="255900"/>
          </a:xfrm>
          <a:prstGeom prst="rect">
            <a:avLst/>
          </a:prstGeom>
          <a:solidFill>
            <a:srgbClr val="C2185B">
              <a:alpha val="41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5074920" y="3083462"/>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Editing for work</a:t>
            </a:r>
            <a:endParaRPr b="0" i="0" sz="1100" u="none" cap="none" strike="noStrike">
              <a:solidFill>
                <a:schemeClr val="dk1"/>
              </a:solidFill>
              <a:latin typeface="Calibri"/>
              <a:ea typeface="Calibri"/>
              <a:cs typeface="Calibri"/>
              <a:sym typeface="Calibri"/>
            </a:endParaRPr>
          </a:p>
        </p:txBody>
      </p:sp>
      <p:sp>
        <p:nvSpPr>
          <p:cNvPr id="127" name="Google Shape;127;p6"/>
          <p:cNvSpPr/>
          <p:nvPr/>
        </p:nvSpPr>
        <p:spPr>
          <a:xfrm>
            <a:off x="7772400" y="3083462"/>
            <a:ext cx="731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32–41%</a:t>
            </a:r>
            <a:endParaRPr b="0" i="0" sz="1100" u="none" cap="none" strike="noStrike">
              <a:solidFill>
                <a:schemeClr val="dk1"/>
              </a:solidFill>
              <a:latin typeface="Calibri"/>
              <a:ea typeface="Calibri"/>
              <a:cs typeface="Calibri"/>
              <a:sym typeface="Calibri"/>
            </a:endParaRPr>
          </a:p>
        </p:txBody>
      </p:sp>
      <p:sp>
        <p:nvSpPr>
          <p:cNvPr id="128" name="Google Shape;128;p6"/>
          <p:cNvSpPr/>
          <p:nvPr/>
        </p:nvSpPr>
        <p:spPr>
          <a:xfrm>
            <a:off x="4937746" y="3613817"/>
            <a:ext cx="2743200" cy="255900"/>
          </a:xfrm>
          <a:prstGeom prst="rect">
            <a:avLst/>
          </a:prstGeom>
          <a:solidFill>
            <a:srgbClr val="C2185B">
              <a:alpha val="411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5074920" y="3586382"/>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Edit was complex / time-consuming</a:t>
            </a:r>
            <a:endParaRPr b="0" i="0" sz="1100" u="none" cap="none" strike="noStrike">
              <a:solidFill>
                <a:schemeClr val="dk1"/>
              </a:solidFill>
              <a:latin typeface="Calibri"/>
              <a:ea typeface="Calibri"/>
              <a:cs typeface="Calibri"/>
              <a:sym typeface="Calibri"/>
            </a:endParaRPr>
          </a:p>
        </p:txBody>
      </p:sp>
      <p:sp>
        <p:nvSpPr>
          <p:cNvPr id="130" name="Google Shape;130;p6"/>
          <p:cNvSpPr/>
          <p:nvPr/>
        </p:nvSpPr>
        <p:spPr>
          <a:xfrm>
            <a:off x="7772400" y="3586392"/>
            <a:ext cx="664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36–41%</a:t>
            </a:r>
            <a:endParaRPr b="0" i="0" sz="1100" u="none" cap="none" strike="noStrike">
              <a:solidFill>
                <a:schemeClr val="dk1"/>
              </a:solidFill>
              <a:latin typeface="Calibri"/>
              <a:ea typeface="Calibri"/>
              <a:cs typeface="Calibri"/>
              <a:sym typeface="Calibri"/>
            </a:endParaRPr>
          </a:p>
        </p:txBody>
      </p:sp>
      <p:sp>
        <p:nvSpPr>
          <p:cNvPr id="131" name="Google Shape;131;p6"/>
          <p:cNvSpPr/>
          <p:nvPr/>
        </p:nvSpPr>
        <p:spPr>
          <a:xfrm>
            <a:off x="457200" y="4386812"/>
            <a:ext cx="8229600" cy="548700"/>
          </a:xfrm>
          <a:prstGeom prst="rect">
            <a:avLst/>
          </a:prstGeom>
          <a:solidFill>
            <a:srgbClr val="FFFFFF"/>
          </a:solidFill>
          <a:ln>
            <a:noFill/>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731520" y="4432532"/>
            <a:ext cx="76809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Key insight: </a:t>
            </a:r>
            <a:r>
              <a:rPr b="0" i="0" lang="en-US" sz="1100" u="none" cap="none" strike="noStrike">
                <a:solidFill>
                  <a:srgbClr val="2D2D2D"/>
                </a:solidFill>
                <a:latin typeface="Poppins"/>
                <a:ea typeface="Poppins"/>
                <a:cs typeface="Poppins"/>
                <a:sym typeface="Poppins"/>
              </a:rPr>
              <a:t>This pattern is identical for F</a:t>
            </a:r>
            <a:r>
              <a:rPr lang="en-US" sz="1100">
                <a:solidFill>
                  <a:srgbClr val="2D2D2D"/>
                </a:solidFill>
                <a:latin typeface="Poppins"/>
                <a:ea typeface="Poppins"/>
                <a:cs typeface="Poppins"/>
                <a:sym typeface="Poppins"/>
              </a:rPr>
              <a:t>T</a:t>
            </a:r>
            <a:r>
              <a:rPr b="0" i="0" lang="en-US" sz="1100" u="none" cap="none" strike="noStrike">
                <a:solidFill>
                  <a:srgbClr val="2D2D2D"/>
                </a:solidFill>
                <a:latin typeface="Poppins"/>
                <a:ea typeface="Poppins"/>
                <a:cs typeface="Poppins"/>
                <a:sym typeface="Poppins"/>
              </a:rPr>
              <a:t> and Non-F</a:t>
            </a:r>
            <a:r>
              <a:rPr lang="en-US" sz="1100">
                <a:solidFill>
                  <a:srgbClr val="2D2D2D"/>
                </a:solidFill>
                <a:latin typeface="Poppins"/>
                <a:ea typeface="Poppins"/>
                <a:cs typeface="Poppins"/>
                <a:sym typeface="Poppins"/>
              </a:rPr>
              <a:t>T</a:t>
            </a:r>
            <a:r>
              <a:rPr b="0" i="0" lang="en-US" sz="1100" u="none" cap="none" strike="noStrike">
                <a:solidFill>
                  <a:srgbClr val="2D2D2D"/>
                </a:solidFill>
                <a:latin typeface="Poppins"/>
                <a:ea typeface="Poppins"/>
                <a:cs typeface="Poppins"/>
                <a:sym typeface="Poppins"/>
              </a:rPr>
              <a:t> users. Everyone picks devices for the same reasons. The motivations are universal </a:t>
            </a:r>
            <a:r>
              <a:rPr lang="en-US" sz="1100">
                <a:solidFill>
                  <a:srgbClr val="2D2D2D"/>
                </a:solidFill>
                <a:latin typeface="Poppins"/>
                <a:ea typeface="Poppins"/>
                <a:cs typeface="Poppins"/>
                <a:sym typeface="Poppins"/>
              </a:rPr>
              <a:t>-</a:t>
            </a:r>
            <a:r>
              <a:rPr b="0" i="0" lang="en-US" sz="1100" u="none" cap="none" strike="noStrike">
                <a:solidFill>
                  <a:srgbClr val="2D2D2D"/>
                </a:solidFill>
                <a:latin typeface="Poppins"/>
                <a:ea typeface="Poppins"/>
                <a:cs typeface="Poppins"/>
                <a:sym typeface="Poppins"/>
              </a:rPr>
              <a:t> it’s the </a:t>
            </a:r>
            <a:r>
              <a:rPr b="1" i="0" lang="en-US" sz="1100" u="none" cap="none" strike="noStrike">
                <a:solidFill>
                  <a:srgbClr val="2D2D2D"/>
                </a:solidFill>
                <a:latin typeface="Poppins"/>
                <a:ea typeface="Poppins"/>
                <a:cs typeface="Poppins"/>
                <a:sym typeface="Poppins"/>
              </a:rPr>
              <a:t>editing needs</a:t>
            </a:r>
            <a:r>
              <a:rPr b="0" i="0" lang="en-US" sz="1100" u="none" cap="none" strike="noStrike">
                <a:solidFill>
                  <a:srgbClr val="2D2D2D"/>
                </a:solidFill>
                <a:latin typeface="Poppins"/>
                <a:ea typeface="Poppins"/>
                <a:cs typeface="Poppins"/>
                <a:sym typeface="Poppins"/>
              </a:rPr>
              <a:t> that differ between the </a:t>
            </a:r>
            <a:r>
              <a:rPr lang="en-US" sz="1100">
                <a:solidFill>
                  <a:srgbClr val="2D2D2D"/>
                </a:solidFill>
                <a:latin typeface="Poppins"/>
                <a:ea typeface="Poppins"/>
                <a:cs typeface="Poppins"/>
                <a:sym typeface="Poppins"/>
              </a:rPr>
              <a:t>devices</a:t>
            </a:r>
            <a:r>
              <a:rPr b="0" i="0" lang="en-US" sz="1100" u="none" cap="none" strike="noStrike">
                <a:solidFill>
                  <a:srgbClr val="2D2D2D"/>
                </a:solidFill>
                <a:latin typeface="Poppins"/>
                <a:ea typeface="Poppins"/>
                <a:cs typeface="Poppins"/>
                <a:sym typeface="Poppins"/>
              </a:rPr>
              <a: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7"/>
          <p:cNvSpPr/>
          <p:nvPr/>
        </p:nvSpPr>
        <p:spPr>
          <a:xfrm>
            <a:off x="640080" y="320040"/>
            <a:ext cx="786384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2185B"/>
              </a:buClr>
              <a:buSzPts val="2400"/>
              <a:buFont typeface="Poppins"/>
              <a:buNone/>
            </a:pPr>
            <a:r>
              <a:rPr b="1" i="0" lang="en-US" sz="2100" u="none" cap="none" strike="noStrike">
                <a:solidFill>
                  <a:srgbClr val="C2185B"/>
                </a:solidFill>
                <a:latin typeface="Poppins"/>
                <a:ea typeface="Poppins"/>
                <a:cs typeface="Poppins"/>
                <a:sym typeface="Poppins"/>
              </a:rPr>
              <a:t>Desktop editing sessions are significantly longer than phone sessions</a:t>
            </a:r>
            <a:endParaRPr b="0" i="0" sz="2100" u="none" cap="none" strike="noStrike">
              <a:solidFill>
                <a:schemeClr val="dk1"/>
              </a:solidFill>
              <a:latin typeface="Calibri"/>
              <a:ea typeface="Calibri"/>
              <a:cs typeface="Calibri"/>
              <a:sym typeface="Calibri"/>
            </a:endParaRPr>
          </a:p>
        </p:txBody>
      </p:sp>
      <p:sp>
        <p:nvSpPr>
          <p:cNvPr id="139" name="Google Shape;139;p7"/>
          <p:cNvSpPr/>
          <p:nvPr/>
        </p:nvSpPr>
        <p:spPr>
          <a:xfrm>
            <a:off x="457200" y="1554480"/>
            <a:ext cx="2651760" cy="1828800"/>
          </a:xfrm>
          <a:prstGeom prst="rect">
            <a:avLst/>
          </a:prstGeom>
          <a:solidFill>
            <a:srgbClr val="FFFFFF"/>
          </a:solidFill>
          <a:ln>
            <a:noFill/>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p:nvPr/>
        </p:nvSpPr>
        <p:spPr>
          <a:xfrm>
            <a:off x="457200" y="1678891"/>
            <a:ext cx="26517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4400"/>
              <a:buFont typeface="Poppins"/>
              <a:buNone/>
            </a:pPr>
            <a:r>
              <a:rPr b="1" i="0" lang="en-US" sz="3500" u="none" cap="none" strike="noStrike">
                <a:solidFill>
                  <a:srgbClr val="F48FB1"/>
                </a:solidFill>
                <a:latin typeface="Poppins"/>
                <a:ea typeface="Poppins"/>
                <a:cs typeface="Poppins"/>
                <a:sym typeface="Poppins"/>
              </a:rPr>
              <a:t>82%</a:t>
            </a:r>
            <a:endParaRPr b="0" i="0" sz="3500" u="none" cap="none" strike="noStrike">
              <a:solidFill>
                <a:schemeClr val="dk1"/>
              </a:solidFill>
              <a:latin typeface="Calibri"/>
              <a:ea typeface="Calibri"/>
              <a:cs typeface="Calibri"/>
              <a:sym typeface="Calibri"/>
            </a:endParaRPr>
          </a:p>
        </p:txBody>
      </p:sp>
      <p:sp>
        <p:nvSpPr>
          <p:cNvPr id="141" name="Google Shape;141;p7"/>
          <p:cNvSpPr/>
          <p:nvPr/>
        </p:nvSpPr>
        <p:spPr>
          <a:xfrm>
            <a:off x="731520" y="2468880"/>
            <a:ext cx="21031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of phone sessions finish</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in under 30 minutes</a:t>
            </a:r>
            <a:endParaRPr b="0" i="0" sz="1100" u="none" cap="none" strike="noStrike">
              <a:solidFill>
                <a:schemeClr val="dk1"/>
              </a:solidFill>
              <a:latin typeface="Calibri"/>
              <a:ea typeface="Calibri"/>
              <a:cs typeface="Calibri"/>
              <a:sym typeface="Calibri"/>
            </a:endParaRPr>
          </a:p>
        </p:txBody>
      </p:sp>
      <p:sp>
        <p:nvSpPr>
          <p:cNvPr id="142" name="Google Shape;142;p7"/>
          <p:cNvSpPr/>
          <p:nvPr/>
        </p:nvSpPr>
        <p:spPr>
          <a:xfrm>
            <a:off x="3383280" y="1554480"/>
            <a:ext cx="2651760" cy="1828800"/>
          </a:xfrm>
          <a:prstGeom prst="rect">
            <a:avLst/>
          </a:prstGeom>
          <a:solidFill>
            <a:srgbClr val="FFFFFF"/>
          </a:solidFill>
          <a:ln>
            <a:noFill/>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3383280" y="1678891"/>
            <a:ext cx="26517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185B"/>
              </a:buClr>
              <a:buSzPts val="4400"/>
              <a:buFont typeface="Poppins"/>
              <a:buNone/>
            </a:pPr>
            <a:r>
              <a:rPr b="1" i="0" lang="en-US" sz="3500" u="none" cap="none" strike="noStrike">
                <a:solidFill>
                  <a:srgbClr val="C2185B"/>
                </a:solidFill>
                <a:latin typeface="Poppins"/>
                <a:ea typeface="Poppins"/>
                <a:cs typeface="Poppins"/>
                <a:sym typeface="Poppins"/>
              </a:rPr>
              <a:t>33%</a:t>
            </a:r>
            <a:endParaRPr b="0" i="0" sz="3500" u="none" cap="none" strike="noStrike">
              <a:solidFill>
                <a:schemeClr val="dk1"/>
              </a:solidFill>
              <a:latin typeface="Calibri"/>
              <a:ea typeface="Calibri"/>
              <a:cs typeface="Calibri"/>
              <a:sym typeface="Calibri"/>
            </a:endParaRPr>
          </a:p>
        </p:txBody>
      </p:sp>
      <p:sp>
        <p:nvSpPr>
          <p:cNvPr id="144" name="Google Shape;144;p7"/>
          <p:cNvSpPr/>
          <p:nvPr/>
        </p:nvSpPr>
        <p:spPr>
          <a:xfrm>
            <a:off x="3657600" y="2468880"/>
            <a:ext cx="21031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of desktop sessions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run 30+ minutes</a:t>
            </a:r>
            <a:endParaRPr b="0" i="0" sz="1100" u="none" cap="none" strike="noStrike">
              <a:solidFill>
                <a:schemeClr val="dk1"/>
              </a:solidFill>
              <a:latin typeface="Calibri"/>
              <a:ea typeface="Calibri"/>
              <a:cs typeface="Calibri"/>
              <a:sym typeface="Calibri"/>
            </a:endParaRPr>
          </a:p>
        </p:txBody>
      </p:sp>
      <p:sp>
        <p:nvSpPr>
          <p:cNvPr id="145" name="Google Shape;145;p7"/>
          <p:cNvSpPr/>
          <p:nvPr/>
        </p:nvSpPr>
        <p:spPr>
          <a:xfrm>
            <a:off x="6309360" y="1554480"/>
            <a:ext cx="2651760" cy="1828800"/>
          </a:xfrm>
          <a:prstGeom prst="rect">
            <a:avLst/>
          </a:prstGeom>
          <a:solidFill>
            <a:srgbClr val="FFFFFF"/>
          </a:solidFill>
          <a:ln>
            <a:noFill/>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a:off x="6309360" y="1678891"/>
            <a:ext cx="26517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185B"/>
              </a:buClr>
              <a:buSzPts val="4400"/>
              <a:buFont typeface="Poppins"/>
              <a:buNone/>
            </a:pPr>
            <a:r>
              <a:rPr b="1" i="0" lang="en-US" sz="3500" u="none" cap="none" strike="noStrike">
                <a:solidFill>
                  <a:srgbClr val="C2185B"/>
                </a:solidFill>
                <a:latin typeface="Poppins"/>
                <a:ea typeface="Poppins"/>
                <a:cs typeface="Poppins"/>
                <a:sym typeface="Poppins"/>
              </a:rPr>
              <a:t>11%</a:t>
            </a:r>
            <a:endParaRPr b="0" i="0" sz="3500" u="none" cap="none" strike="noStrike">
              <a:solidFill>
                <a:schemeClr val="dk1"/>
              </a:solidFill>
              <a:latin typeface="Calibri"/>
              <a:ea typeface="Calibri"/>
              <a:cs typeface="Calibri"/>
              <a:sym typeface="Calibri"/>
            </a:endParaRPr>
          </a:p>
        </p:txBody>
      </p:sp>
      <p:sp>
        <p:nvSpPr>
          <p:cNvPr id="147" name="Google Shape;147;p7"/>
          <p:cNvSpPr/>
          <p:nvPr/>
        </p:nvSpPr>
        <p:spPr>
          <a:xfrm>
            <a:off x="6583680" y="2468880"/>
            <a:ext cx="21031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of FT us</a:t>
            </a:r>
            <a:r>
              <a:rPr lang="en-US" sz="1100">
                <a:solidFill>
                  <a:srgbClr val="6B6B6B"/>
                </a:solidFill>
                <a:latin typeface="Poppins"/>
                <a:ea typeface="Poppins"/>
                <a:cs typeface="Poppins"/>
                <a:sym typeface="Poppins"/>
              </a:rPr>
              <a:t>ers </a:t>
            </a:r>
            <a:r>
              <a:rPr b="0" i="0" lang="en-US" sz="1100" u="none" cap="none" strike="noStrike">
                <a:solidFill>
                  <a:srgbClr val="6B6B6B"/>
                </a:solidFill>
                <a:latin typeface="Poppins"/>
                <a:ea typeface="Poppins"/>
                <a:cs typeface="Poppins"/>
                <a:sym typeface="Poppins"/>
              </a:rPr>
              <a:t>desktop sessions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last over an hour</a:t>
            </a:r>
            <a:endParaRPr b="0" i="0" sz="1100" u="none" cap="none" strike="noStrike">
              <a:solidFill>
                <a:schemeClr val="dk1"/>
              </a:solidFill>
              <a:latin typeface="Calibri"/>
              <a:ea typeface="Calibri"/>
              <a:cs typeface="Calibri"/>
              <a:sym typeface="Calibri"/>
            </a:endParaRPr>
          </a:p>
        </p:txBody>
      </p:sp>
      <p:sp>
        <p:nvSpPr>
          <p:cNvPr id="148" name="Google Shape;148;p7"/>
          <p:cNvSpPr/>
          <p:nvPr/>
        </p:nvSpPr>
        <p:spPr>
          <a:xfrm>
            <a:off x="457200" y="3749040"/>
            <a:ext cx="8229600" cy="82296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731520" y="3794760"/>
            <a:ext cx="7680960" cy="7315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What this means: </a:t>
            </a:r>
            <a:r>
              <a:rPr b="0" i="0" lang="en-US" sz="1100" u="none" cap="none" strike="noStrike">
                <a:solidFill>
                  <a:srgbClr val="2D2D2D"/>
                </a:solidFill>
                <a:latin typeface="Poppins"/>
                <a:ea typeface="Poppins"/>
                <a:cs typeface="Poppins"/>
                <a:sym typeface="Poppins"/>
              </a:rPr>
              <a:t>Desktop isn’t just “another screen.” Users switch into a different mindset </a:t>
            </a:r>
            <a:r>
              <a:rPr lang="en-US" sz="1100">
                <a:solidFill>
                  <a:srgbClr val="2D2D2D"/>
                </a:solidFill>
                <a:latin typeface="Poppins"/>
                <a:ea typeface="Poppins"/>
                <a:cs typeface="Poppins"/>
                <a:sym typeface="Poppins"/>
              </a:rPr>
              <a:t>-</a:t>
            </a:r>
            <a:r>
              <a:rPr b="0" i="0" lang="en-US" sz="1100" u="none" cap="none" strike="noStrike">
                <a:solidFill>
                  <a:srgbClr val="2D2D2D"/>
                </a:solidFill>
                <a:latin typeface="Poppins"/>
                <a:ea typeface="Poppins"/>
                <a:cs typeface="Poppins"/>
                <a:sym typeface="Poppins"/>
              </a:rPr>
              <a:t> more focused, more invested, more willing to spend time. </a:t>
            </a:r>
            <a:r>
              <a:rPr b="1" i="0" lang="en-US" sz="1100" u="none" cap="none" strike="noStrike">
                <a:solidFill>
                  <a:srgbClr val="2D2D2D"/>
                </a:solidFill>
                <a:latin typeface="Poppins"/>
                <a:ea typeface="Poppins"/>
                <a:cs typeface="Poppins"/>
                <a:sym typeface="Poppins"/>
              </a:rPr>
              <a:t>54% of FT users </a:t>
            </a:r>
            <a:r>
              <a:rPr b="1" lang="en-US" sz="1100">
                <a:solidFill>
                  <a:srgbClr val="2D2D2D"/>
                </a:solidFill>
                <a:latin typeface="Poppins"/>
                <a:ea typeface="Poppins"/>
                <a:cs typeface="Poppins"/>
                <a:sym typeface="Poppins"/>
              </a:rPr>
              <a:t>report spending longer editing on desktop than on phone</a:t>
            </a:r>
            <a:r>
              <a:rPr b="1" i="0" lang="en-US" sz="1100" u="none" cap="none" strike="noStrike">
                <a:solidFill>
                  <a:srgbClr val="2D2D2D"/>
                </a:solidFill>
                <a:latin typeface="Poppins"/>
                <a:ea typeface="Poppins"/>
                <a:cs typeface="Poppins"/>
                <a:sym typeface="Poppins"/>
              </a:rPr>
              <a:t>.</a:t>
            </a:r>
            <a:r>
              <a:rPr b="0" i="0" lang="en-US" sz="1100" u="none" cap="none" strike="noStrike">
                <a:solidFill>
                  <a:srgbClr val="2D2D2D"/>
                </a:solidFill>
                <a:latin typeface="Poppins"/>
                <a:ea typeface="Poppins"/>
                <a:cs typeface="Poppins"/>
                <a:sym typeface="Poppins"/>
              </a:rPr>
              <a:t> A desktop product needs to serve this deeper, more deliberate editing mode.</a:t>
            </a:r>
            <a:endParaRPr b="0" i="0" sz="1100" u="none" cap="none" strike="noStrike">
              <a:solidFill>
                <a:schemeClr val="dk1"/>
              </a:solidFill>
              <a:latin typeface="Calibri"/>
              <a:ea typeface="Calibri"/>
              <a:cs typeface="Calibri"/>
              <a:sym typeface="Calibri"/>
            </a:endParaRPr>
          </a:p>
        </p:txBody>
      </p:sp>
      <p:sp>
        <p:nvSpPr>
          <p:cNvPr id="150" name="Google Shape;150;p7"/>
          <p:cNvSpPr/>
          <p:nvPr/>
        </p:nvSpPr>
        <p:spPr>
          <a:xfrm>
            <a:off x="640080" y="4709160"/>
            <a:ext cx="7863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1" lang="en-US" sz="900" u="none" cap="none" strike="noStrike">
                <a:solidFill>
                  <a:srgbClr val="6B6B6B"/>
                </a:solidFill>
                <a:latin typeface="Poppins"/>
                <a:ea typeface="Poppins"/>
                <a:cs typeface="Poppins"/>
                <a:sym typeface="Poppins"/>
              </a:rPr>
              <a:t>Duration differences are statistically significant (p&lt;0.001)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g3d60807834f_0_293"/>
          <p:cNvSpPr/>
          <p:nvPr/>
        </p:nvSpPr>
        <p:spPr>
          <a:xfrm>
            <a:off x="640080" y="320040"/>
            <a:ext cx="7863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400"/>
              <a:buFont typeface="Poppins"/>
              <a:buNone/>
            </a:pPr>
            <a:r>
              <a:rPr b="1" i="0" lang="en-US" sz="2200" u="none" cap="none" strike="noStrike">
                <a:solidFill>
                  <a:srgbClr val="C2185B"/>
                </a:solidFill>
                <a:latin typeface="Poppins"/>
                <a:ea typeface="Poppins"/>
                <a:cs typeface="Poppins"/>
                <a:sym typeface="Poppins"/>
              </a:rPr>
              <a:t>What users edit depends on which device they’re on</a:t>
            </a:r>
            <a:endParaRPr b="0" i="0" sz="2200" u="none" cap="none" strike="noStrike">
              <a:solidFill>
                <a:schemeClr val="dk1"/>
              </a:solidFill>
              <a:latin typeface="Calibri"/>
              <a:ea typeface="Calibri"/>
              <a:cs typeface="Calibri"/>
              <a:sym typeface="Calibri"/>
            </a:endParaRPr>
          </a:p>
        </p:txBody>
      </p:sp>
      <p:sp>
        <p:nvSpPr>
          <p:cNvPr id="157" name="Google Shape;157;g3d60807834f_0_293"/>
          <p:cNvSpPr/>
          <p:nvPr/>
        </p:nvSpPr>
        <p:spPr>
          <a:xfrm>
            <a:off x="640080" y="960120"/>
            <a:ext cx="7863900" cy="3657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Personal, casual content lives on phone. Professional and video content migrates to desktop. Pattern is identical across both surveys.</a:t>
            </a:r>
            <a:endParaRPr b="0" i="0" sz="1100" u="none" cap="none" strike="noStrike">
              <a:solidFill>
                <a:schemeClr val="dk1"/>
              </a:solidFill>
              <a:latin typeface="Calibri"/>
              <a:ea typeface="Calibri"/>
              <a:cs typeface="Calibri"/>
              <a:sym typeface="Calibri"/>
            </a:endParaRPr>
          </a:p>
        </p:txBody>
      </p:sp>
      <p:sp>
        <p:nvSpPr>
          <p:cNvPr id="158" name="Google Shape;158;g3d60807834f_0_293"/>
          <p:cNvSpPr/>
          <p:nvPr/>
        </p:nvSpPr>
        <p:spPr>
          <a:xfrm>
            <a:off x="1920240" y="1604332"/>
            <a:ext cx="2103000" cy="255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48FB1"/>
              </a:buClr>
              <a:buSzPts val="1000"/>
              <a:buFont typeface="Poppins"/>
              <a:buNone/>
            </a:pPr>
            <a:r>
              <a:rPr b="1" i="0" lang="en-US" sz="1000" u="none" cap="none" strike="noStrike">
                <a:solidFill>
                  <a:srgbClr val="F48FB1"/>
                </a:solidFill>
                <a:latin typeface="Poppins"/>
                <a:ea typeface="Poppins"/>
                <a:cs typeface="Poppins"/>
                <a:sym typeface="Poppins"/>
              </a:rPr>
              <a:t>← More on phone</a:t>
            </a:r>
            <a:endParaRPr b="0" i="0" sz="1000" u="none" cap="none" strike="noStrike">
              <a:solidFill>
                <a:schemeClr val="dk1"/>
              </a:solidFill>
              <a:latin typeface="Calibri"/>
              <a:ea typeface="Calibri"/>
              <a:cs typeface="Calibri"/>
              <a:sym typeface="Calibri"/>
            </a:endParaRPr>
          </a:p>
        </p:txBody>
      </p:sp>
      <p:sp>
        <p:nvSpPr>
          <p:cNvPr id="159" name="Google Shape;159;g3d60807834f_0_293"/>
          <p:cNvSpPr/>
          <p:nvPr/>
        </p:nvSpPr>
        <p:spPr>
          <a:xfrm>
            <a:off x="4389120" y="1604332"/>
            <a:ext cx="2103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000"/>
              <a:buFont typeface="Poppins"/>
              <a:buNone/>
            </a:pPr>
            <a:r>
              <a:rPr b="1" i="0" lang="en-US" sz="1000" u="none" cap="none" strike="noStrike">
                <a:solidFill>
                  <a:srgbClr val="C2185B"/>
                </a:solidFill>
                <a:latin typeface="Poppins"/>
                <a:ea typeface="Poppins"/>
                <a:cs typeface="Poppins"/>
                <a:sym typeface="Poppins"/>
              </a:rPr>
              <a:t>More on desktop →</a:t>
            </a:r>
            <a:endParaRPr b="0" i="0" sz="1000" u="none" cap="none" strike="noStrike">
              <a:solidFill>
                <a:schemeClr val="dk1"/>
              </a:solidFill>
              <a:latin typeface="Calibri"/>
              <a:ea typeface="Calibri"/>
              <a:cs typeface="Calibri"/>
              <a:sym typeface="Calibri"/>
            </a:endParaRPr>
          </a:p>
        </p:txBody>
      </p:sp>
      <p:sp>
        <p:nvSpPr>
          <p:cNvPr id="160" name="Google Shape;160;g3d60807834f_0_293"/>
          <p:cNvSpPr/>
          <p:nvPr/>
        </p:nvSpPr>
        <p:spPr>
          <a:xfrm>
            <a:off x="4197096" y="1896940"/>
            <a:ext cx="18300" cy="2752200"/>
          </a:xfrm>
          <a:prstGeom prst="rect">
            <a:avLst/>
          </a:prstGeom>
          <a:solidFill>
            <a:srgbClr val="D0D0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d60807834f_0_293"/>
          <p:cNvSpPr/>
          <p:nvPr/>
        </p:nvSpPr>
        <p:spPr>
          <a:xfrm>
            <a:off x="457200" y="1896940"/>
            <a:ext cx="8229600" cy="393300"/>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d60807834f_0_293"/>
          <p:cNvSpPr/>
          <p:nvPr/>
        </p:nvSpPr>
        <p:spPr>
          <a:xfrm>
            <a:off x="457200" y="1896940"/>
            <a:ext cx="16458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1" i="0" lang="en-US" sz="1100" u="none" cap="none" strike="noStrike">
                <a:solidFill>
                  <a:srgbClr val="2D2D2D"/>
                </a:solidFill>
                <a:latin typeface="Poppins"/>
                <a:ea typeface="Poppins"/>
                <a:cs typeface="Poppins"/>
                <a:sym typeface="Poppins"/>
              </a:rPr>
              <a:t>Selfies / portraits</a:t>
            </a:r>
            <a:endParaRPr b="0" i="0" sz="1100" u="none" cap="none" strike="noStrike">
              <a:solidFill>
                <a:schemeClr val="dk1"/>
              </a:solidFill>
              <a:latin typeface="Calibri"/>
              <a:ea typeface="Calibri"/>
              <a:cs typeface="Calibri"/>
              <a:sym typeface="Calibri"/>
            </a:endParaRPr>
          </a:p>
        </p:txBody>
      </p:sp>
      <p:sp>
        <p:nvSpPr>
          <p:cNvPr id="163" name="Google Shape;163;g3d60807834f_0_293"/>
          <p:cNvSpPr/>
          <p:nvPr/>
        </p:nvSpPr>
        <p:spPr>
          <a:xfrm>
            <a:off x="2507488" y="1970092"/>
            <a:ext cx="1698900" cy="246900"/>
          </a:xfrm>
          <a:prstGeom prst="rect">
            <a:avLst/>
          </a:prstGeom>
          <a:solidFill>
            <a:srgbClr val="F48FB1">
              <a:alpha val="85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d60807834f_0_293"/>
          <p:cNvSpPr/>
          <p:nvPr/>
        </p:nvSpPr>
        <p:spPr>
          <a:xfrm>
            <a:off x="1958848" y="1896940"/>
            <a:ext cx="502800" cy="393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48FB1"/>
              </a:buClr>
              <a:buSzPts val="900"/>
              <a:buFont typeface="Poppins"/>
              <a:buNone/>
            </a:pPr>
            <a:r>
              <a:rPr b="1" i="0" lang="en-US" sz="900" u="none" cap="none" strike="noStrike">
                <a:solidFill>
                  <a:srgbClr val="F48FB1"/>
                </a:solidFill>
                <a:latin typeface="Poppins"/>
                <a:ea typeface="Poppins"/>
                <a:cs typeface="Poppins"/>
                <a:sym typeface="Poppins"/>
              </a:rPr>
              <a:t>+38pp</a:t>
            </a:r>
            <a:endParaRPr b="0" i="0" sz="900" u="none" cap="none" strike="noStrike">
              <a:solidFill>
                <a:schemeClr val="dk1"/>
              </a:solidFill>
              <a:latin typeface="Calibri"/>
              <a:ea typeface="Calibri"/>
              <a:cs typeface="Calibri"/>
              <a:sym typeface="Calibri"/>
            </a:endParaRPr>
          </a:p>
        </p:txBody>
      </p:sp>
      <p:sp>
        <p:nvSpPr>
          <p:cNvPr id="165" name="Google Shape;165;g3d60807834f_0_293"/>
          <p:cNvSpPr/>
          <p:nvPr/>
        </p:nvSpPr>
        <p:spPr>
          <a:xfrm>
            <a:off x="6766560" y="1896940"/>
            <a:ext cx="21945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Poppins"/>
              <a:buNone/>
            </a:pPr>
            <a:r>
              <a:rPr b="0" i="0" lang="en-US" sz="750" u="none" cap="none" strike="noStrike">
                <a:solidFill>
                  <a:srgbClr val="6B6B6B"/>
                </a:solidFill>
                <a:latin typeface="Poppins"/>
                <a:ea typeface="Poppins"/>
                <a:cs typeface="Poppins"/>
                <a:sym typeface="Poppins"/>
              </a:rPr>
              <a:t>FT: 79.9</a:t>
            </a:r>
            <a:r>
              <a:rPr b="0" i="0" lang="en-US" sz="750" u="none" cap="none" strike="noStrike">
                <a:solidFill>
                  <a:srgbClr val="6B6B6B"/>
                </a:solidFill>
                <a:latin typeface="Poppins"/>
                <a:ea typeface="Poppins"/>
                <a:cs typeface="Poppins"/>
                <a:sym typeface="Poppins"/>
              </a:rPr>
              <a:t>/</a:t>
            </a:r>
            <a:r>
              <a:rPr b="0" i="0" lang="en-US" sz="750" u="none" cap="none" strike="noStrike">
                <a:solidFill>
                  <a:srgbClr val="6B6B6B"/>
                </a:solidFill>
                <a:latin typeface="Poppins"/>
                <a:ea typeface="Poppins"/>
                <a:cs typeface="Poppins"/>
                <a:sym typeface="Poppins"/>
              </a:rPr>
              <a:t>36.1%  NFT: 79.6/43.9%</a:t>
            </a:r>
            <a:endParaRPr b="0" i="0" sz="750" u="none" cap="none" strike="noStrike">
              <a:solidFill>
                <a:schemeClr val="dk1"/>
              </a:solidFill>
              <a:latin typeface="Calibri"/>
              <a:ea typeface="Calibri"/>
              <a:cs typeface="Calibri"/>
              <a:sym typeface="Calibri"/>
            </a:endParaRPr>
          </a:p>
        </p:txBody>
      </p:sp>
      <p:sp>
        <p:nvSpPr>
          <p:cNvPr id="166" name="Google Shape;166;g3d60807834f_0_293"/>
          <p:cNvSpPr/>
          <p:nvPr/>
        </p:nvSpPr>
        <p:spPr>
          <a:xfrm>
            <a:off x="457200" y="2290132"/>
            <a:ext cx="16458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1" i="0" lang="en-US" sz="1100" u="none" cap="none" strike="noStrike">
                <a:solidFill>
                  <a:srgbClr val="2D2D2D"/>
                </a:solidFill>
                <a:latin typeface="Poppins"/>
                <a:ea typeface="Poppins"/>
                <a:cs typeface="Poppins"/>
                <a:sym typeface="Poppins"/>
              </a:rPr>
              <a:t>Food photos</a:t>
            </a:r>
            <a:endParaRPr b="0" i="0" sz="1100" u="none" cap="none" strike="noStrike">
              <a:solidFill>
                <a:schemeClr val="dk1"/>
              </a:solidFill>
              <a:latin typeface="Calibri"/>
              <a:ea typeface="Calibri"/>
              <a:cs typeface="Calibri"/>
              <a:sym typeface="Calibri"/>
            </a:endParaRPr>
          </a:p>
        </p:txBody>
      </p:sp>
      <p:sp>
        <p:nvSpPr>
          <p:cNvPr id="167" name="Google Shape;167;g3d60807834f_0_293"/>
          <p:cNvSpPr/>
          <p:nvPr/>
        </p:nvSpPr>
        <p:spPr>
          <a:xfrm>
            <a:off x="3312160" y="2363284"/>
            <a:ext cx="894000" cy="246900"/>
          </a:xfrm>
          <a:prstGeom prst="rect">
            <a:avLst/>
          </a:prstGeom>
          <a:solidFill>
            <a:srgbClr val="F48FB1">
              <a:alpha val="85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d60807834f_0_293"/>
          <p:cNvSpPr/>
          <p:nvPr/>
        </p:nvSpPr>
        <p:spPr>
          <a:xfrm>
            <a:off x="2763520" y="2290132"/>
            <a:ext cx="502800" cy="393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48FB1"/>
              </a:buClr>
              <a:buSzPts val="900"/>
              <a:buFont typeface="Poppins"/>
              <a:buNone/>
            </a:pPr>
            <a:r>
              <a:rPr b="1" i="0" lang="en-US" sz="900" u="none" cap="none" strike="noStrike">
                <a:solidFill>
                  <a:srgbClr val="F48FB1"/>
                </a:solidFill>
                <a:latin typeface="Poppins"/>
                <a:ea typeface="Poppins"/>
                <a:cs typeface="Poppins"/>
                <a:sym typeface="Poppins"/>
              </a:rPr>
              <a:t>+20pp</a:t>
            </a:r>
            <a:endParaRPr b="0" i="0" sz="900" u="none" cap="none" strike="noStrike">
              <a:solidFill>
                <a:schemeClr val="dk1"/>
              </a:solidFill>
              <a:latin typeface="Calibri"/>
              <a:ea typeface="Calibri"/>
              <a:cs typeface="Calibri"/>
              <a:sym typeface="Calibri"/>
            </a:endParaRPr>
          </a:p>
        </p:txBody>
      </p:sp>
      <p:sp>
        <p:nvSpPr>
          <p:cNvPr id="169" name="Google Shape;169;g3d60807834f_0_293"/>
          <p:cNvSpPr/>
          <p:nvPr/>
        </p:nvSpPr>
        <p:spPr>
          <a:xfrm>
            <a:off x="6766560" y="2290132"/>
            <a:ext cx="21945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Poppins"/>
              <a:buNone/>
            </a:pPr>
            <a:r>
              <a:rPr b="0" i="0" lang="en-US" sz="750" u="none" cap="none" strike="noStrike">
                <a:solidFill>
                  <a:srgbClr val="6B6B6B"/>
                </a:solidFill>
                <a:latin typeface="Poppins"/>
                <a:ea typeface="Poppins"/>
                <a:cs typeface="Poppins"/>
                <a:sym typeface="Poppins"/>
              </a:rPr>
              <a:t>FT: 56.9/29.2%  NFT: 49.5/32.8%</a:t>
            </a:r>
            <a:endParaRPr b="0" i="0" sz="750" u="none" cap="none" strike="noStrike">
              <a:solidFill>
                <a:schemeClr val="dk1"/>
              </a:solidFill>
              <a:latin typeface="Calibri"/>
              <a:ea typeface="Calibri"/>
              <a:cs typeface="Calibri"/>
              <a:sym typeface="Calibri"/>
            </a:endParaRPr>
          </a:p>
        </p:txBody>
      </p:sp>
      <p:sp>
        <p:nvSpPr>
          <p:cNvPr id="170" name="Google Shape;170;g3d60807834f_0_293"/>
          <p:cNvSpPr/>
          <p:nvPr/>
        </p:nvSpPr>
        <p:spPr>
          <a:xfrm>
            <a:off x="457200" y="2683324"/>
            <a:ext cx="8229600" cy="393300"/>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d60807834f_0_293"/>
          <p:cNvSpPr/>
          <p:nvPr/>
        </p:nvSpPr>
        <p:spPr>
          <a:xfrm>
            <a:off x="457200" y="2683324"/>
            <a:ext cx="16458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1" i="0" lang="en-US" sz="1100" u="none" cap="none" strike="noStrike">
                <a:solidFill>
                  <a:srgbClr val="2D2D2D"/>
                </a:solidFill>
                <a:latin typeface="Poppins"/>
                <a:ea typeface="Poppins"/>
                <a:cs typeface="Poppins"/>
                <a:sym typeface="Poppins"/>
              </a:rPr>
              <a:t>Group photos</a:t>
            </a:r>
            <a:endParaRPr b="0" i="0" sz="1100" u="none" cap="none" strike="noStrike">
              <a:solidFill>
                <a:schemeClr val="dk1"/>
              </a:solidFill>
              <a:latin typeface="Calibri"/>
              <a:ea typeface="Calibri"/>
              <a:cs typeface="Calibri"/>
              <a:sym typeface="Calibri"/>
            </a:endParaRPr>
          </a:p>
        </p:txBody>
      </p:sp>
      <p:sp>
        <p:nvSpPr>
          <p:cNvPr id="172" name="Google Shape;172;g3d60807834f_0_293"/>
          <p:cNvSpPr/>
          <p:nvPr/>
        </p:nvSpPr>
        <p:spPr>
          <a:xfrm>
            <a:off x="3759200" y="2756476"/>
            <a:ext cx="447000" cy="246900"/>
          </a:xfrm>
          <a:prstGeom prst="rect">
            <a:avLst/>
          </a:prstGeom>
          <a:solidFill>
            <a:srgbClr val="F48FB1">
              <a:alpha val="85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d60807834f_0_293"/>
          <p:cNvSpPr/>
          <p:nvPr/>
        </p:nvSpPr>
        <p:spPr>
          <a:xfrm>
            <a:off x="3210560" y="2683324"/>
            <a:ext cx="502800" cy="393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48FB1"/>
              </a:buClr>
              <a:buSzPts val="900"/>
              <a:buFont typeface="Poppins"/>
              <a:buNone/>
            </a:pPr>
            <a:r>
              <a:rPr b="1" i="0" lang="en-US" sz="900" u="none" cap="none" strike="noStrike">
                <a:solidFill>
                  <a:srgbClr val="F48FB1"/>
                </a:solidFill>
                <a:latin typeface="Poppins"/>
                <a:ea typeface="Poppins"/>
                <a:cs typeface="Poppins"/>
                <a:sym typeface="Poppins"/>
              </a:rPr>
              <a:t>+10pp</a:t>
            </a:r>
            <a:endParaRPr b="0" i="0" sz="900" u="none" cap="none" strike="noStrike">
              <a:solidFill>
                <a:schemeClr val="dk1"/>
              </a:solidFill>
              <a:latin typeface="Calibri"/>
              <a:ea typeface="Calibri"/>
              <a:cs typeface="Calibri"/>
              <a:sym typeface="Calibri"/>
            </a:endParaRPr>
          </a:p>
        </p:txBody>
      </p:sp>
      <p:sp>
        <p:nvSpPr>
          <p:cNvPr id="174" name="Google Shape;174;g3d60807834f_0_293"/>
          <p:cNvSpPr/>
          <p:nvPr/>
        </p:nvSpPr>
        <p:spPr>
          <a:xfrm>
            <a:off x="6766560" y="2683324"/>
            <a:ext cx="21945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Poppins"/>
              <a:buNone/>
            </a:pPr>
            <a:r>
              <a:rPr b="0" i="0" lang="en-US" sz="750" u="none" cap="none" strike="noStrike">
                <a:solidFill>
                  <a:srgbClr val="6B6B6B"/>
                </a:solidFill>
                <a:latin typeface="Poppins"/>
                <a:ea typeface="Poppins"/>
                <a:cs typeface="Poppins"/>
                <a:sym typeface="Poppins"/>
              </a:rPr>
              <a:t>FT: 55.1/42.1%  NFT: 56.6/47%</a:t>
            </a:r>
            <a:endParaRPr b="0" i="0" sz="750" u="none" cap="none" strike="noStrike">
              <a:solidFill>
                <a:schemeClr val="dk1"/>
              </a:solidFill>
              <a:latin typeface="Calibri"/>
              <a:ea typeface="Calibri"/>
              <a:cs typeface="Calibri"/>
              <a:sym typeface="Calibri"/>
            </a:endParaRPr>
          </a:p>
        </p:txBody>
      </p:sp>
      <p:sp>
        <p:nvSpPr>
          <p:cNvPr id="175" name="Google Shape;175;g3d60807834f_0_293"/>
          <p:cNvSpPr/>
          <p:nvPr/>
        </p:nvSpPr>
        <p:spPr>
          <a:xfrm>
            <a:off x="457200" y="3076516"/>
            <a:ext cx="16458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1" i="0" lang="en-US" sz="1100" u="none" cap="none" strike="noStrike">
                <a:solidFill>
                  <a:srgbClr val="2D2D2D"/>
                </a:solidFill>
                <a:latin typeface="Poppins"/>
                <a:ea typeface="Poppins"/>
                <a:cs typeface="Poppins"/>
                <a:sym typeface="Poppins"/>
              </a:rPr>
              <a:t>Landscape / travel</a:t>
            </a:r>
            <a:endParaRPr b="0" i="0" sz="1100" u="none" cap="none" strike="noStrike">
              <a:solidFill>
                <a:schemeClr val="dk1"/>
              </a:solidFill>
              <a:latin typeface="Calibri"/>
              <a:ea typeface="Calibri"/>
              <a:cs typeface="Calibri"/>
              <a:sym typeface="Calibri"/>
            </a:endParaRPr>
          </a:p>
        </p:txBody>
      </p:sp>
      <p:sp>
        <p:nvSpPr>
          <p:cNvPr id="176" name="Google Shape;176;g3d60807834f_0_293"/>
          <p:cNvSpPr/>
          <p:nvPr/>
        </p:nvSpPr>
        <p:spPr>
          <a:xfrm>
            <a:off x="3982720" y="3149668"/>
            <a:ext cx="223500" cy="246900"/>
          </a:xfrm>
          <a:prstGeom prst="rect">
            <a:avLst/>
          </a:prstGeom>
          <a:solidFill>
            <a:srgbClr val="F48FB1">
              <a:alpha val="85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d60807834f_0_293"/>
          <p:cNvSpPr/>
          <p:nvPr/>
        </p:nvSpPr>
        <p:spPr>
          <a:xfrm>
            <a:off x="3434080" y="3076516"/>
            <a:ext cx="502800" cy="393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48FB1"/>
              </a:buClr>
              <a:buSzPts val="900"/>
              <a:buFont typeface="Poppins"/>
              <a:buNone/>
            </a:pPr>
            <a:r>
              <a:rPr b="1" i="0" lang="en-US" sz="900" u="none" cap="none" strike="noStrike">
                <a:solidFill>
                  <a:srgbClr val="F48FB1"/>
                </a:solidFill>
                <a:latin typeface="Poppins"/>
                <a:ea typeface="Poppins"/>
                <a:cs typeface="Poppins"/>
                <a:sym typeface="Poppins"/>
              </a:rPr>
              <a:t>+5pp</a:t>
            </a:r>
            <a:endParaRPr b="0" i="0" sz="900" u="none" cap="none" strike="noStrike">
              <a:solidFill>
                <a:schemeClr val="dk1"/>
              </a:solidFill>
              <a:latin typeface="Calibri"/>
              <a:ea typeface="Calibri"/>
              <a:cs typeface="Calibri"/>
              <a:sym typeface="Calibri"/>
            </a:endParaRPr>
          </a:p>
        </p:txBody>
      </p:sp>
      <p:sp>
        <p:nvSpPr>
          <p:cNvPr id="178" name="Google Shape;178;g3d60807834f_0_293"/>
          <p:cNvSpPr/>
          <p:nvPr/>
        </p:nvSpPr>
        <p:spPr>
          <a:xfrm>
            <a:off x="6766560" y="3076516"/>
            <a:ext cx="21945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Poppins"/>
              <a:buNone/>
            </a:pPr>
            <a:r>
              <a:rPr b="0" i="0" lang="en-US" sz="750" u="none" cap="none" strike="noStrike">
                <a:solidFill>
                  <a:srgbClr val="6B6B6B"/>
                </a:solidFill>
                <a:latin typeface="Poppins"/>
                <a:ea typeface="Poppins"/>
                <a:cs typeface="Poppins"/>
                <a:sym typeface="Poppins"/>
              </a:rPr>
              <a:t>FT: 57.9/49.1%  NFT: 58.4/54.5%</a:t>
            </a:r>
            <a:endParaRPr b="0" i="0" sz="750" u="none" cap="none" strike="noStrike">
              <a:solidFill>
                <a:schemeClr val="dk1"/>
              </a:solidFill>
              <a:latin typeface="Calibri"/>
              <a:ea typeface="Calibri"/>
              <a:cs typeface="Calibri"/>
              <a:sym typeface="Calibri"/>
            </a:endParaRPr>
          </a:p>
        </p:txBody>
      </p:sp>
      <p:sp>
        <p:nvSpPr>
          <p:cNvPr id="179" name="Google Shape;179;g3d60807834f_0_293"/>
          <p:cNvSpPr/>
          <p:nvPr/>
        </p:nvSpPr>
        <p:spPr>
          <a:xfrm>
            <a:off x="457200" y="3469708"/>
            <a:ext cx="8229600" cy="393300"/>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3d60807834f_0_293"/>
          <p:cNvSpPr/>
          <p:nvPr/>
        </p:nvSpPr>
        <p:spPr>
          <a:xfrm>
            <a:off x="457200" y="3469708"/>
            <a:ext cx="16458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Special events</a:t>
            </a:r>
            <a:endParaRPr b="0" i="0" sz="1100" u="none" cap="none" strike="noStrike">
              <a:solidFill>
                <a:schemeClr val="dk1"/>
              </a:solidFill>
              <a:latin typeface="Calibri"/>
              <a:ea typeface="Calibri"/>
              <a:cs typeface="Calibri"/>
              <a:sym typeface="Calibri"/>
            </a:endParaRPr>
          </a:p>
        </p:txBody>
      </p:sp>
      <p:sp>
        <p:nvSpPr>
          <p:cNvPr id="181" name="Google Shape;181;g3d60807834f_0_293"/>
          <p:cNvSpPr/>
          <p:nvPr/>
        </p:nvSpPr>
        <p:spPr>
          <a:xfrm>
            <a:off x="3931920" y="3469708"/>
            <a:ext cx="548700" cy="393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900"/>
              <a:buFont typeface="Poppins"/>
              <a:buNone/>
            </a:pPr>
            <a:r>
              <a:rPr b="0" i="0" lang="en-US" sz="900" u="none" cap="none" strike="noStrike">
                <a:solidFill>
                  <a:srgbClr val="6B6B6B"/>
                </a:solidFill>
                <a:latin typeface="Poppins"/>
                <a:ea typeface="Poppins"/>
                <a:cs typeface="Poppins"/>
                <a:sym typeface="Poppins"/>
              </a:rPr>
              <a:t>≈ 0</a:t>
            </a:r>
            <a:endParaRPr b="0" i="0" sz="900" u="none" cap="none" strike="noStrike">
              <a:solidFill>
                <a:schemeClr val="dk1"/>
              </a:solidFill>
              <a:latin typeface="Calibri"/>
              <a:ea typeface="Calibri"/>
              <a:cs typeface="Calibri"/>
              <a:sym typeface="Calibri"/>
            </a:endParaRPr>
          </a:p>
        </p:txBody>
      </p:sp>
      <p:sp>
        <p:nvSpPr>
          <p:cNvPr id="182" name="Google Shape;182;g3d60807834f_0_293"/>
          <p:cNvSpPr/>
          <p:nvPr/>
        </p:nvSpPr>
        <p:spPr>
          <a:xfrm>
            <a:off x="6766560" y="3469708"/>
            <a:ext cx="21945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Poppins"/>
              <a:buNone/>
            </a:pPr>
            <a:r>
              <a:rPr b="0" i="0" lang="en-US" sz="750" u="none" cap="none" strike="noStrike">
                <a:solidFill>
                  <a:srgbClr val="6B6B6B"/>
                </a:solidFill>
                <a:latin typeface="Poppins"/>
                <a:ea typeface="Poppins"/>
                <a:cs typeface="Poppins"/>
                <a:sym typeface="Poppins"/>
              </a:rPr>
              <a:t>FT: 56.5/57.2%  NFT: 55/55%</a:t>
            </a:r>
            <a:endParaRPr b="0" i="0" sz="750" u="none" cap="none" strike="noStrike">
              <a:solidFill>
                <a:schemeClr val="dk1"/>
              </a:solidFill>
              <a:latin typeface="Calibri"/>
              <a:ea typeface="Calibri"/>
              <a:cs typeface="Calibri"/>
              <a:sym typeface="Calibri"/>
            </a:endParaRPr>
          </a:p>
        </p:txBody>
      </p:sp>
      <p:sp>
        <p:nvSpPr>
          <p:cNvPr id="183" name="Google Shape;183;g3d60807834f_0_293"/>
          <p:cNvSpPr/>
          <p:nvPr/>
        </p:nvSpPr>
        <p:spPr>
          <a:xfrm>
            <a:off x="457200" y="3862900"/>
            <a:ext cx="16458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1" i="0" lang="en-US" sz="1100" u="none" cap="none" strike="noStrike">
                <a:solidFill>
                  <a:srgbClr val="2D2D2D"/>
                </a:solidFill>
                <a:latin typeface="Poppins"/>
                <a:ea typeface="Poppins"/>
                <a:cs typeface="Poppins"/>
                <a:sym typeface="Poppins"/>
              </a:rPr>
              <a:t>Videos</a:t>
            </a:r>
            <a:endParaRPr b="0" i="0" sz="1100" u="none" cap="none" strike="noStrike">
              <a:solidFill>
                <a:schemeClr val="dk1"/>
              </a:solidFill>
              <a:latin typeface="Calibri"/>
              <a:ea typeface="Calibri"/>
              <a:cs typeface="Calibri"/>
              <a:sym typeface="Calibri"/>
            </a:endParaRPr>
          </a:p>
        </p:txBody>
      </p:sp>
      <p:sp>
        <p:nvSpPr>
          <p:cNvPr id="184" name="Google Shape;184;g3d60807834f_0_293"/>
          <p:cNvSpPr/>
          <p:nvPr/>
        </p:nvSpPr>
        <p:spPr>
          <a:xfrm>
            <a:off x="4206240" y="3936052"/>
            <a:ext cx="178800" cy="246900"/>
          </a:xfrm>
          <a:prstGeom prst="rect">
            <a:avLst/>
          </a:prstGeom>
          <a:solidFill>
            <a:srgbClr val="C2185B">
              <a:alpha val="85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d60807834f_0_293"/>
          <p:cNvSpPr/>
          <p:nvPr/>
        </p:nvSpPr>
        <p:spPr>
          <a:xfrm>
            <a:off x="4430776" y="3862900"/>
            <a:ext cx="5028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900"/>
              <a:buFont typeface="Poppins"/>
              <a:buNone/>
            </a:pPr>
            <a:r>
              <a:rPr b="1" i="0" lang="en-US" sz="900" u="none" cap="none" strike="noStrike">
                <a:solidFill>
                  <a:srgbClr val="C2185B"/>
                </a:solidFill>
                <a:latin typeface="Poppins"/>
                <a:ea typeface="Poppins"/>
                <a:cs typeface="Poppins"/>
                <a:sym typeface="Poppins"/>
              </a:rPr>
              <a:t>+4pp</a:t>
            </a:r>
            <a:endParaRPr b="0" i="0" sz="900" u="none" cap="none" strike="noStrike">
              <a:solidFill>
                <a:schemeClr val="dk1"/>
              </a:solidFill>
              <a:latin typeface="Calibri"/>
              <a:ea typeface="Calibri"/>
              <a:cs typeface="Calibri"/>
              <a:sym typeface="Calibri"/>
            </a:endParaRPr>
          </a:p>
        </p:txBody>
      </p:sp>
      <p:sp>
        <p:nvSpPr>
          <p:cNvPr id="186" name="Google Shape;186;g3d60807834f_0_293"/>
          <p:cNvSpPr/>
          <p:nvPr/>
        </p:nvSpPr>
        <p:spPr>
          <a:xfrm>
            <a:off x="6766560" y="3862900"/>
            <a:ext cx="21945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Poppins"/>
              <a:buNone/>
            </a:pPr>
            <a:r>
              <a:rPr b="0" i="0" lang="en-US" sz="750" u="none" cap="none" strike="noStrike">
                <a:solidFill>
                  <a:srgbClr val="6B6B6B"/>
                </a:solidFill>
                <a:latin typeface="Poppins"/>
                <a:ea typeface="Poppins"/>
                <a:cs typeface="Poppins"/>
                <a:sym typeface="Poppins"/>
              </a:rPr>
              <a:t>FT: 55.8/64.1%  NFT: 62.6/65.5%</a:t>
            </a:r>
            <a:endParaRPr b="0" i="0" sz="750" u="none" cap="none" strike="noStrike">
              <a:solidFill>
                <a:schemeClr val="dk1"/>
              </a:solidFill>
              <a:latin typeface="Calibri"/>
              <a:ea typeface="Calibri"/>
              <a:cs typeface="Calibri"/>
              <a:sym typeface="Calibri"/>
            </a:endParaRPr>
          </a:p>
        </p:txBody>
      </p:sp>
      <p:sp>
        <p:nvSpPr>
          <p:cNvPr id="187" name="Google Shape;187;g3d60807834f_0_293"/>
          <p:cNvSpPr/>
          <p:nvPr/>
        </p:nvSpPr>
        <p:spPr>
          <a:xfrm>
            <a:off x="457200" y="4256092"/>
            <a:ext cx="8229600" cy="393300"/>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3d60807834f_0_293"/>
          <p:cNvSpPr/>
          <p:nvPr/>
        </p:nvSpPr>
        <p:spPr>
          <a:xfrm>
            <a:off x="457200" y="4256092"/>
            <a:ext cx="16458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1" i="0" lang="en-US" sz="1100" u="none" cap="none" strike="noStrike">
                <a:solidFill>
                  <a:srgbClr val="2D2D2D"/>
                </a:solidFill>
                <a:latin typeface="Poppins"/>
                <a:ea typeface="Poppins"/>
                <a:cs typeface="Poppins"/>
                <a:sym typeface="Poppins"/>
              </a:rPr>
              <a:t>Professional / work</a:t>
            </a:r>
            <a:endParaRPr b="0" i="0" sz="1100" u="none" cap="none" strike="noStrike">
              <a:solidFill>
                <a:schemeClr val="dk1"/>
              </a:solidFill>
              <a:latin typeface="Calibri"/>
              <a:ea typeface="Calibri"/>
              <a:cs typeface="Calibri"/>
              <a:sym typeface="Calibri"/>
            </a:endParaRPr>
          </a:p>
        </p:txBody>
      </p:sp>
      <p:sp>
        <p:nvSpPr>
          <p:cNvPr id="189" name="Google Shape;189;g3d60807834f_0_293"/>
          <p:cNvSpPr/>
          <p:nvPr/>
        </p:nvSpPr>
        <p:spPr>
          <a:xfrm>
            <a:off x="4206240" y="4329244"/>
            <a:ext cx="1028100" cy="246900"/>
          </a:xfrm>
          <a:prstGeom prst="rect">
            <a:avLst/>
          </a:prstGeom>
          <a:solidFill>
            <a:srgbClr val="C2185B">
              <a:alpha val="85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d60807834f_0_293"/>
          <p:cNvSpPr/>
          <p:nvPr/>
        </p:nvSpPr>
        <p:spPr>
          <a:xfrm>
            <a:off x="5280152" y="4256092"/>
            <a:ext cx="5028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900"/>
              <a:buFont typeface="Poppins"/>
              <a:buNone/>
            </a:pPr>
            <a:r>
              <a:rPr b="1" i="0" lang="en-US" sz="900" u="none" cap="none" strike="noStrike">
                <a:solidFill>
                  <a:srgbClr val="C2185B"/>
                </a:solidFill>
                <a:latin typeface="Poppins"/>
                <a:ea typeface="Poppins"/>
                <a:cs typeface="Poppins"/>
                <a:sym typeface="Poppins"/>
              </a:rPr>
              <a:t>+23pp</a:t>
            </a:r>
            <a:endParaRPr b="0" i="0" sz="900" u="none" cap="none" strike="noStrike">
              <a:solidFill>
                <a:schemeClr val="dk1"/>
              </a:solidFill>
              <a:latin typeface="Calibri"/>
              <a:ea typeface="Calibri"/>
              <a:cs typeface="Calibri"/>
              <a:sym typeface="Calibri"/>
            </a:endParaRPr>
          </a:p>
        </p:txBody>
      </p:sp>
      <p:sp>
        <p:nvSpPr>
          <p:cNvPr id="191" name="Google Shape;191;g3d60807834f_0_293"/>
          <p:cNvSpPr/>
          <p:nvPr/>
        </p:nvSpPr>
        <p:spPr>
          <a:xfrm>
            <a:off x="6766560" y="4256092"/>
            <a:ext cx="21945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750"/>
              <a:buFont typeface="Poppins"/>
              <a:buNone/>
            </a:pPr>
            <a:r>
              <a:rPr b="0" i="0" lang="en-US" sz="750" u="none" cap="none" strike="noStrike">
                <a:solidFill>
                  <a:srgbClr val="6B6B6B"/>
                </a:solidFill>
                <a:latin typeface="Poppins"/>
                <a:ea typeface="Poppins"/>
                <a:cs typeface="Poppins"/>
                <a:sym typeface="Poppins"/>
              </a:rPr>
              <a:t>FT: 36.8/66.4%  NFT: 32.1/53.1%</a:t>
            </a:r>
            <a:endParaRPr b="0" i="0" sz="750" u="none" cap="none" strike="noStrike">
              <a:solidFill>
                <a:schemeClr val="dk1"/>
              </a:solidFill>
              <a:latin typeface="Calibri"/>
              <a:ea typeface="Calibri"/>
              <a:cs typeface="Calibri"/>
              <a:sym typeface="Calibri"/>
            </a:endParaRPr>
          </a:p>
        </p:txBody>
      </p:sp>
      <p:sp>
        <p:nvSpPr>
          <p:cNvPr id="192" name="Google Shape;192;g3d60807834f_0_293"/>
          <p:cNvSpPr/>
          <p:nvPr/>
        </p:nvSpPr>
        <p:spPr>
          <a:xfrm>
            <a:off x="6736459" y="1535615"/>
            <a:ext cx="1645800" cy="39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lang="en-US" sz="1000">
                <a:solidFill>
                  <a:srgbClr val="2D2D2D"/>
                </a:solidFill>
                <a:latin typeface="Poppins"/>
                <a:ea typeface="Poppins"/>
                <a:cs typeface="Poppins"/>
                <a:sym typeface="Poppins"/>
              </a:rPr>
              <a:t>Mobile vs. Desktop</a:t>
            </a:r>
            <a:endParaRPr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g3d60807834f_0_72"/>
          <p:cNvSpPr/>
          <p:nvPr/>
        </p:nvSpPr>
        <p:spPr>
          <a:xfrm>
            <a:off x="640080" y="320040"/>
            <a:ext cx="7863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400"/>
              <a:buFont typeface="Poppins"/>
              <a:buNone/>
            </a:pPr>
            <a:r>
              <a:rPr b="1" i="0" lang="en-US" sz="2400" u="none" cap="none" strike="noStrike">
                <a:solidFill>
                  <a:srgbClr val="C2185B"/>
                </a:solidFill>
                <a:latin typeface="Poppins"/>
                <a:ea typeface="Poppins"/>
                <a:cs typeface="Poppins"/>
                <a:sym typeface="Poppins"/>
              </a:rPr>
              <a:t>What FT users edit on phone vs. desktop</a:t>
            </a:r>
            <a:endParaRPr b="0" i="0" sz="2400" u="none" cap="none" strike="noStrike">
              <a:solidFill>
                <a:schemeClr val="dk1"/>
              </a:solidFill>
              <a:latin typeface="Calibri"/>
              <a:ea typeface="Calibri"/>
              <a:cs typeface="Calibri"/>
              <a:sym typeface="Calibri"/>
            </a:endParaRPr>
          </a:p>
        </p:txBody>
      </p:sp>
      <p:sp>
        <p:nvSpPr>
          <p:cNvPr id="199" name="Google Shape;199;g3d60807834f_0_72"/>
          <p:cNvSpPr/>
          <p:nvPr/>
        </p:nvSpPr>
        <p:spPr>
          <a:xfrm>
            <a:off x="640080" y="932595"/>
            <a:ext cx="7863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000" u="none" cap="none" strike="noStrike">
                <a:solidFill>
                  <a:srgbClr val="6B6B6B"/>
                </a:solidFill>
                <a:latin typeface="Poppins"/>
                <a:ea typeface="Poppins"/>
                <a:cs typeface="Poppins"/>
                <a:sym typeface="Poppins"/>
              </a:rPr>
              <a:t>We asked users to pick their top 5 edit types on each device. Only statistically significant differences shown (p&lt;0.05)</a:t>
            </a:r>
            <a:endParaRPr b="0" i="0" sz="1000" u="none" cap="none" strike="noStrike">
              <a:solidFill>
                <a:schemeClr val="dk1"/>
              </a:solidFill>
              <a:latin typeface="Calibri"/>
              <a:ea typeface="Calibri"/>
              <a:cs typeface="Calibri"/>
              <a:sym typeface="Calibri"/>
            </a:endParaRPr>
          </a:p>
        </p:txBody>
      </p:sp>
      <p:sp>
        <p:nvSpPr>
          <p:cNvPr id="200" name="Google Shape;200;g3d60807834f_0_72"/>
          <p:cNvSpPr/>
          <p:nvPr/>
        </p:nvSpPr>
        <p:spPr>
          <a:xfrm>
            <a:off x="457200" y="1554480"/>
            <a:ext cx="8229600" cy="32010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d60807834f_0_72"/>
          <p:cNvSpPr/>
          <p:nvPr/>
        </p:nvSpPr>
        <p:spPr>
          <a:xfrm>
            <a:off x="640080" y="1554480"/>
            <a:ext cx="3017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Poppins"/>
              <a:buNone/>
            </a:pPr>
            <a:r>
              <a:rPr b="1" i="0" lang="en-US" sz="1000" u="none" cap="none" strike="noStrike">
                <a:solidFill>
                  <a:srgbClr val="FFFFFF"/>
                </a:solidFill>
                <a:latin typeface="Poppins"/>
                <a:ea typeface="Poppins"/>
                <a:cs typeface="Poppins"/>
                <a:sym typeface="Poppins"/>
              </a:rPr>
              <a:t>Edit type</a:t>
            </a:r>
            <a:endParaRPr b="0" i="0" sz="1000" u="none" cap="none" strike="noStrike">
              <a:solidFill>
                <a:schemeClr val="dk1"/>
              </a:solidFill>
              <a:latin typeface="Calibri"/>
              <a:ea typeface="Calibri"/>
              <a:cs typeface="Calibri"/>
              <a:sym typeface="Calibri"/>
            </a:endParaRPr>
          </a:p>
        </p:txBody>
      </p:sp>
      <p:sp>
        <p:nvSpPr>
          <p:cNvPr id="202" name="Google Shape;202;g3d60807834f_0_72"/>
          <p:cNvSpPr/>
          <p:nvPr/>
        </p:nvSpPr>
        <p:spPr>
          <a:xfrm>
            <a:off x="3749040" y="1554480"/>
            <a:ext cx="8229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000"/>
              <a:buFont typeface="Poppins"/>
              <a:buNone/>
            </a:pPr>
            <a:r>
              <a:rPr b="1" i="0" lang="en-US" sz="1000" u="none" cap="none" strike="noStrike">
                <a:solidFill>
                  <a:schemeClr val="lt1"/>
                </a:solidFill>
                <a:latin typeface="Poppins"/>
                <a:ea typeface="Poppins"/>
                <a:cs typeface="Poppins"/>
                <a:sym typeface="Poppins"/>
              </a:rPr>
              <a:t>Phone</a:t>
            </a:r>
            <a:endParaRPr b="0" i="0" sz="1000" u="none" cap="none" strike="noStrike">
              <a:solidFill>
                <a:schemeClr val="lt1"/>
              </a:solidFill>
              <a:latin typeface="Calibri"/>
              <a:ea typeface="Calibri"/>
              <a:cs typeface="Calibri"/>
              <a:sym typeface="Calibri"/>
            </a:endParaRPr>
          </a:p>
        </p:txBody>
      </p:sp>
      <p:sp>
        <p:nvSpPr>
          <p:cNvPr id="203" name="Google Shape;203;g3d60807834f_0_72"/>
          <p:cNvSpPr/>
          <p:nvPr/>
        </p:nvSpPr>
        <p:spPr>
          <a:xfrm>
            <a:off x="4663440" y="1554480"/>
            <a:ext cx="8229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Poppins"/>
              <a:buNone/>
            </a:pPr>
            <a:r>
              <a:rPr b="1" i="0" lang="en-US" sz="1000" u="none" cap="none" strike="noStrike">
                <a:solidFill>
                  <a:srgbClr val="FFFFFF"/>
                </a:solidFill>
                <a:latin typeface="Poppins"/>
                <a:ea typeface="Poppins"/>
                <a:cs typeface="Poppins"/>
                <a:sym typeface="Poppins"/>
              </a:rPr>
              <a:t>Desktop</a:t>
            </a:r>
            <a:endParaRPr b="0" i="0" sz="1000" u="none" cap="none" strike="noStrike">
              <a:solidFill>
                <a:schemeClr val="dk1"/>
              </a:solidFill>
              <a:latin typeface="Calibri"/>
              <a:ea typeface="Calibri"/>
              <a:cs typeface="Calibri"/>
              <a:sym typeface="Calibri"/>
            </a:endParaRPr>
          </a:p>
        </p:txBody>
      </p:sp>
      <p:sp>
        <p:nvSpPr>
          <p:cNvPr id="204" name="Google Shape;204;g3d60807834f_0_72"/>
          <p:cNvSpPr/>
          <p:nvPr/>
        </p:nvSpPr>
        <p:spPr>
          <a:xfrm>
            <a:off x="5577840" y="1554480"/>
            <a:ext cx="9144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Poppins"/>
              <a:buNone/>
            </a:pPr>
            <a:r>
              <a:rPr b="1" i="0" lang="en-US" sz="1000" u="none" cap="none" strike="noStrike">
                <a:solidFill>
                  <a:srgbClr val="FFFFFF"/>
                </a:solidFill>
                <a:latin typeface="Poppins"/>
                <a:ea typeface="Poppins"/>
                <a:cs typeface="Poppins"/>
                <a:sym typeface="Poppins"/>
              </a:rPr>
              <a:t>Difference</a:t>
            </a:r>
            <a:endParaRPr b="0" i="0" sz="1000" u="none" cap="none" strike="noStrike">
              <a:solidFill>
                <a:schemeClr val="dk1"/>
              </a:solidFill>
              <a:latin typeface="Calibri"/>
              <a:ea typeface="Calibri"/>
              <a:cs typeface="Calibri"/>
              <a:sym typeface="Calibri"/>
            </a:endParaRPr>
          </a:p>
        </p:txBody>
      </p:sp>
      <p:sp>
        <p:nvSpPr>
          <p:cNvPr id="205" name="Google Shape;205;g3d60807834f_0_72"/>
          <p:cNvSpPr/>
          <p:nvPr/>
        </p:nvSpPr>
        <p:spPr>
          <a:xfrm>
            <a:off x="6583680" y="1554480"/>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Poppins"/>
              <a:buNone/>
            </a:pPr>
            <a:r>
              <a:rPr b="1" i="0" lang="en-US" sz="1000" u="none" cap="none" strike="noStrike">
                <a:solidFill>
                  <a:srgbClr val="FFFFFF"/>
                </a:solidFill>
                <a:latin typeface="Poppins"/>
                <a:ea typeface="Poppins"/>
                <a:cs typeface="Poppins"/>
                <a:sym typeface="Poppins"/>
              </a:rPr>
              <a:t>Direction</a:t>
            </a:r>
            <a:endParaRPr b="0" i="0" sz="1000" u="none" cap="none" strike="noStrike">
              <a:solidFill>
                <a:schemeClr val="dk1"/>
              </a:solidFill>
              <a:latin typeface="Calibri"/>
              <a:ea typeface="Calibri"/>
              <a:cs typeface="Calibri"/>
              <a:sym typeface="Calibri"/>
            </a:endParaRPr>
          </a:p>
        </p:txBody>
      </p:sp>
      <p:sp>
        <p:nvSpPr>
          <p:cNvPr id="206" name="Google Shape;206;g3d60807834f_0_72"/>
          <p:cNvSpPr/>
          <p:nvPr/>
        </p:nvSpPr>
        <p:spPr>
          <a:xfrm>
            <a:off x="640080" y="1965960"/>
            <a:ext cx="3657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000"/>
              <a:buFont typeface="Poppins"/>
              <a:buNone/>
            </a:pPr>
            <a:r>
              <a:rPr b="1" i="0" lang="en-US" sz="1000" u="none" cap="none" strike="noStrike">
                <a:solidFill>
                  <a:srgbClr val="F48FB1"/>
                </a:solidFill>
                <a:latin typeface="Poppins"/>
                <a:ea typeface="Poppins"/>
                <a:cs typeface="Poppins"/>
                <a:sym typeface="Poppins"/>
              </a:rPr>
              <a:t>More common on phone</a:t>
            </a:r>
            <a:endParaRPr b="0" i="0" sz="1000" u="none" cap="none" strike="noStrike">
              <a:solidFill>
                <a:schemeClr val="dk1"/>
              </a:solidFill>
              <a:latin typeface="Calibri"/>
              <a:ea typeface="Calibri"/>
              <a:cs typeface="Calibri"/>
              <a:sym typeface="Calibri"/>
            </a:endParaRPr>
          </a:p>
        </p:txBody>
      </p:sp>
      <p:sp>
        <p:nvSpPr>
          <p:cNvPr id="207" name="Google Shape;207;g3d60807834f_0_72"/>
          <p:cNvSpPr/>
          <p:nvPr/>
        </p:nvSpPr>
        <p:spPr>
          <a:xfrm>
            <a:off x="457200" y="2286000"/>
            <a:ext cx="8229600" cy="3108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3d60807834f_0_72"/>
          <p:cNvSpPr/>
          <p:nvPr/>
        </p:nvSpPr>
        <p:spPr>
          <a:xfrm>
            <a:off x="640080" y="2286000"/>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Filters / presets</a:t>
            </a:r>
            <a:endParaRPr b="0" i="0" sz="1100" u="none" cap="none" strike="noStrike">
              <a:solidFill>
                <a:schemeClr val="dk1"/>
              </a:solidFill>
              <a:latin typeface="Calibri"/>
              <a:ea typeface="Calibri"/>
              <a:cs typeface="Calibri"/>
              <a:sym typeface="Calibri"/>
            </a:endParaRPr>
          </a:p>
        </p:txBody>
      </p:sp>
      <p:sp>
        <p:nvSpPr>
          <p:cNvPr id="209" name="Google Shape;209;g3d60807834f_0_72"/>
          <p:cNvSpPr/>
          <p:nvPr/>
        </p:nvSpPr>
        <p:spPr>
          <a:xfrm>
            <a:off x="3749040" y="2286000"/>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44.4%</a:t>
            </a:r>
            <a:endParaRPr b="0" i="0" sz="1100" u="none" cap="none" strike="noStrike">
              <a:solidFill>
                <a:schemeClr val="dk1"/>
              </a:solidFill>
              <a:latin typeface="Calibri"/>
              <a:ea typeface="Calibri"/>
              <a:cs typeface="Calibri"/>
              <a:sym typeface="Calibri"/>
            </a:endParaRPr>
          </a:p>
        </p:txBody>
      </p:sp>
      <p:sp>
        <p:nvSpPr>
          <p:cNvPr id="210" name="Google Shape;210;g3d60807834f_0_72"/>
          <p:cNvSpPr/>
          <p:nvPr/>
        </p:nvSpPr>
        <p:spPr>
          <a:xfrm>
            <a:off x="4663440" y="2286000"/>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21.9%</a:t>
            </a:r>
            <a:endParaRPr b="0" i="0" sz="1100" u="none" cap="none" strike="noStrike">
              <a:solidFill>
                <a:schemeClr val="dk1"/>
              </a:solidFill>
              <a:latin typeface="Calibri"/>
              <a:ea typeface="Calibri"/>
              <a:cs typeface="Calibri"/>
              <a:sym typeface="Calibri"/>
            </a:endParaRPr>
          </a:p>
        </p:txBody>
      </p:sp>
      <p:sp>
        <p:nvSpPr>
          <p:cNvPr id="211" name="Google Shape;211;g3d60807834f_0_72"/>
          <p:cNvSpPr/>
          <p:nvPr/>
        </p:nvSpPr>
        <p:spPr>
          <a:xfrm>
            <a:off x="5577840" y="2286000"/>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+22.6pp</a:t>
            </a:r>
            <a:endParaRPr b="0" i="0" sz="1100" u="none" cap="none" strike="noStrike">
              <a:solidFill>
                <a:schemeClr val="dk1"/>
              </a:solidFill>
              <a:latin typeface="Calibri"/>
              <a:ea typeface="Calibri"/>
              <a:cs typeface="Calibri"/>
              <a:sym typeface="Calibri"/>
            </a:endParaRPr>
          </a:p>
        </p:txBody>
      </p:sp>
      <p:sp>
        <p:nvSpPr>
          <p:cNvPr id="212" name="Google Shape;212;g3d60807834f_0_72"/>
          <p:cNvSpPr/>
          <p:nvPr/>
        </p:nvSpPr>
        <p:spPr>
          <a:xfrm>
            <a:off x="6583680" y="2286000"/>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Strong phone preference</a:t>
            </a:r>
            <a:endParaRPr b="0" i="0" sz="1000" u="none" cap="none" strike="noStrike">
              <a:solidFill>
                <a:schemeClr val="dk1"/>
              </a:solidFill>
              <a:latin typeface="Calibri"/>
              <a:ea typeface="Calibri"/>
              <a:cs typeface="Calibri"/>
              <a:sym typeface="Calibri"/>
            </a:endParaRPr>
          </a:p>
        </p:txBody>
      </p:sp>
      <p:sp>
        <p:nvSpPr>
          <p:cNvPr id="213" name="Google Shape;213;g3d60807834f_0_72"/>
          <p:cNvSpPr/>
          <p:nvPr/>
        </p:nvSpPr>
        <p:spPr>
          <a:xfrm>
            <a:off x="457200" y="2596896"/>
            <a:ext cx="8229600" cy="310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d60807834f_0_72"/>
          <p:cNvSpPr/>
          <p:nvPr/>
        </p:nvSpPr>
        <p:spPr>
          <a:xfrm>
            <a:off x="640080" y="2596896"/>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Crop / resize</a:t>
            </a:r>
            <a:endParaRPr b="0" i="0" sz="1100" u="none" cap="none" strike="noStrike">
              <a:solidFill>
                <a:schemeClr val="dk1"/>
              </a:solidFill>
              <a:latin typeface="Calibri"/>
              <a:ea typeface="Calibri"/>
              <a:cs typeface="Calibri"/>
              <a:sym typeface="Calibri"/>
            </a:endParaRPr>
          </a:p>
        </p:txBody>
      </p:sp>
      <p:sp>
        <p:nvSpPr>
          <p:cNvPr id="215" name="Google Shape;215;g3d60807834f_0_72"/>
          <p:cNvSpPr/>
          <p:nvPr/>
        </p:nvSpPr>
        <p:spPr>
          <a:xfrm>
            <a:off x="3749040" y="2596896"/>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45.6%</a:t>
            </a:r>
            <a:endParaRPr b="0" i="0" sz="1100" u="none" cap="none" strike="noStrike">
              <a:solidFill>
                <a:schemeClr val="dk1"/>
              </a:solidFill>
              <a:latin typeface="Calibri"/>
              <a:ea typeface="Calibri"/>
              <a:cs typeface="Calibri"/>
              <a:sym typeface="Calibri"/>
            </a:endParaRPr>
          </a:p>
        </p:txBody>
      </p:sp>
      <p:sp>
        <p:nvSpPr>
          <p:cNvPr id="216" name="Google Shape;216;g3d60807834f_0_72"/>
          <p:cNvSpPr/>
          <p:nvPr/>
        </p:nvSpPr>
        <p:spPr>
          <a:xfrm>
            <a:off x="4663440" y="2596896"/>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34.7%</a:t>
            </a:r>
            <a:endParaRPr b="0" i="0" sz="1100" u="none" cap="none" strike="noStrike">
              <a:solidFill>
                <a:schemeClr val="dk1"/>
              </a:solidFill>
              <a:latin typeface="Calibri"/>
              <a:ea typeface="Calibri"/>
              <a:cs typeface="Calibri"/>
              <a:sym typeface="Calibri"/>
            </a:endParaRPr>
          </a:p>
        </p:txBody>
      </p:sp>
      <p:sp>
        <p:nvSpPr>
          <p:cNvPr id="217" name="Google Shape;217;g3d60807834f_0_72"/>
          <p:cNvSpPr/>
          <p:nvPr/>
        </p:nvSpPr>
        <p:spPr>
          <a:xfrm>
            <a:off x="5577840" y="2596896"/>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+10.9pp</a:t>
            </a:r>
            <a:endParaRPr b="0" i="0" sz="1100" u="none" cap="none" strike="noStrike">
              <a:solidFill>
                <a:schemeClr val="dk1"/>
              </a:solidFill>
              <a:latin typeface="Calibri"/>
              <a:ea typeface="Calibri"/>
              <a:cs typeface="Calibri"/>
              <a:sym typeface="Calibri"/>
            </a:endParaRPr>
          </a:p>
        </p:txBody>
      </p:sp>
      <p:sp>
        <p:nvSpPr>
          <p:cNvPr id="218" name="Google Shape;218;g3d60807834f_0_72"/>
          <p:cNvSpPr/>
          <p:nvPr/>
        </p:nvSpPr>
        <p:spPr>
          <a:xfrm>
            <a:off x="6583680" y="2596896"/>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Phone preference</a:t>
            </a:r>
            <a:endParaRPr b="0" i="0" sz="1000" u="none" cap="none" strike="noStrike">
              <a:solidFill>
                <a:schemeClr val="dk1"/>
              </a:solidFill>
              <a:latin typeface="Calibri"/>
              <a:ea typeface="Calibri"/>
              <a:cs typeface="Calibri"/>
              <a:sym typeface="Calibri"/>
            </a:endParaRPr>
          </a:p>
        </p:txBody>
      </p:sp>
      <p:sp>
        <p:nvSpPr>
          <p:cNvPr id="219" name="Google Shape;219;g3d60807834f_0_72"/>
          <p:cNvSpPr/>
          <p:nvPr/>
        </p:nvSpPr>
        <p:spPr>
          <a:xfrm>
            <a:off x="457200" y="2907792"/>
            <a:ext cx="8229600" cy="3108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d60807834f_0_72"/>
          <p:cNvSpPr/>
          <p:nvPr/>
        </p:nvSpPr>
        <p:spPr>
          <a:xfrm>
            <a:off x="640080" y="2907792"/>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Face adjustments</a:t>
            </a:r>
            <a:endParaRPr b="0" i="0" sz="1100" u="none" cap="none" strike="noStrike">
              <a:solidFill>
                <a:schemeClr val="dk1"/>
              </a:solidFill>
              <a:latin typeface="Calibri"/>
              <a:ea typeface="Calibri"/>
              <a:cs typeface="Calibri"/>
              <a:sym typeface="Calibri"/>
            </a:endParaRPr>
          </a:p>
        </p:txBody>
      </p:sp>
      <p:sp>
        <p:nvSpPr>
          <p:cNvPr id="221" name="Google Shape;221;g3d60807834f_0_72"/>
          <p:cNvSpPr/>
          <p:nvPr/>
        </p:nvSpPr>
        <p:spPr>
          <a:xfrm>
            <a:off x="3749040" y="2907792"/>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29.7%</a:t>
            </a:r>
            <a:endParaRPr b="0" i="0" sz="1100" u="none" cap="none" strike="noStrike">
              <a:solidFill>
                <a:schemeClr val="dk1"/>
              </a:solidFill>
              <a:latin typeface="Calibri"/>
              <a:ea typeface="Calibri"/>
              <a:cs typeface="Calibri"/>
              <a:sym typeface="Calibri"/>
            </a:endParaRPr>
          </a:p>
        </p:txBody>
      </p:sp>
      <p:sp>
        <p:nvSpPr>
          <p:cNvPr id="222" name="Google Shape;222;g3d60807834f_0_72"/>
          <p:cNvSpPr/>
          <p:nvPr/>
        </p:nvSpPr>
        <p:spPr>
          <a:xfrm>
            <a:off x="4663440" y="2907792"/>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20.4%</a:t>
            </a:r>
            <a:endParaRPr b="0" i="0" sz="1100" u="none" cap="none" strike="noStrike">
              <a:solidFill>
                <a:schemeClr val="dk1"/>
              </a:solidFill>
              <a:latin typeface="Calibri"/>
              <a:ea typeface="Calibri"/>
              <a:cs typeface="Calibri"/>
              <a:sym typeface="Calibri"/>
            </a:endParaRPr>
          </a:p>
        </p:txBody>
      </p:sp>
      <p:sp>
        <p:nvSpPr>
          <p:cNvPr id="223" name="Google Shape;223;g3d60807834f_0_72"/>
          <p:cNvSpPr/>
          <p:nvPr/>
        </p:nvSpPr>
        <p:spPr>
          <a:xfrm>
            <a:off x="5577840" y="2907792"/>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+9.3pp</a:t>
            </a:r>
            <a:endParaRPr b="0" i="0" sz="1100" u="none" cap="none" strike="noStrike">
              <a:solidFill>
                <a:schemeClr val="dk1"/>
              </a:solidFill>
              <a:latin typeface="Calibri"/>
              <a:ea typeface="Calibri"/>
              <a:cs typeface="Calibri"/>
              <a:sym typeface="Calibri"/>
            </a:endParaRPr>
          </a:p>
        </p:txBody>
      </p:sp>
      <p:sp>
        <p:nvSpPr>
          <p:cNvPr id="224" name="Google Shape;224;g3d60807834f_0_72"/>
          <p:cNvSpPr/>
          <p:nvPr/>
        </p:nvSpPr>
        <p:spPr>
          <a:xfrm>
            <a:off x="6583680" y="2907792"/>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Phone preference</a:t>
            </a:r>
            <a:endParaRPr b="0" i="0" sz="1000" u="none" cap="none" strike="noStrike">
              <a:solidFill>
                <a:schemeClr val="dk1"/>
              </a:solidFill>
              <a:latin typeface="Calibri"/>
              <a:ea typeface="Calibri"/>
              <a:cs typeface="Calibri"/>
              <a:sym typeface="Calibri"/>
            </a:endParaRPr>
          </a:p>
        </p:txBody>
      </p:sp>
      <p:sp>
        <p:nvSpPr>
          <p:cNvPr id="225" name="Google Shape;225;g3d60807834f_0_72"/>
          <p:cNvSpPr/>
          <p:nvPr/>
        </p:nvSpPr>
        <p:spPr>
          <a:xfrm>
            <a:off x="457200" y="3218688"/>
            <a:ext cx="8229600" cy="310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d60807834f_0_72"/>
          <p:cNvSpPr/>
          <p:nvPr/>
        </p:nvSpPr>
        <p:spPr>
          <a:xfrm>
            <a:off x="640080" y="3218688"/>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Lighting / colors</a:t>
            </a:r>
            <a:endParaRPr b="0" i="0" sz="1100" u="none" cap="none" strike="noStrike">
              <a:solidFill>
                <a:schemeClr val="dk1"/>
              </a:solidFill>
              <a:latin typeface="Calibri"/>
              <a:ea typeface="Calibri"/>
              <a:cs typeface="Calibri"/>
              <a:sym typeface="Calibri"/>
            </a:endParaRPr>
          </a:p>
        </p:txBody>
      </p:sp>
      <p:sp>
        <p:nvSpPr>
          <p:cNvPr id="227" name="Google Shape;227;g3d60807834f_0_72"/>
          <p:cNvSpPr/>
          <p:nvPr/>
        </p:nvSpPr>
        <p:spPr>
          <a:xfrm>
            <a:off x="3749040" y="3218688"/>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53.5%</a:t>
            </a:r>
            <a:endParaRPr b="0" i="0" sz="1100" u="none" cap="none" strike="noStrike">
              <a:solidFill>
                <a:schemeClr val="dk1"/>
              </a:solidFill>
              <a:latin typeface="Calibri"/>
              <a:ea typeface="Calibri"/>
              <a:cs typeface="Calibri"/>
              <a:sym typeface="Calibri"/>
            </a:endParaRPr>
          </a:p>
        </p:txBody>
      </p:sp>
      <p:sp>
        <p:nvSpPr>
          <p:cNvPr id="228" name="Google Shape;228;g3d60807834f_0_72"/>
          <p:cNvSpPr/>
          <p:nvPr/>
        </p:nvSpPr>
        <p:spPr>
          <a:xfrm>
            <a:off x="4663440" y="3218688"/>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46.0%</a:t>
            </a:r>
            <a:endParaRPr b="0" i="0" sz="1100" u="none" cap="none" strike="noStrike">
              <a:solidFill>
                <a:schemeClr val="dk1"/>
              </a:solidFill>
              <a:latin typeface="Calibri"/>
              <a:ea typeface="Calibri"/>
              <a:cs typeface="Calibri"/>
              <a:sym typeface="Calibri"/>
            </a:endParaRPr>
          </a:p>
        </p:txBody>
      </p:sp>
      <p:sp>
        <p:nvSpPr>
          <p:cNvPr id="229" name="Google Shape;229;g3d60807834f_0_72"/>
          <p:cNvSpPr/>
          <p:nvPr/>
        </p:nvSpPr>
        <p:spPr>
          <a:xfrm>
            <a:off x="5577840" y="3218688"/>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+7.4pp</a:t>
            </a:r>
            <a:endParaRPr b="0" i="0" sz="1100" u="none" cap="none" strike="noStrike">
              <a:solidFill>
                <a:schemeClr val="dk1"/>
              </a:solidFill>
              <a:latin typeface="Calibri"/>
              <a:ea typeface="Calibri"/>
              <a:cs typeface="Calibri"/>
              <a:sym typeface="Calibri"/>
            </a:endParaRPr>
          </a:p>
        </p:txBody>
      </p:sp>
      <p:sp>
        <p:nvSpPr>
          <p:cNvPr id="230" name="Google Shape;230;g3d60807834f_0_72"/>
          <p:cNvSpPr/>
          <p:nvPr/>
        </p:nvSpPr>
        <p:spPr>
          <a:xfrm>
            <a:off x="6583680" y="3218688"/>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Phone preference</a:t>
            </a:r>
            <a:endParaRPr b="0" i="0" sz="1000" u="none" cap="none" strike="noStrike">
              <a:solidFill>
                <a:schemeClr val="dk1"/>
              </a:solidFill>
              <a:latin typeface="Calibri"/>
              <a:ea typeface="Calibri"/>
              <a:cs typeface="Calibri"/>
              <a:sym typeface="Calibri"/>
            </a:endParaRPr>
          </a:p>
        </p:txBody>
      </p:sp>
      <p:sp>
        <p:nvSpPr>
          <p:cNvPr id="231" name="Google Shape;231;g3d60807834f_0_72"/>
          <p:cNvSpPr/>
          <p:nvPr/>
        </p:nvSpPr>
        <p:spPr>
          <a:xfrm>
            <a:off x="457200" y="3529584"/>
            <a:ext cx="8229600" cy="3108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d60807834f_0_72"/>
          <p:cNvSpPr/>
          <p:nvPr/>
        </p:nvSpPr>
        <p:spPr>
          <a:xfrm>
            <a:off x="640080" y="3529584"/>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Skin editing</a:t>
            </a:r>
            <a:endParaRPr b="0" i="0" sz="1100" u="none" cap="none" strike="noStrike">
              <a:solidFill>
                <a:schemeClr val="dk1"/>
              </a:solidFill>
              <a:latin typeface="Calibri"/>
              <a:ea typeface="Calibri"/>
              <a:cs typeface="Calibri"/>
              <a:sym typeface="Calibri"/>
            </a:endParaRPr>
          </a:p>
        </p:txBody>
      </p:sp>
      <p:sp>
        <p:nvSpPr>
          <p:cNvPr id="233" name="Google Shape;233;g3d60807834f_0_72"/>
          <p:cNvSpPr/>
          <p:nvPr/>
        </p:nvSpPr>
        <p:spPr>
          <a:xfrm>
            <a:off x="3749040" y="3529584"/>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34.7%</a:t>
            </a:r>
            <a:endParaRPr b="0" i="0" sz="1100" u="none" cap="none" strike="noStrike">
              <a:solidFill>
                <a:schemeClr val="dk1"/>
              </a:solidFill>
              <a:latin typeface="Calibri"/>
              <a:ea typeface="Calibri"/>
              <a:cs typeface="Calibri"/>
              <a:sym typeface="Calibri"/>
            </a:endParaRPr>
          </a:p>
        </p:txBody>
      </p:sp>
      <p:sp>
        <p:nvSpPr>
          <p:cNvPr id="234" name="Google Shape;234;g3d60807834f_0_72"/>
          <p:cNvSpPr/>
          <p:nvPr/>
        </p:nvSpPr>
        <p:spPr>
          <a:xfrm>
            <a:off x="4663440" y="3529584"/>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27.7%</a:t>
            </a:r>
            <a:endParaRPr b="0" i="0" sz="1100" u="none" cap="none" strike="noStrike">
              <a:solidFill>
                <a:schemeClr val="dk1"/>
              </a:solidFill>
              <a:latin typeface="Calibri"/>
              <a:ea typeface="Calibri"/>
              <a:cs typeface="Calibri"/>
              <a:sym typeface="Calibri"/>
            </a:endParaRPr>
          </a:p>
        </p:txBody>
      </p:sp>
      <p:sp>
        <p:nvSpPr>
          <p:cNvPr id="235" name="Google Shape;235;g3d60807834f_0_72"/>
          <p:cNvSpPr/>
          <p:nvPr/>
        </p:nvSpPr>
        <p:spPr>
          <a:xfrm>
            <a:off x="5577840" y="3529584"/>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+7.0pp</a:t>
            </a:r>
            <a:endParaRPr b="0" i="0" sz="1100" u="none" cap="none" strike="noStrike">
              <a:solidFill>
                <a:schemeClr val="dk1"/>
              </a:solidFill>
              <a:latin typeface="Calibri"/>
              <a:ea typeface="Calibri"/>
              <a:cs typeface="Calibri"/>
              <a:sym typeface="Calibri"/>
            </a:endParaRPr>
          </a:p>
        </p:txBody>
      </p:sp>
      <p:sp>
        <p:nvSpPr>
          <p:cNvPr id="236" name="Google Shape;236;g3d60807834f_0_72"/>
          <p:cNvSpPr/>
          <p:nvPr/>
        </p:nvSpPr>
        <p:spPr>
          <a:xfrm>
            <a:off x="6583680" y="3529584"/>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Phone preference</a:t>
            </a:r>
            <a:endParaRPr b="0" i="0" sz="1000" u="none" cap="none" strike="noStrike">
              <a:solidFill>
                <a:schemeClr val="dk1"/>
              </a:solidFill>
              <a:latin typeface="Calibri"/>
              <a:ea typeface="Calibri"/>
              <a:cs typeface="Calibri"/>
              <a:sym typeface="Calibri"/>
            </a:endParaRPr>
          </a:p>
        </p:txBody>
      </p:sp>
      <p:sp>
        <p:nvSpPr>
          <p:cNvPr id="237" name="Google Shape;237;g3d60807834f_0_72"/>
          <p:cNvSpPr/>
          <p:nvPr/>
        </p:nvSpPr>
        <p:spPr>
          <a:xfrm>
            <a:off x="640080" y="3931920"/>
            <a:ext cx="3657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000"/>
              <a:buFont typeface="Poppins"/>
              <a:buNone/>
            </a:pPr>
            <a:r>
              <a:rPr b="1" i="0" lang="en-US" sz="1000" u="none" cap="none" strike="noStrike">
                <a:solidFill>
                  <a:srgbClr val="C2185B"/>
                </a:solidFill>
                <a:latin typeface="Poppins"/>
                <a:ea typeface="Poppins"/>
                <a:cs typeface="Poppins"/>
                <a:sym typeface="Poppins"/>
              </a:rPr>
              <a:t>More common on desktop</a:t>
            </a:r>
            <a:endParaRPr b="0" i="0" sz="1000" u="none" cap="none" strike="noStrike">
              <a:solidFill>
                <a:schemeClr val="dk1"/>
              </a:solidFill>
              <a:latin typeface="Calibri"/>
              <a:ea typeface="Calibri"/>
              <a:cs typeface="Calibri"/>
              <a:sym typeface="Calibri"/>
            </a:endParaRPr>
          </a:p>
        </p:txBody>
      </p:sp>
      <p:sp>
        <p:nvSpPr>
          <p:cNvPr id="238" name="Google Shape;238;g3d60807834f_0_72"/>
          <p:cNvSpPr/>
          <p:nvPr/>
        </p:nvSpPr>
        <p:spPr>
          <a:xfrm>
            <a:off x="457200" y="4251960"/>
            <a:ext cx="8229600" cy="3108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3d60807834f_0_72"/>
          <p:cNvSpPr/>
          <p:nvPr/>
        </p:nvSpPr>
        <p:spPr>
          <a:xfrm>
            <a:off x="640080" y="4251960"/>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Product / object editing</a:t>
            </a:r>
            <a:endParaRPr b="0" i="0" sz="1100" u="none" cap="none" strike="noStrike">
              <a:solidFill>
                <a:schemeClr val="dk1"/>
              </a:solidFill>
              <a:latin typeface="Calibri"/>
              <a:ea typeface="Calibri"/>
              <a:cs typeface="Calibri"/>
              <a:sym typeface="Calibri"/>
            </a:endParaRPr>
          </a:p>
        </p:txBody>
      </p:sp>
      <p:sp>
        <p:nvSpPr>
          <p:cNvPr id="240" name="Google Shape;240;g3d60807834f_0_72"/>
          <p:cNvSpPr/>
          <p:nvPr/>
        </p:nvSpPr>
        <p:spPr>
          <a:xfrm>
            <a:off x="3749040" y="4251960"/>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20.0%</a:t>
            </a:r>
            <a:endParaRPr b="0" i="0" sz="1100" u="none" cap="none" strike="noStrike">
              <a:solidFill>
                <a:schemeClr val="dk1"/>
              </a:solidFill>
              <a:latin typeface="Calibri"/>
              <a:ea typeface="Calibri"/>
              <a:cs typeface="Calibri"/>
              <a:sym typeface="Calibri"/>
            </a:endParaRPr>
          </a:p>
        </p:txBody>
      </p:sp>
      <p:sp>
        <p:nvSpPr>
          <p:cNvPr id="241" name="Google Shape;241;g3d60807834f_0_72"/>
          <p:cNvSpPr/>
          <p:nvPr/>
        </p:nvSpPr>
        <p:spPr>
          <a:xfrm>
            <a:off x="4663440" y="4251960"/>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34.2%</a:t>
            </a:r>
            <a:endParaRPr b="0" i="0" sz="1100" u="none" cap="none" strike="noStrike">
              <a:solidFill>
                <a:schemeClr val="dk1"/>
              </a:solidFill>
              <a:latin typeface="Calibri"/>
              <a:ea typeface="Calibri"/>
              <a:cs typeface="Calibri"/>
              <a:sym typeface="Calibri"/>
            </a:endParaRPr>
          </a:p>
        </p:txBody>
      </p:sp>
      <p:sp>
        <p:nvSpPr>
          <p:cNvPr id="242" name="Google Shape;242;g3d60807834f_0_72"/>
          <p:cNvSpPr/>
          <p:nvPr/>
        </p:nvSpPr>
        <p:spPr>
          <a:xfrm>
            <a:off x="5577840" y="4251960"/>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+14.2pp</a:t>
            </a:r>
            <a:endParaRPr b="0" i="0" sz="1100" u="none" cap="none" strike="noStrike">
              <a:solidFill>
                <a:schemeClr val="dk1"/>
              </a:solidFill>
              <a:latin typeface="Calibri"/>
              <a:ea typeface="Calibri"/>
              <a:cs typeface="Calibri"/>
              <a:sym typeface="Calibri"/>
            </a:endParaRPr>
          </a:p>
        </p:txBody>
      </p:sp>
      <p:sp>
        <p:nvSpPr>
          <p:cNvPr id="243" name="Google Shape;243;g3d60807834f_0_72"/>
          <p:cNvSpPr/>
          <p:nvPr/>
        </p:nvSpPr>
        <p:spPr>
          <a:xfrm>
            <a:off x="6583680" y="4251960"/>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Desktop preference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g3d60807834f_0_123"/>
          <p:cNvSpPr/>
          <p:nvPr/>
        </p:nvSpPr>
        <p:spPr>
          <a:xfrm>
            <a:off x="640080" y="320040"/>
            <a:ext cx="7863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400"/>
              <a:buFont typeface="Poppins"/>
              <a:buNone/>
            </a:pPr>
            <a:r>
              <a:rPr b="1" i="0" lang="en-US" sz="2400" u="none" cap="none" strike="noStrike">
                <a:solidFill>
                  <a:srgbClr val="C2185B"/>
                </a:solidFill>
                <a:latin typeface="Poppins"/>
                <a:ea typeface="Poppins"/>
                <a:cs typeface="Poppins"/>
                <a:sym typeface="Poppins"/>
              </a:rPr>
              <a:t>What Non-FT users edit on phone vs. desktop</a:t>
            </a:r>
            <a:endParaRPr b="0" i="0" sz="2400" u="none" cap="none" strike="noStrike">
              <a:solidFill>
                <a:schemeClr val="dk1"/>
              </a:solidFill>
              <a:latin typeface="Calibri"/>
              <a:ea typeface="Calibri"/>
              <a:cs typeface="Calibri"/>
              <a:sym typeface="Calibri"/>
            </a:endParaRPr>
          </a:p>
        </p:txBody>
      </p:sp>
      <p:sp>
        <p:nvSpPr>
          <p:cNvPr id="250" name="Google Shape;250;g3d60807834f_0_123"/>
          <p:cNvSpPr/>
          <p:nvPr/>
        </p:nvSpPr>
        <p:spPr>
          <a:xfrm>
            <a:off x="640080" y="960120"/>
            <a:ext cx="7863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Same question, different user group. Only statistically significant differences shown </a:t>
            </a:r>
            <a:r>
              <a:rPr b="0" i="0" lang="en-US" sz="1100" u="none" cap="none" strike="noStrike">
                <a:solidFill>
                  <a:srgbClr val="6B6B6B"/>
                </a:solidFill>
                <a:latin typeface="Poppins"/>
                <a:ea typeface="Poppins"/>
                <a:cs typeface="Poppins"/>
                <a:sym typeface="Poppins"/>
              </a:rPr>
              <a:t>(</a:t>
            </a:r>
            <a:r>
              <a:rPr b="0" i="0" lang="en-US" sz="1100" u="none" cap="none" strike="noStrike">
                <a:solidFill>
                  <a:srgbClr val="6B6B6B"/>
                </a:solidFill>
                <a:latin typeface="Poppins"/>
                <a:ea typeface="Poppins"/>
                <a:cs typeface="Poppins"/>
                <a:sym typeface="Poppins"/>
              </a:rPr>
              <a:t>p&lt;0.05)</a:t>
            </a:r>
            <a:endParaRPr b="0" i="0" sz="1100" u="none" cap="none" strike="noStrike">
              <a:solidFill>
                <a:schemeClr val="dk1"/>
              </a:solidFill>
              <a:latin typeface="Calibri"/>
              <a:ea typeface="Calibri"/>
              <a:cs typeface="Calibri"/>
              <a:sym typeface="Calibri"/>
            </a:endParaRPr>
          </a:p>
        </p:txBody>
      </p:sp>
      <p:sp>
        <p:nvSpPr>
          <p:cNvPr id="251" name="Google Shape;251;g3d60807834f_0_123"/>
          <p:cNvSpPr/>
          <p:nvPr/>
        </p:nvSpPr>
        <p:spPr>
          <a:xfrm>
            <a:off x="457200" y="1554480"/>
            <a:ext cx="8229600" cy="32010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d60807834f_0_123"/>
          <p:cNvSpPr/>
          <p:nvPr/>
        </p:nvSpPr>
        <p:spPr>
          <a:xfrm>
            <a:off x="640080" y="1554480"/>
            <a:ext cx="3017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Poppins"/>
              <a:buNone/>
            </a:pPr>
            <a:r>
              <a:rPr b="1" i="0" lang="en-US" sz="1000" u="none" cap="none" strike="noStrike">
                <a:solidFill>
                  <a:srgbClr val="FFFFFF"/>
                </a:solidFill>
                <a:latin typeface="Poppins"/>
                <a:ea typeface="Poppins"/>
                <a:cs typeface="Poppins"/>
                <a:sym typeface="Poppins"/>
              </a:rPr>
              <a:t>Edit type</a:t>
            </a:r>
            <a:endParaRPr b="0" i="0" sz="1000" u="none" cap="none" strike="noStrike">
              <a:solidFill>
                <a:schemeClr val="dk1"/>
              </a:solidFill>
              <a:latin typeface="Calibri"/>
              <a:ea typeface="Calibri"/>
              <a:cs typeface="Calibri"/>
              <a:sym typeface="Calibri"/>
            </a:endParaRPr>
          </a:p>
        </p:txBody>
      </p:sp>
      <p:sp>
        <p:nvSpPr>
          <p:cNvPr id="253" name="Google Shape;253;g3d60807834f_0_123"/>
          <p:cNvSpPr/>
          <p:nvPr/>
        </p:nvSpPr>
        <p:spPr>
          <a:xfrm>
            <a:off x="3749040" y="1554480"/>
            <a:ext cx="8229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000"/>
              <a:buFont typeface="Poppins"/>
              <a:buNone/>
            </a:pPr>
            <a:r>
              <a:rPr b="1" i="0" lang="en-US" sz="1000" u="none" cap="none" strike="noStrike">
                <a:solidFill>
                  <a:schemeClr val="lt1"/>
                </a:solidFill>
                <a:latin typeface="Poppins"/>
                <a:ea typeface="Poppins"/>
                <a:cs typeface="Poppins"/>
                <a:sym typeface="Poppins"/>
              </a:rPr>
              <a:t>Phone</a:t>
            </a:r>
            <a:endParaRPr b="0" i="0" sz="1000" u="none" cap="none" strike="noStrike">
              <a:solidFill>
                <a:schemeClr val="lt1"/>
              </a:solidFill>
              <a:latin typeface="Calibri"/>
              <a:ea typeface="Calibri"/>
              <a:cs typeface="Calibri"/>
              <a:sym typeface="Calibri"/>
            </a:endParaRPr>
          </a:p>
        </p:txBody>
      </p:sp>
      <p:sp>
        <p:nvSpPr>
          <p:cNvPr id="254" name="Google Shape;254;g3d60807834f_0_123"/>
          <p:cNvSpPr/>
          <p:nvPr/>
        </p:nvSpPr>
        <p:spPr>
          <a:xfrm>
            <a:off x="4663440" y="1554480"/>
            <a:ext cx="8229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Poppins"/>
              <a:buNone/>
            </a:pPr>
            <a:r>
              <a:rPr b="1" i="0" lang="en-US" sz="1000" u="none" cap="none" strike="noStrike">
                <a:solidFill>
                  <a:srgbClr val="FFFFFF"/>
                </a:solidFill>
                <a:latin typeface="Poppins"/>
                <a:ea typeface="Poppins"/>
                <a:cs typeface="Poppins"/>
                <a:sym typeface="Poppins"/>
              </a:rPr>
              <a:t>Desktop</a:t>
            </a:r>
            <a:endParaRPr b="0" i="0" sz="1000" u="none" cap="none" strike="noStrike">
              <a:solidFill>
                <a:schemeClr val="dk1"/>
              </a:solidFill>
              <a:latin typeface="Calibri"/>
              <a:ea typeface="Calibri"/>
              <a:cs typeface="Calibri"/>
              <a:sym typeface="Calibri"/>
            </a:endParaRPr>
          </a:p>
        </p:txBody>
      </p:sp>
      <p:sp>
        <p:nvSpPr>
          <p:cNvPr id="255" name="Google Shape;255;g3d60807834f_0_123"/>
          <p:cNvSpPr/>
          <p:nvPr/>
        </p:nvSpPr>
        <p:spPr>
          <a:xfrm>
            <a:off x="5577840" y="1554480"/>
            <a:ext cx="9144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Poppins"/>
              <a:buNone/>
            </a:pPr>
            <a:r>
              <a:rPr b="1" i="0" lang="en-US" sz="1000" u="none" cap="none" strike="noStrike">
                <a:solidFill>
                  <a:srgbClr val="FFFFFF"/>
                </a:solidFill>
                <a:latin typeface="Poppins"/>
                <a:ea typeface="Poppins"/>
                <a:cs typeface="Poppins"/>
                <a:sym typeface="Poppins"/>
              </a:rPr>
              <a:t>Difference</a:t>
            </a:r>
            <a:endParaRPr b="0" i="0" sz="1000" u="none" cap="none" strike="noStrike">
              <a:solidFill>
                <a:schemeClr val="dk1"/>
              </a:solidFill>
              <a:latin typeface="Calibri"/>
              <a:ea typeface="Calibri"/>
              <a:cs typeface="Calibri"/>
              <a:sym typeface="Calibri"/>
            </a:endParaRPr>
          </a:p>
        </p:txBody>
      </p:sp>
      <p:sp>
        <p:nvSpPr>
          <p:cNvPr id="256" name="Google Shape;256;g3d60807834f_0_123"/>
          <p:cNvSpPr/>
          <p:nvPr/>
        </p:nvSpPr>
        <p:spPr>
          <a:xfrm>
            <a:off x="6583680" y="1554480"/>
            <a:ext cx="201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Poppins"/>
              <a:buNone/>
            </a:pPr>
            <a:r>
              <a:rPr b="1" i="0" lang="en-US" sz="1000" u="none" cap="none" strike="noStrike">
                <a:solidFill>
                  <a:srgbClr val="FFFFFF"/>
                </a:solidFill>
                <a:latin typeface="Poppins"/>
                <a:ea typeface="Poppins"/>
                <a:cs typeface="Poppins"/>
                <a:sym typeface="Poppins"/>
              </a:rPr>
              <a:t>Direction</a:t>
            </a:r>
            <a:endParaRPr b="0" i="0" sz="1000" u="none" cap="none" strike="noStrike">
              <a:solidFill>
                <a:schemeClr val="dk1"/>
              </a:solidFill>
              <a:latin typeface="Calibri"/>
              <a:ea typeface="Calibri"/>
              <a:cs typeface="Calibri"/>
              <a:sym typeface="Calibri"/>
            </a:endParaRPr>
          </a:p>
        </p:txBody>
      </p:sp>
      <p:sp>
        <p:nvSpPr>
          <p:cNvPr id="257" name="Google Shape;257;g3d60807834f_0_123"/>
          <p:cNvSpPr/>
          <p:nvPr/>
        </p:nvSpPr>
        <p:spPr>
          <a:xfrm>
            <a:off x="640080" y="1965960"/>
            <a:ext cx="3657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000"/>
              <a:buFont typeface="Poppins"/>
              <a:buNone/>
            </a:pPr>
            <a:r>
              <a:rPr b="1" i="0" lang="en-US" sz="1000" u="none" cap="none" strike="noStrike">
                <a:solidFill>
                  <a:srgbClr val="F48FB1"/>
                </a:solidFill>
                <a:latin typeface="Poppins"/>
                <a:ea typeface="Poppins"/>
                <a:cs typeface="Poppins"/>
                <a:sym typeface="Poppins"/>
              </a:rPr>
              <a:t>More common on phone</a:t>
            </a:r>
            <a:endParaRPr b="0" i="0" sz="1000" u="none" cap="none" strike="noStrike">
              <a:solidFill>
                <a:schemeClr val="dk1"/>
              </a:solidFill>
              <a:latin typeface="Calibri"/>
              <a:ea typeface="Calibri"/>
              <a:cs typeface="Calibri"/>
              <a:sym typeface="Calibri"/>
            </a:endParaRPr>
          </a:p>
        </p:txBody>
      </p:sp>
      <p:sp>
        <p:nvSpPr>
          <p:cNvPr id="258" name="Google Shape;258;g3d60807834f_0_123"/>
          <p:cNvSpPr/>
          <p:nvPr/>
        </p:nvSpPr>
        <p:spPr>
          <a:xfrm>
            <a:off x="457200" y="2286000"/>
            <a:ext cx="8229600" cy="3108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d60807834f_0_123"/>
          <p:cNvSpPr/>
          <p:nvPr/>
        </p:nvSpPr>
        <p:spPr>
          <a:xfrm>
            <a:off x="640080" y="2286000"/>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Crop / resize</a:t>
            </a:r>
            <a:endParaRPr b="0" i="0" sz="1100" u="none" cap="none" strike="noStrike">
              <a:solidFill>
                <a:schemeClr val="dk1"/>
              </a:solidFill>
              <a:latin typeface="Calibri"/>
              <a:ea typeface="Calibri"/>
              <a:cs typeface="Calibri"/>
              <a:sym typeface="Calibri"/>
            </a:endParaRPr>
          </a:p>
        </p:txBody>
      </p:sp>
      <p:sp>
        <p:nvSpPr>
          <p:cNvPr id="260" name="Google Shape;260;g3d60807834f_0_123"/>
          <p:cNvSpPr/>
          <p:nvPr/>
        </p:nvSpPr>
        <p:spPr>
          <a:xfrm>
            <a:off x="3749040" y="2286000"/>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59.1%</a:t>
            </a:r>
            <a:endParaRPr b="0" i="0" sz="1100" u="none" cap="none" strike="noStrike">
              <a:solidFill>
                <a:schemeClr val="dk1"/>
              </a:solidFill>
              <a:latin typeface="Calibri"/>
              <a:ea typeface="Calibri"/>
              <a:cs typeface="Calibri"/>
              <a:sym typeface="Calibri"/>
            </a:endParaRPr>
          </a:p>
        </p:txBody>
      </p:sp>
      <p:sp>
        <p:nvSpPr>
          <p:cNvPr id="261" name="Google Shape;261;g3d60807834f_0_123"/>
          <p:cNvSpPr/>
          <p:nvPr/>
        </p:nvSpPr>
        <p:spPr>
          <a:xfrm>
            <a:off x="4663440" y="2286000"/>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46.8%</a:t>
            </a:r>
            <a:endParaRPr b="0" i="0" sz="1100" u="none" cap="none" strike="noStrike">
              <a:solidFill>
                <a:schemeClr val="dk1"/>
              </a:solidFill>
              <a:latin typeface="Calibri"/>
              <a:ea typeface="Calibri"/>
              <a:cs typeface="Calibri"/>
              <a:sym typeface="Calibri"/>
            </a:endParaRPr>
          </a:p>
        </p:txBody>
      </p:sp>
      <p:sp>
        <p:nvSpPr>
          <p:cNvPr id="262" name="Google Shape;262;g3d60807834f_0_123"/>
          <p:cNvSpPr/>
          <p:nvPr/>
        </p:nvSpPr>
        <p:spPr>
          <a:xfrm>
            <a:off x="5577840" y="2286000"/>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+12.3pp</a:t>
            </a:r>
            <a:endParaRPr b="0" i="0" sz="1100" u="none" cap="none" strike="noStrike">
              <a:solidFill>
                <a:schemeClr val="dk1"/>
              </a:solidFill>
              <a:latin typeface="Calibri"/>
              <a:ea typeface="Calibri"/>
              <a:cs typeface="Calibri"/>
              <a:sym typeface="Calibri"/>
            </a:endParaRPr>
          </a:p>
        </p:txBody>
      </p:sp>
      <p:sp>
        <p:nvSpPr>
          <p:cNvPr id="263" name="Google Shape;263;g3d60807834f_0_123"/>
          <p:cNvSpPr/>
          <p:nvPr/>
        </p:nvSpPr>
        <p:spPr>
          <a:xfrm>
            <a:off x="6583680" y="2286000"/>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Strong phone preference</a:t>
            </a:r>
            <a:endParaRPr b="0" i="0" sz="1000" u="none" cap="none" strike="noStrike">
              <a:solidFill>
                <a:schemeClr val="dk1"/>
              </a:solidFill>
              <a:latin typeface="Calibri"/>
              <a:ea typeface="Calibri"/>
              <a:cs typeface="Calibri"/>
              <a:sym typeface="Calibri"/>
            </a:endParaRPr>
          </a:p>
        </p:txBody>
      </p:sp>
      <p:sp>
        <p:nvSpPr>
          <p:cNvPr id="264" name="Google Shape;264;g3d60807834f_0_123"/>
          <p:cNvSpPr/>
          <p:nvPr/>
        </p:nvSpPr>
        <p:spPr>
          <a:xfrm>
            <a:off x="457200" y="2596896"/>
            <a:ext cx="8229600" cy="310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d60807834f_0_123"/>
          <p:cNvSpPr/>
          <p:nvPr/>
        </p:nvSpPr>
        <p:spPr>
          <a:xfrm>
            <a:off x="640080" y="2596896"/>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Lighting / colors</a:t>
            </a:r>
            <a:endParaRPr b="0" i="0" sz="1100" u="none" cap="none" strike="noStrike">
              <a:solidFill>
                <a:schemeClr val="dk1"/>
              </a:solidFill>
              <a:latin typeface="Calibri"/>
              <a:ea typeface="Calibri"/>
              <a:cs typeface="Calibri"/>
              <a:sym typeface="Calibri"/>
            </a:endParaRPr>
          </a:p>
        </p:txBody>
      </p:sp>
      <p:sp>
        <p:nvSpPr>
          <p:cNvPr id="266" name="Google Shape;266;g3d60807834f_0_123"/>
          <p:cNvSpPr/>
          <p:nvPr/>
        </p:nvSpPr>
        <p:spPr>
          <a:xfrm>
            <a:off x="3749040" y="2596896"/>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59.3%</a:t>
            </a:r>
            <a:endParaRPr b="0" i="0" sz="1100" u="none" cap="none" strike="noStrike">
              <a:solidFill>
                <a:schemeClr val="dk1"/>
              </a:solidFill>
              <a:latin typeface="Calibri"/>
              <a:ea typeface="Calibri"/>
              <a:cs typeface="Calibri"/>
              <a:sym typeface="Calibri"/>
            </a:endParaRPr>
          </a:p>
        </p:txBody>
      </p:sp>
      <p:sp>
        <p:nvSpPr>
          <p:cNvPr id="267" name="Google Shape;267;g3d60807834f_0_123"/>
          <p:cNvSpPr/>
          <p:nvPr/>
        </p:nvSpPr>
        <p:spPr>
          <a:xfrm>
            <a:off x="4663440" y="2596896"/>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49.7%</a:t>
            </a:r>
            <a:endParaRPr b="0" i="0" sz="1100" u="none" cap="none" strike="noStrike">
              <a:solidFill>
                <a:schemeClr val="dk1"/>
              </a:solidFill>
              <a:latin typeface="Calibri"/>
              <a:ea typeface="Calibri"/>
              <a:cs typeface="Calibri"/>
              <a:sym typeface="Calibri"/>
            </a:endParaRPr>
          </a:p>
        </p:txBody>
      </p:sp>
      <p:sp>
        <p:nvSpPr>
          <p:cNvPr id="268" name="Google Shape;268;g3d60807834f_0_123"/>
          <p:cNvSpPr/>
          <p:nvPr/>
        </p:nvSpPr>
        <p:spPr>
          <a:xfrm>
            <a:off x="5577840" y="2596896"/>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+9.6pp</a:t>
            </a:r>
            <a:endParaRPr b="0" i="0" sz="1100" u="none" cap="none" strike="noStrike">
              <a:solidFill>
                <a:schemeClr val="dk1"/>
              </a:solidFill>
              <a:latin typeface="Calibri"/>
              <a:ea typeface="Calibri"/>
              <a:cs typeface="Calibri"/>
              <a:sym typeface="Calibri"/>
            </a:endParaRPr>
          </a:p>
        </p:txBody>
      </p:sp>
      <p:sp>
        <p:nvSpPr>
          <p:cNvPr id="269" name="Google Shape;269;g3d60807834f_0_123"/>
          <p:cNvSpPr/>
          <p:nvPr/>
        </p:nvSpPr>
        <p:spPr>
          <a:xfrm>
            <a:off x="6583680" y="2596896"/>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Phone preference</a:t>
            </a:r>
            <a:endParaRPr b="0" i="0" sz="1000" u="none" cap="none" strike="noStrike">
              <a:solidFill>
                <a:schemeClr val="dk1"/>
              </a:solidFill>
              <a:latin typeface="Calibri"/>
              <a:ea typeface="Calibri"/>
              <a:cs typeface="Calibri"/>
              <a:sym typeface="Calibri"/>
            </a:endParaRPr>
          </a:p>
        </p:txBody>
      </p:sp>
      <p:sp>
        <p:nvSpPr>
          <p:cNvPr id="270" name="Google Shape;270;g3d60807834f_0_123"/>
          <p:cNvSpPr/>
          <p:nvPr/>
        </p:nvSpPr>
        <p:spPr>
          <a:xfrm>
            <a:off x="457200" y="2907792"/>
            <a:ext cx="8229600" cy="3108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3d60807834f_0_123"/>
          <p:cNvSpPr/>
          <p:nvPr/>
        </p:nvSpPr>
        <p:spPr>
          <a:xfrm>
            <a:off x="640080" y="2907792"/>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Filters / presets</a:t>
            </a:r>
            <a:endParaRPr b="0" i="0" sz="1100" u="none" cap="none" strike="noStrike">
              <a:solidFill>
                <a:schemeClr val="dk1"/>
              </a:solidFill>
              <a:latin typeface="Calibri"/>
              <a:ea typeface="Calibri"/>
              <a:cs typeface="Calibri"/>
              <a:sym typeface="Calibri"/>
            </a:endParaRPr>
          </a:p>
        </p:txBody>
      </p:sp>
      <p:sp>
        <p:nvSpPr>
          <p:cNvPr id="272" name="Google Shape;272;g3d60807834f_0_123"/>
          <p:cNvSpPr/>
          <p:nvPr/>
        </p:nvSpPr>
        <p:spPr>
          <a:xfrm>
            <a:off x="3749040" y="2907792"/>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43.0%</a:t>
            </a:r>
            <a:endParaRPr b="0" i="0" sz="1100" u="none" cap="none" strike="noStrike">
              <a:solidFill>
                <a:schemeClr val="dk1"/>
              </a:solidFill>
              <a:latin typeface="Calibri"/>
              <a:ea typeface="Calibri"/>
              <a:cs typeface="Calibri"/>
              <a:sym typeface="Calibri"/>
            </a:endParaRPr>
          </a:p>
        </p:txBody>
      </p:sp>
      <p:sp>
        <p:nvSpPr>
          <p:cNvPr id="273" name="Google Shape;273;g3d60807834f_0_123"/>
          <p:cNvSpPr/>
          <p:nvPr/>
        </p:nvSpPr>
        <p:spPr>
          <a:xfrm>
            <a:off x="4663440" y="2907792"/>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33.7%</a:t>
            </a:r>
            <a:endParaRPr b="0" i="0" sz="1100" u="none" cap="none" strike="noStrike">
              <a:solidFill>
                <a:schemeClr val="dk1"/>
              </a:solidFill>
              <a:latin typeface="Calibri"/>
              <a:ea typeface="Calibri"/>
              <a:cs typeface="Calibri"/>
              <a:sym typeface="Calibri"/>
            </a:endParaRPr>
          </a:p>
        </p:txBody>
      </p:sp>
      <p:sp>
        <p:nvSpPr>
          <p:cNvPr id="274" name="Google Shape;274;g3d60807834f_0_123"/>
          <p:cNvSpPr/>
          <p:nvPr/>
        </p:nvSpPr>
        <p:spPr>
          <a:xfrm>
            <a:off x="5577840" y="2907792"/>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+9.2pp</a:t>
            </a:r>
            <a:endParaRPr b="0" i="0" sz="1100" u="none" cap="none" strike="noStrike">
              <a:solidFill>
                <a:schemeClr val="dk1"/>
              </a:solidFill>
              <a:latin typeface="Calibri"/>
              <a:ea typeface="Calibri"/>
              <a:cs typeface="Calibri"/>
              <a:sym typeface="Calibri"/>
            </a:endParaRPr>
          </a:p>
        </p:txBody>
      </p:sp>
      <p:sp>
        <p:nvSpPr>
          <p:cNvPr id="275" name="Google Shape;275;g3d60807834f_0_123"/>
          <p:cNvSpPr/>
          <p:nvPr/>
        </p:nvSpPr>
        <p:spPr>
          <a:xfrm>
            <a:off x="6583680" y="2907792"/>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Phone preference</a:t>
            </a:r>
            <a:endParaRPr b="0" i="0" sz="1000" u="none" cap="none" strike="noStrike">
              <a:solidFill>
                <a:schemeClr val="dk1"/>
              </a:solidFill>
              <a:latin typeface="Calibri"/>
              <a:ea typeface="Calibri"/>
              <a:cs typeface="Calibri"/>
              <a:sym typeface="Calibri"/>
            </a:endParaRPr>
          </a:p>
        </p:txBody>
      </p:sp>
      <p:sp>
        <p:nvSpPr>
          <p:cNvPr id="276" name="Google Shape;276;g3d60807834f_0_123"/>
          <p:cNvSpPr/>
          <p:nvPr/>
        </p:nvSpPr>
        <p:spPr>
          <a:xfrm>
            <a:off x="457200" y="3218688"/>
            <a:ext cx="8229600" cy="310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d60807834f_0_123"/>
          <p:cNvSpPr/>
          <p:nvPr/>
        </p:nvSpPr>
        <p:spPr>
          <a:xfrm>
            <a:off x="640080" y="3218688"/>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Creative effects</a:t>
            </a:r>
            <a:endParaRPr b="0" i="0" sz="1100" u="none" cap="none" strike="noStrike">
              <a:solidFill>
                <a:schemeClr val="dk1"/>
              </a:solidFill>
              <a:latin typeface="Calibri"/>
              <a:ea typeface="Calibri"/>
              <a:cs typeface="Calibri"/>
              <a:sym typeface="Calibri"/>
            </a:endParaRPr>
          </a:p>
        </p:txBody>
      </p:sp>
      <p:sp>
        <p:nvSpPr>
          <p:cNvPr id="278" name="Google Shape;278;g3d60807834f_0_123"/>
          <p:cNvSpPr/>
          <p:nvPr/>
        </p:nvSpPr>
        <p:spPr>
          <a:xfrm>
            <a:off x="3749040" y="3218688"/>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44.6%</a:t>
            </a:r>
            <a:endParaRPr b="0" i="0" sz="1100" u="none" cap="none" strike="noStrike">
              <a:solidFill>
                <a:schemeClr val="dk1"/>
              </a:solidFill>
              <a:latin typeface="Calibri"/>
              <a:ea typeface="Calibri"/>
              <a:cs typeface="Calibri"/>
              <a:sym typeface="Calibri"/>
            </a:endParaRPr>
          </a:p>
        </p:txBody>
      </p:sp>
      <p:sp>
        <p:nvSpPr>
          <p:cNvPr id="279" name="Google Shape;279;g3d60807834f_0_123"/>
          <p:cNvSpPr/>
          <p:nvPr/>
        </p:nvSpPr>
        <p:spPr>
          <a:xfrm>
            <a:off x="4663440" y="3218688"/>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37.4%</a:t>
            </a:r>
            <a:endParaRPr b="0" i="0" sz="1100" u="none" cap="none" strike="noStrike">
              <a:solidFill>
                <a:schemeClr val="dk1"/>
              </a:solidFill>
              <a:latin typeface="Calibri"/>
              <a:ea typeface="Calibri"/>
              <a:cs typeface="Calibri"/>
              <a:sym typeface="Calibri"/>
            </a:endParaRPr>
          </a:p>
        </p:txBody>
      </p:sp>
      <p:sp>
        <p:nvSpPr>
          <p:cNvPr id="280" name="Google Shape;280;g3d60807834f_0_123"/>
          <p:cNvSpPr/>
          <p:nvPr/>
        </p:nvSpPr>
        <p:spPr>
          <a:xfrm>
            <a:off x="5577840" y="3218688"/>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+7.2pp</a:t>
            </a:r>
            <a:endParaRPr b="0" i="0" sz="1100" u="none" cap="none" strike="noStrike">
              <a:solidFill>
                <a:schemeClr val="dk1"/>
              </a:solidFill>
              <a:latin typeface="Calibri"/>
              <a:ea typeface="Calibri"/>
              <a:cs typeface="Calibri"/>
              <a:sym typeface="Calibri"/>
            </a:endParaRPr>
          </a:p>
        </p:txBody>
      </p:sp>
      <p:sp>
        <p:nvSpPr>
          <p:cNvPr id="281" name="Google Shape;281;g3d60807834f_0_123"/>
          <p:cNvSpPr/>
          <p:nvPr/>
        </p:nvSpPr>
        <p:spPr>
          <a:xfrm>
            <a:off x="6583680" y="3218688"/>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Phone preference</a:t>
            </a:r>
            <a:endParaRPr b="0" i="0" sz="1000" u="none" cap="none" strike="noStrike">
              <a:solidFill>
                <a:schemeClr val="dk1"/>
              </a:solidFill>
              <a:latin typeface="Calibri"/>
              <a:ea typeface="Calibri"/>
              <a:cs typeface="Calibri"/>
              <a:sym typeface="Calibri"/>
            </a:endParaRPr>
          </a:p>
        </p:txBody>
      </p:sp>
      <p:sp>
        <p:nvSpPr>
          <p:cNvPr id="282" name="Google Shape;282;g3d60807834f_0_123"/>
          <p:cNvSpPr/>
          <p:nvPr/>
        </p:nvSpPr>
        <p:spPr>
          <a:xfrm>
            <a:off x="640080" y="3611880"/>
            <a:ext cx="3657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000"/>
              <a:buFont typeface="Poppins"/>
              <a:buNone/>
            </a:pPr>
            <a:r>
              <a:rPr b="1" i="0" lang="en-US" sz="1000" u="none" cap="none" strike="noStrike">
                <a:solidFill>
                  <a:srgbClr val="C2185B"/>
                </a:solidFill>
                <a:latin typeface="Poppins"/>
                <a:ea typeface="Poppins"/>
                <a:cs typeface="Poppins"/>
                <a:sym typeface="Poppins"/>
              </a:rPr>
              <a:t>More common on desktop</a:t>
            </a:r>
            <a:endParaRPr b="0" i="0" sz="1000" u="none" cap="none" strike="noStrike">
              <a:solidFill>
                <a:schemeClr val="dk1"/>
              </a:solidFill>
              <a:latin typeface="Calibri"/>
              <a:ea typeface="Calibri"/>
              <a:cs typeface="Calibri"/>
              <a:sym typeface="Calibri"/>
            </a:endParaRPr>
          </a:p>
        </p:txBody>
      </p:sp>
      <p:sp>
        <p:nvSpPr>
          <p:cNvPr id="283" name="Google Shape;283;g3d60807834f_0_123"/>
          <p:cNvSpPr/>
          <p:nvPr/>
        </p:nvSpPr>
        <p:spPr>
          <a:xfrm>
            <a:off x="457200" y="3931920"/>
            <a:ext cx="8229600" cy="3108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d60807834f_0_123"/>
          <p:cNvSpPr/>
          <p:nvPr/>
        </p:nvSpPr>
        <p:spPr>
          <a:xfrm>
            <a:off x="640080" y="3931920"/>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Product / object editing</a:t>
            </a:r>
            <a:endParaRPr b="0" i="0" sz="1100" u="none" cap="none" strike="noStrike">
              <a:solidFill>
                <a:schemeClr val="dk1"/>
              </a:solidFill>
              <a:latin typeface="Calibri"/>
              <a:ea typeface="Calibri"/>
              <a:cs typeface="Calibri"/>
              <a:sym typeface="Calibri"/>
            </a:endParaRPr>
          </a:p>
        </p:txBody>
      </p:sp>
      <p:sp>
        <p:nvSpPr>
          <p:cNvPr id="285" name="Google Shape;285;g3d60807834f_0_123"/>
          <p:cNvSpPr/>
          <p:nvPr/>
        </p:nvSpPr>
        <p:spPr>
          <a:xfrm>
            <a:off x="3749040" y="3931920"/>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24.3%</a:t>
            </a:r>
            <a:endParaRPr b="0" i="0" sz="1100" u="none" cap="none" strike="noStrike">
              <a:solidFill>
                <a:schemeClr val="dk1"/>
              </a:solidFill>
              <a:latin typeface="Calibri"/>
              <a:ea typeface="Calibri"/>
              <a:cs typeface="Calibri"/>
              <a:sym typeface="Calibri"/>
            </a:endParaRPr>
          </a:p>
        </p:txBody>
      </p:sp>
      <p:sp>
        <p:nvSpPr>
          <p:cNvPr id="286" name="Google Shape;286;g3d60807834f_0_123"/>
          <p:cNvSpPr/>
          <p:nvPr/>
        </p:nvSpPr>
        <p:spPr>
          <a:xfrm>
            <a:off x="4663440" y="3931920"/>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33.3%</a:t>
            </a:r>
            <a:endParaRPr b="0" i="0" sz="1100" u="none" cap="none" strike="noStrike">
              <a:solidFill>
                <a:schemeClr val="dk1"/>
              </a:solidFill>
              <a:latin typeface="Calibri"/>
              <a:ea typeface="Calibri"/>
              <a:cs typeface="Calibri"/>
              <a:sym typeface="Calibri"/>
            </a:endParaRPr>
          </a:p>
        </p:txBody>
      </p:sp>
      <p:sp>
        <p:nvSpPr>
          <p:cNvPr id="287" name="Google Shape;287;g3d60807834f_0_123"/>
          <p:cNvSpPr/>
          <p:nvPr/>
        </p:nvSpPr>
        <p:spPr>
          <a:xfrm>
            <a:off x="5577840" y="3931920"/>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+9.0pp</a:t>
            </a:r>
            <a:endParaRPr b="0" i="0" sz="1100" u="none" cap="none" strike="noStrike">
              <a:solidFill>
                <a:schemeClr val="dk1"/>
              </a:solidFill>
              <a:latin typeface="Calibri"/>
              <a:ea typeface="Calibri"/>
              <a:cs typeface="Calibri"/>
              <a:sym typeface="Calibri"/>
            </a:endParaRPr>
          </a:p>
        </p:txBody>
      </p:sp>
      <p:sp>
        <p:nvSpPr>
          <p:cNvPr id="288" name="Google Shape;288;g3d60807834f_0_123"/>
          <p:cNvSpPr/>
          <p:nvPr/>
        </p:nvSpPr>
        <p:spPr>
          <a:xfrm>
            <a:off x="6583680" y="3931920"/>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Desktop preference</a:t>
            </a:r>
            <a:endParaRPr b="0" i="0" sz="1000" u="none" cap="none" strike="noStrike">
              <a:solidFill>
                <a:schemeClr val="dk1"/>
              </a:solidFill>
              <a:latin typeface="Calibri"/>
              <a:ea typeface="Calibri"/>
              <a:cs typeface="Calibri"/>
              <a:sym typeface="Calibri"/>
            </a:endParaRPr>
          </a:p>
        </p:txBody>
      </p:sp>
      <p:sp>
        <p:nvSpPr>
          <p:cNvPr id="289" name="Google Shape;289;g3d60807834f_0_123"/>
          <p:cNvSpPr/>
          <p:nvPr/>
        </p:nvSpPr>
        <p:spPr>
          <a:xfrm>
            <a:off x="457200" y="4242816"/>
            <a:ext cx="8229600" cy="310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d60807834f_0_123"/>
          <p:cNvSpPr/>
          <p:nvPr/>
        </p:nvSpPr>
        <p:spPr>
          <a:xfrm>
            <a:off x="640080" y="4242816"/>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Body editing</a:t>
            </a:r>
            <a:endParaRPr b="0" i="0" sz="1100" u="none" cap="none" strike="noStrike">
              <a:solidFill>
                <a:schemeClr val="dk1"/>
              </a:solidFill>
              <a:latin typeface="Calibri"/>
              <a:ea typeface="Calibri"/>
              <a:cs typeface="Calibri"/>
              <a:sym typeface="Calibri"/>
            </a:endParaRPr>
          </a:p>
        </p:txBody>
      </p:sp>
      <p:sp>
        <p:nvSpPr>
          <p:cNvPr id="291" name="Google Shape;291;g3d60807834f_0_123"/>
          <p:cNvSpPr/>
          <p:nvPr/>
        </p:nvSpPr>
        <p:spPr>
          <a:xfrm>
            <a:off x="3749040" y="4242816"/>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11.1%</a:t>
            </a:r>
            <a:endParaRPr b="0" i="0" sz="1100" u="none" cap="none" strike="noStrike">
              <a:solidFill>
                <a:schemeClr val="dk1"/>
              </a:solidFill>
              <a:latin typeface="Calibri"/>
              <a:ea typeface="Calibri"/>
              <a:cs typeface="Calibri"/>
              <a:sym typeface="Calibri"/>
            </a:endParaRPr>
          </a:p>
        </p:txBody>
      </p:sp>
      <p:sp>
        <p:nvSpPr>
          <p:cNvPr id="292" name="Google Shape;292;g3d60807834f_0_123"/>
          <p:cNvSpPr/>
          <p:nvPr/>
        </p:nvSpPr>
        <p:spPr>
          <a:xfrm>
            <a:off x="4663440" y="4242816"/>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16.1%</a:t>
            </a:r>
            <a:endParaRPr b="0" i="0" sz="1100" u="none" cap="none" strike="noStrike">
              <a:solidFill>
                <a:schemeClr val="dk1"/>
              </a:solidFill>
              <a:latin typeface="Calibri"/>
              <a:ea typeface="Calibri"/>
              <a:cs typeface="Calibri"/>
              <a:sym typeface="Calibri"/>
            </a:endParaRPr>
          </a:p>
        </p:txBody>
      </p:sp>
      <p:sp>
        <p:nvSpPr>
          <p:cNvPr id="293" name="Google Shape;293;g3d60807834f_0_123"/>
          <p:cNvSpPr/>
          <p:nvPr/>
        </p:nvSpPr>
        <p:spPr>
          <a:xfrm>
            <a:off x="5577840" y="4242816"/>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+4.9pp</a:t>
            </a:r>
            <a:endParaRPr b="0" i="0" sz="1100" u="none" cap="none" strike="noStrike">
              <a:solidFill>
                <a:schemeClr val="dk1"/>
              </a:solidFill>
              <a:latin typeface="Calibri"/>
              <a:ea typeface="Calibri"/>
              <a:cs typeface="Calibri"/>
              <a:sym typeface="Calibri"/>
            </a:endParaRPr>
          </a:p>
        </p:txBody>
      </p:sp>
      <p:sp>
        <p:nvSpPr>
          <p:cNvPr id="294" name="Google Shape;294;g3d60807834f_0_123"/>
          <p:cNvSpPr/>
          <p:nvPr/>
        </p:nvSpPr>
        <p:spPr>
          <a:xfrm>
            <a:off x="6583680" y="4242816"/>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Desktop preference</a:t>
            </a:r>
            <a:endParaRPr b="0" i="0" sz="1000" u="none" cap="none" strike="noStrike">
              <a:solidFill>
                <a:schemeClr val="dk1"/>
              </a:solidFill>
              <a:latin typeface="Calibri"/>
              <a:ea typeface="Calibri"/>
              <a:cs typeface="Calibri"/>
              <a:sym typeface="Calibri"/>
            </a:endParaRPr>
          </a:p>
        </p:txBody>
      </p:sp>
      <p:sp>
        <p:nvSpPr>
          <p:cNvPr id="295" name="Google Shape;295;g3d60807834f_0_123"/>
          <p:cNvSpPr/>
          <p:nvPr/>
        </p:nvSpPr>
        <p:spPr>
          <a:xfrm>
            <a:off x="457200" y="4553712"/>
            <a:ext cx="8229600" cy="3108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3d60807834f_0_123"/>
          <p:cNvSpPr/>
          <p:nvPr/>
        </p:nvSpPr>
        <p:spPr>
          <a:xfrm>
            <a:off x="640080" y="4553712"/>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Hair editing</a:t>
            </a:r>
            <a:endParaRPr b="0" i="0" sz="1100" u="none" cap="none" strike="noStrike">
              <a:solidFill>
                <a:schemeClr val="dk1"/>
              </a:solidFill>
              <a:latin typeface="Calibri"/>
              <a:ea typeface="Calibri"/>
              <a:cs typeface="Calibri"/>
              <a:sym typeface="Calibri"/>
            </a:endParaRPr>
          </a:p>
        </p:txBody>
      </p:sp>
      <p:sp>
        <p:nvSpPr>
          <p:cNvPr id="297" name="Google Shape;297;g3d60807834f_0_123"/>
          <p:cNvSpPr/>
          <p:nvPr/>
        </p:nvSpPr>
        <p:spPr>
          <a:xfrm>
            <a:off x="3749040" y="4553712"/>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10.4%</a:t>
            </a:r>
            <a:endParaRPr b="0" i="0" sz="1100" u="none" cap="none" strike="noStrike">
              <a:solidFill>
                <a:schemeClr val="dk1"/>
              </a:solidFill>
              <a:latin typeface="Calibri"/>
              <a:ea typeface="Calibri"/>
              <a:cs typeface="Calibri"/>
              <a:sym typeface="Calibri"/>
            </a:endParaRPr>
          </a:p>
        </p:txBody>
      </p:sp>
      <p:sp>
        <p:nvSpPr>
          <p:cNvPr id="298" name="Google Shape;298;g3d60807834f_0_123"/>
          <p:cNvSpPr/>
          <p:nvPr/>
        </p:nvSpPr>
        <p:spPr>
          <a:xfrm>
            <a:off x="4663440" y="4553712"/>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13.1%</a:t>
            </a:r>
            <a:endParaRPr b="0" i="0" sz="1100" u="none" cap="none" strike="noStrike">
              <a:solidFill>
                <a:schemeClr val="dk1"/>
              </a:solidFill>
              <a:latin typeface="Calibri"/>
              <a:ea typeface="Calibri"/>
              <a:cs typeface="Calibri"/>
              <a:sym typeface="Calibri"/>
            </a:endParaRPr>
          </a:p>
        </p:txBody>
      </p:sp>
      <p:sp>
        <p:nvSpPr>
          <p:cNvPr id="299" name="Google Shape;299;g3d60807834f_0_123"/>
          <p:cNvSpPr/>
          <p:nvPr/>
        </p:nvSpPr>
        <p:spPr>
          <a:xfrm>
            <a:off x="5577840" y="4553712"/>
            <a:ext cx="9144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+2.7pp</a:t>
            </a:r>
            <a:endParaRPr b="0" i="0" sz="1100" u="none" cap="none" strike="noStrike">
              <a:solidFill>
                <a:schemeClr val="dk1"/>
              </a:solidFill>
              <a:latin typeface="Calibri"/>
              <a:ea typeface="Calibri"/>
              <a:cs typeface="Calibri"/>
              <a:sym typeface="Calibri"/>
            </a:endParaRPr>
          </a:p>
        </p:txBody>
      </p:sp>
      <p:sp>
        <p:nvSpPr>
          <p:cNvPr id="300" name="Google Shape;300;g3d60807834f_0_123"/>
          <p:cNvSpPr/>
          <p:nvPr/>
        </p:nvSpPr>
        <p:spPr>
          <a:xfrm>
            <a:off x="6583680" y="4553712"/>
            <a:ext cx="20118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Desktop preference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8"/>
          <p:cNvSpPr/>
          <p:nvPr/>
        </p:nvSpPr>
        <p:spPr>
          <a:xfrm>
            <a:off x="550200" y="860050"/>
            <a:ext cx="6110100" cy="1555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2185B"/>
              </a:buClr>
              <a:buSzPts val="1100"/>
              <a:buFont typeface="Poppins"/>
              <a:buNone/>
            </a:pPr>
            <a:r>
              <a:rPr b="1" i="0" lang="en-US" sz="1600" u="none" cap="none" strike="noStrike">
                <a:solidFill>
                  <a:srgbClr val="C2185B"/>
                </a:solidFill>
                <a:latin typeface="Poppins"/>
                <a:ea typeface="Poppins"/>
                <a:cs typeface="Poppins"/>
                <a:sym typeface="Poppins"/>
              </a:rPr>
              <a:t>FT vs Non-FT: </a:t>
            </a:r>
            <a:endParaRPr b="1" i="0" sz="1600" u="none" cap="none" strike="noStrike">
              <a:solidFill>
                <a:srgbClr val="C2185B"/>
              </a:solidFill>
              <a:latin typeface="Poppins"/>
              <a:ea typeface="Poppins"/>
              <a:cs typeface="Poppins"/>
              <a:sym typeface="Poppins"/>
            </a:endParaRPr>
          </a:p>
          <a:p>
            <a:pPr indent="0" lvl="0" marL="0" marR="0" rtl="0" algn="l">
              <a:lnSpc>
                <a:spcPct val="115000"/>
              </a:lnSpc>
              <a:spcBef>
                <a:spcPts val="0"/>
              </a:spcBef>
              <a:spcAft>
                <a:spcPts val="0"/>
              </a:spcAft>
              <a:buClr>
                <a:srgbClr val="C2185B"/>
              </a:buClr>
              <a:buSzPts val="1100"/>
              <a:buFont typeface="Poppins"/>
              <a:buNone/>
            </a:pPr>
            <a:r>
              <a:t/>
            </a:r>
            <a:endParaRPr sz="1500">
              <a:solidFill>
                <a:srgbClr val="2D2D2D"/>
              </a:solidFill>
              <a:latin typeface="Poppins"/>
              <a:ea typeface="Poppins"/>
              <a:cs typeface="Poppins"/>
              <a:sym typeface="Poppins"/>
            </a:endParaRPr>
          </a:p>
          <a:p>
            <a:pPr indent="0" lvl="0" marL="0" marR="0" rtl="0" algn="l">
              <a:lnSpc>
                <a:spcPct val="115000"/>
              </a:lnSpc>
              <a:spcBef>
                <a:spcPts val="0"/>
              </a:spcBef>
              <a:spcAft>
                <a:spcPts val="0"/>
              </a:spcAft>
              <a:buClr>
                <a:srgbClr val="C2185B"/>
              </a:buClr>
              <a:buSzPts val="1100"/>
              <a:buFont typeface="Poppins"/>
              <a:buNone/>
            </a:pPr>
            <a:r>
              <a:rPr b="0" i="0" lang="en-US" u="none" cap="none" strike="noStrike">
                <a:solidFill>
                  <a:srgbClr val="2D2D2D"/>
                </a:solidFill>
                <a:latin typeface="Poppins"/>
                <a:ea typeface="Poppins"/>
                <a:cs typeface="Poppins"/>
                <a:sym typeface="Poppins"/>
              </a:rPr>
              <a:t>As expected, FT users do significantly more beauty-specific edits (face, skin, body, makeup) on both devices. Non-FT users do more general-purpose edits (crop, creative effects, background). This identity gap holds across phone and desktop</a:t>
            </a:r>
            <a:r>
              <a:rPr lang="en-US">
                <a:solidFill>
                  <a:srgbClr val="2D2D2D"/>
                </a:solidFill>
                <a:latin typeface="Poppins"/>
                <a:ea typeface="Poppins"/>
                <a:cs typeface="Poppins"/>
                <a:sym typeface="Poppins"/>
              </a:rPr>
              <a:t>.</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g3d60807834f_0_245"/>
          <p:cNvSpPr/>
          <p:nvPr/>
        </p:nvSpPr>
        <p:spPr>
          <a:xfrm>
            <a:off x="640080" y="320040"/>
            <a:ext cx="7863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400"/>
              <a:buFont typeface="Poppins"/>
              <a:buNone/>
            </a:pPr>
            <a:r>
              <a:rPr b="1" i="0" lang="en-US" sz="2400" u="none" cap="none" strike="noStrike">
                <a:solidFill>
                  <a:srgbClr val="C2185B"/>
                </a:solidFill>
                <a:latin typeface="Poppins"/>
                <a:ea typeface="Poppins"/>
                <a:cs typeface="Poppins"/>
                <a:sym typeface="Poppins"/>
              </a:rPr>
              <a:t>What FT users say is missing on phone</a:t>
            </a:r>
            <a:endParaRPr b="0" i="0" sz="2400" u="none" cap="none" strike="noStrike">
              <a:solidFill>
                <a:schemeClr val="dk1"/>
              </a:solidFill>
              <a:latin typeface="Calibri"/>
              <a:ea typeface="Calibri"/>
              <a:cs typeface="Calibri"/>
              <a:sym typeface="Calibri"/>
            </a:endParaRPr>
          </a:p>
        </p:txBody>
      </p:sp>
      <p:sp>
        <p:nvSpPr>
          <p:cNvPr id="313" name="Google Shape;313;g3d60807834f_0_245"/>
          <p:cNvSpPr/>
          <p:nvPr/>
        </p:nvSpPr>
        <p:spPr>
          <a:xfrm>
            <a:off x="640080" y="886945"/>
            <a:ext cx="7863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We asked: “Is there anything missing or limited?” These are the strongest recurring themes from 430 FT users.</a:t>
            </a:r>
            <a:endParaRPr b="0" i="0" sz="1100" u="none" cap="none" strike="noStrike">
              <a:solidFill>
                <a:schemeClr val="dk1"/>
              </a:solidFill>
              <a:latin typeface="Calibri"/>
              <a:ea typeface="Calibri"/>
              <a:cs typeface="Calibri"/>
              <a:sym typeface="Calibri"/>
            </a:endParaRPr>
          </a:p>
        </p:txBody>
      </p:sp>
      <p:sp>
        <p:nvSpPr>
          <p:cNvPr id="314" name="Google Shape;314;g3d60807834f_0_245"/>
          <p:cNvSpPr/>
          <p:nvPr/>
        </p:nvSpPr>
        <p:spPr>
          <a:xfrm>
            <a:off x="457200" y="1645151"/>
            <a:ext cx="54900" cy="822900"/>
          </a:xfrm>
          <a:prstGeom prst="rect">
            <a:avLst/>
          </a:prstGeom>
          <a:solidFill>
            <a:srgbClr val="C21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3d60807834f_0_245"/>
          <p:cNvSpPr/>
          <p:nvPr/>
        </p:nvSpPr>
        <p:spPr>
          <a:xfrm>
            <a:off x="512064" y="1645151"/>
            <a:ext cx="8174700" cy="822900"/>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g3d60807834f_0_245"/>
          <p:cNvSpPr/>
          <p:nvPr/>
        </p:nvSpPr>
        <p:spPr>
          <a:xfrm>
            <a:off x="731520" y="1718303"/>
            <a:ext cx="76809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400"/>
              <a:buFont typeface="Poppins"/>
              <a:buNone/>
            </a:pPr>
            <a:r>
              <a:rPr b="1" i="0" lang="en-US" sz="1300" u="none" cap="none" strike="noStrike">
                <a:solidFill>
                  <a:srgbClr val="1A1A1A"/>
                </a:solidFill>
                <a:latin typeface="Poppins"/>
                <a:ea typeface="Poppins"/>
                <a:cs typeface="Poppins"/>
                <a:sym typeface="Poppins"/>
              </a:rPr>
              <a:t>Precision and detailed editing is harder on phones compared to desktop</a:t>
            </a:r>
            <a:endParaRPr b="0" i="0" sz="1300" u="none" cap="none" strike="noStrike">
              <a:solidFill>
                <a:schemeClr val="dk1"/>
              </a:solidFill>
              <a:latin typeface="Calibri"/>
              <a:ea typeface="Calibri"/>
              <a:cs typeface="Calibri"/>
              <a:sym typeface="Calibri"/>
            </a:endParaRPr>
          </a:p>
        </p:txBody>
      </p:sp>
      <p:sp>
        <p:nvSpPr>
          <p:cNvPr id="317" name="Google Shape;317;g3d60807834f_0_245"/>
          <p:cNvSpPr/>
          <p:nvPr/>
        </p:nvSpPr>
        <p:spPr>
          <a:xfrm>
            <a:off x="731520" y="2102351"/>
            <a:ext cx="76809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1" lang="en-US" sz="1100" u="none" cap="none" strike="noStrike">
                <a:solidFill>
                  <a:srgbClr val="6B6B6B"/>
                </a:solidFill>
                <a:latin typeface="Poppins"/>
                <a:ea typeface="Poppins"/>
                <a:cs typeface="Poppins"/>
                <a:sym typeface="Poppins"/>
              </a:rPr>
              <a:t>“I can’t get the level of precision I need on any of the apps I use compared to desktop.”</a:t>
            </a:r>
            <a:endParaRPr b="0" i="0" sz="1100" u="none" cap="none" strike="noStrike">
              <a:solidFill>
                <a:schemeClr val="dk1"/>
              </a:solidFill>
              <a:latin typeface="Calibri"/>
              <a:ea typeface="Calibri"/>
              <a:cs typeface="Calibri"/>
              <a:sym typeface="Calibri"/>
            </a:endParaRPr>
          </a:p>
        </p:txBody>
      </p:sp>
      <p:sp>
        <p:nvSpPr>
          <p:cNvPr id="318" name="Google Shape;318;g3d60807834f_0_245"/>
          <p:cNvSpPr/>
          <p:nvPr/>
        </p:nvSpPr>
        <p:spPr>
          <a:xfrm>
            <a:off x="457200" y="2696711"/>
            <a:ext cx="54900" cy="822900"/>
          </a:xfrm>
          <a:prstGeom prst="rect">
            <a:avLst/>
          </a:prstGeom>
          <a:solidFill>
            <a:srgbClr val="C21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d60807834f_0_245"/>
          <p:cNvSpPr/>
          <p:nvPr/>
        </p:nvSpPr>
        <p:spPr>
          <a:xfrm>
            <a:off x="512064" y="2696711"/>
            <a:ext cx="8174700" cy="822900"/>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3d60807834f_0_245"/>
          <p:cNvSpPr/>
          <p:nvPr/>
        </p:nvSpPr>
        <p:spPr>
          <a:xfrm>
            <a:off x="731520" y="2769863"/>
            <a:ext cx="76809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400"/>
              <a:buFont typeface="Poppins"/>
              <a:buNone/>
            </a:pPr>
            <a:r>
              <a:rPr b="1" i="0" lang="en-US" sz="1300" u="none" cap="none" strike="noStrike">
                <a:solidFill>
                  <a:srgbClr val="1A1A1A"/>
                </a:solidFill>
                <a:latin typeface="Poppins"/>
                <a:ea typeface="Poppins"/>
                <a:cs typeface="Poppins"/>
                <a:sym typeface="Poppins"/>
              </a:rPr>
              <a:t>Users wish for more advanced desktop features to be included in mobile apps</a:t>
            </a:r>
            <a:endParaRPr b="0" i="0" sz="1300" u="none" cap="none" strike="noStrike">
              <a:solidFill>
                <a:schemeClr val="dk1"/>
              </a:solidFill>
              <a:latin typeface="Calibri"/>
              <a:ea typeface="Calibri"/>
              <a:cs typeface="Calibri"/>
              <a:sym typeface="Calibri"/>
            </a:endParaRPr>
          </a:p>
        </p:txBody>
      </p:sp>
      <p:sp>
        <p:nvSpPr>
          <p:cNvPr id="321" name="Google Shape;321;g3d60807834f_0_245"/>
          <p:cNvSpPr/>
          <p:nvPr/>
        </p:nvSpPr>
        <p:spPr>
          <a:xfrm>
            <a:off x="731520" y="3153911"/>
            <a:ext cx="76809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1" lang="en-US" sz="1100" u="none" cap="none" strike="noStrike">
                <a:solidFill>
                  <a:srgbClr val="6B6B6B"/>
                </a:solidFill>
                <a:latin typeface="Poppins"/>
                <a:ea typeface="Poppins"/>
                <a:cs typeface="Poppins"/>
                <a:sym typeface="Poppins"/>
              </a:rPr>
              <a:t>“</a:t>
            </a:r>
            <a:r>
              <a:rPr i="1" lang="en-US" sz="1100">
                <a:solidFill>
                  <a:srgbClr val="6B6B6B"/>
                </a:solidFill>
                <a:latin typeface="Poppins"/>
                <a:ea typeface="Poppins"/>
                <a:cs typeface="Poppins"/>
                <a:sym typeface="Poppins"/>
              </a:rPr>
              <a:t>I wish for the phone app version they included what you get on the laptop</a:t>
            </a:r>
            <a:r>
              <a:rPr b="0" i="1" lang="en-US" sz="1100" u="none" cap="none" strike="noStrike">
                <a:solidFill>
                  <a:srgbClr val="6B6B6B"/>
                </a:solidFill>
                <a:latin typeface="Poppins"/>
                <a:ea typeface="Poppins"/>
                <a:cs typeface="Poppins"/>
                <a:sym typeface="Poppins"/>
              </a:rPr>
              <a:t>.”</a:t>
            </a:r>
            <a:endParaRPr b="0" i="0" sz="1100" u="none" cap="none" strike="noStrike">
              <a:solidFill>
                <a:schemeClr val="dk1"/>
              </a:solidFill>
              <a:latin typeface="Calibri"/>
              <a:ea typeface="Calibri"/>
              <a:cs typeface="Calibri"/>
              <a:sym typeface="Calibri"/>
            </a:endParaRPr>
          </a:p>
        </p:txBody>
      </p:sp>
      <p:sp>
        <p:nvSpPr>
          <p:cNvPr id="322" name="Google Shape;322;g3d60807834f_0_245"/>
          <p:cNvSpPr/>
          <p:nvPr/>
        </p:nvSpPr>
        <p:spPr>
          <a:xfrm>
            <a:off x="457200" y="3748271"/>
            <a:ext cx="54900" cy="822900"/>
          </a:xfrm>
          <a:prstGeom prst="rect">
            <a:avLst/>
          </a:prstGeom>
          <a:solidFill>
            <a:srgbClr val="C21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3d60807834f_0_245"/>
          <p:cNvSpPr/>
          <p:nvPr/>
        </p:nvSpPr>
        <p:spPr>
          <a:xfrm>
            <a:off x="512064" y="3748271"/>
            <a:ext cx="8174700" cy="822900"/>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d60807834f_0_245"/>
          <p:cNvSpPr/>
          <p:nvPr/>
        </p:nvSpPr>
        <p:spPr>
          <a:xfrm>
            <a:off x="731520" y="3821423"/>
            <a:ext cx="76809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400"/>
              <a:buFont typeface="Poppins"/>
              <a:buNone/>
            </a:pPr>
            <a:r>
              <a:rPr b="1" i="0" lang="en-US" sz="1300" u="none" cap="none" strike="noStrike">
                <a:solidFill>
                  <a:srgbClr val="1A1A1A"/>
                </a:solidFill>
                <a:latin typeface="Poppins"/>
                <a:ea typeface="Poppins"/>
                <a:cs typeface="Poppins"/>
                <a:sym typeface="Poppins"/>
              </a:rPr>
              <a:t>Using fingers instead of a mouse makes editing less accurate</a:t>
            </a:r>
            <a:endParaRPr b="0" i="0" sz="1300" u="none" cap="none" strike="noStrike">
              <a:solidFill>
                <a:schemeClr val="dk1"/>
              </a:solidFill>
              <a:latin typeface="Calibri"/>
              <a:ea typeface="Calibri"/>
              <a:cs typeface="Calibri"/>
              <a:sym typeface="Calibri"/>
            </a:endParaRPr>
          </a:p>
        </p:txBody>
      </p:sp>
      <p:sp>
        <p:nvSpPr>
          <p:cNvPr id="325" name="Google Shape;325;g3d60807834f_0_245"/>
          <p:cNvSpPr/>
          <p:nvPr/>
        </p:nvSpPr>
        <p:spPr>
          <a:xfrm>
            <a:off x="731520" y="4205471"/>
            <a:ext cx="76809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1" lang="en-US" sz="1100" u="none" cap="none" strike="noStrike">
                <a:solidFill>
                  <a:srgbClr val="6B6B6B"/>
                </a:solidFill>
                <a:latin typeface="Poppins"/>
                <a:ea typeface="Poppins"/>
                <a:cs typeface="Poppins"/>
                <a:sym typeface="Poppins"/>
              </a:rPr>
              <a:t>“It’s hard to remove backgrounds or make adjustments to body/face as doing it with your fingers makes it look sloppy.”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g3d60807834f_0_264"/>
          <p:cNvSpPr/>
          <p:nvPr/>
        </p:nvSpPr>
        <p:spPr>
          <a:xfrm>
            <a:off x="640080" y="320040"/>
            <a:ext cx="7863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400"/>
              <a:buFont typeface="Poppins"/>
              <a:buNone/>
            </a:pPr>
            <a:r>
              <a:rPr b="1" i="0" lang="en-US" sz="2400" u="none" cap="none" strike="noStrike">
                <a:solidFill>
                  <a:srgbClr val="C2185B"/>
                </a:solidFill>
                <a:latin typeface="Poppins"/>
                <a:ea typeface="Poppins"/>
                <a:cs typeface="Poppins"/>
                <a:sym typeface="Poppins"/>
              </a:rPr>
              <a:t>What FT users say is missing on desktop</a:t>
            </a:r>
            <a:endParaRPr b="0" i="0" sz="2400" u="none" cap="none" strike="noStrike">
              <a:solidFill>
                <a:schemeClr val="dk1"/>
              </a:solidFill>
              <a:latin typeface="Calibri"/>
              <a:ea typeface="Calibri"/>
              <a:cs typeface="Calibri"/>
              <a:sym typeface="Calibri"/>
            </a:endParaRPr>
          </a:p>
        </p:txBody>
      </p:sp>
      <p:sp>
        <p:nvSpPr>
          <p:cNvPr id="332" name="Google Shape;332;g3d60807834f_0_264"/>
          <p:cNvSpPr/>
          <p:nvPr/>
        </p:nvSpPr>
        <p:spPr>
          <a:xfrm>
            <a:off x="640080" y="960095"/>
            <a:ext cx="7863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Same question, desktop side. These are the strongest recurring themes from 430 FT users.</a:t>
            </a:r>
            <a:endParaRPr b="0" i="0" sz="1100" u="none" cap="none" strike="noStrike">
              <a:solidFill>
                <a:schemeClr val="dk1"/>
              </a:solidFill>
              <a:latin typeface="Calibri"/>
              <a:ea typeface="Calibri"/>
              <a:cs typeface="Calibri"/>
              <a:sym typeface="Calibri"/>
            </a:endParaRPr>
          </a:p>
        </p:txBody>
      </p:sp>
      <p:sp>
        <p:nvSpPr>
          <p:cNvPr id="333" name="Google Shape;333;g3d60807834f_0_264"/>
          <p:cNvSpPr/>
          <p:nvPr/>
        </p:nvSpPr>
        <p:spPr>
          <a:xfrm>
            <a:off x="457200" y="1678122"/>
            <a:ext cx="54900" cy="822900"/>
          </a:xfrm>
          <a:prstGeom prst="rect">
            <a:avLst/>
          </a:prstGeom>
          <a:solidFill>
            <a:srgbClr val="C21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3d60807834f_0_264"/>
          <p:cNvSpPr/>
          <p:nvPr/>
        </p:nvSpPr>
        <p:spPr>
          <a:xfrm>
            <a:off x="512064" y="1678122"/>
            <a:ext cx="8174700" cy="822900"/>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3d60807834f_0_264"/>
          <p:cNvSpPr/>
          <p:nvPr/>
        </p:nvSpPr>
        <p:spPr>
          <a:xfrm>
            <a:off x="731520" y="1751274"/>
            <a:ext cx="76809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400"/>
              <a:buFont typeface="Poppins"/>
              <a:buNone/>
            </a:pPr>
            <a:r>
              <a:rPr b="1" i="0" lang="en-US" sz="1300" u="none" cap="none" strike="noStrike">
                <a:solidFill>
                  <a:srgbClr val="1A1A1A"/>
                </a:solidFill>
                <a:latin typeface="Poppins"/>
                <a:ea typeface="Poppins"/>
                <a:cs typeface="Poppins"/>
                <a:sym typeface="Poppins"/>
              </a:rPr>
              <a:t>Desktop editing interfaces are too complex </a:t>
            </a:r>
            <a:endParaRPr b="0" i="0" sz="1300" u="none" cap="none" strike="noStrike">
              <a:solidFill>
                <a:schemeClr val="dk1"/>
              </a:solidFill>
              <a:latin typeface="Calibri"/>
              <a:ea typeface="Calibri"/>
              <a:cs typeface="Calibri"/>
              <a:sym typeface="Calibri"/>
            </a:endParaRPr>
          </a:p>
        </p:txBody>
      </p:sp>
      <p:sp>
        <p:nvSpPr>
          <p:cNvPr id="336" name="Google Shape;336;g3d60807834f_0_264"/>
          <p:cNvSpPr/>
          <p:nvPr/>
        </p:nvSpPr>
        <p:spPr>
          <a:xfrm>
            <a:off x="731520" y="2135322"/>
            <a:ext cx="76809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1" lang="en-US" sz="1100" u="none" cap="none" strike="noStrike">
                <a:solidFill>
                  <a:srgbClr val="6B6B6B"/>
                </a:solidFill>
                <a:latin typeface="Poppins"/>
                <a:ea typeface="Poppins"/>
                <a:cs typeface="Poppins"/>
                <a:sym typeface="Poppins"/>
              </a:rPr>
              <a:t>“Editing on desktop can be a lot more complicated and I wish there was an option to simplify the UI and tools for more casual edits.”</a:t>
            </a:r>
            <a:endParaRPr b="0" i="0" sz="1100" u="none" cap="none" strike="noStrike">
              <a:solidFill>
                <a:schemeClr val="dk1"/>
              </a:solidFill>
              <a:latin typeface="Calibri"/>
              <a:ea typeface="Calibri"/>
              <a:cs typeface="Calibri"/>
              <a:sym typeface="Calibri"/>
            </a:endParaRPr>
          </a:p>
        </p:txBody>
      </p:sp>
      <p:sp>
        <p:nvSpPr>
          <p:cNvPr id="337" name="Google Shape;337;g3d60807834f_0_264"/>
          <p:cNvSpPr/>
          <p:nvPr/>
        </p:nvSpPr>
        <p:spPr>
          <a:xfrm>
            <a:off x="457238" y="4015524"/>
            <a:ext cx="54900" cy="822900"/>
          </a:xfrm>
          <a:prstGeom prst="rect">
            <a:avLst/>
          </a:prstGeom>
          <a:solidFill>
            <a:srgbClr val="C21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g3d60807834f_0_264"/>
          <p:cNvSpPr/>
          <p:nvPr/>
        </p:nvSpPr>
        <p:spPr>
          <a:xfrm>
            <a:off x="512101" y="4015524"/>
            <a:ext cx="8174700" cy="822900"/>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d60807834f_0_264"/>
          <p:cNvSpPr/>
          <p:nvPr/>
        </p:nvSpPr>
        <p:spPr>
          <a:xfrm>
            <a:off x="731557" y="4088676"/>
            <a:ext cx="76809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400"/>
              <a:buFont typeface="Poppins"/>
              <a:buNone/>
            </a:pPr>
            <a:r>
              <a:rPr b="1" i="0" lang="en-US" sz="1300" u="none" cap="none" strike="noStrike">
                <a:solidFill>
                  <a:srgbClr val="1A1A1A"/>
                </a:solidFill>
                <a:latin typeface="Poppins"/>
                <a:ea typeface="Poppins"/>
                <a:cs typeface="Poppins"/>
                <a:sym typeface="Poppins"/>
              </a:rPr>
              <a:t>Performance issues </a:t>
            </a:r>
            <a:r>
              <a:rPr b="1" lang="en-US" sz="1300">
                <a:solidFill>
                  <a:srgbClr val="1A1A1A"/>
                </a:solidFill>
                <a:latin typeface="Poppins"/>
                <a:ea typeface="Poppins"/>
                <a:cs typeface="Poppins"/>
                <a:sym typeface="Poppins"/>
              </a:rPr>
              <a:t>-</a:t>
            </a:r>
            <a:r>
              <a:rPr b="1" i="0" lang="en-US" sz="1300" u="none" cap="none" strike="noStrike">
                <a:solidFill>
                  <a:srgbClr val="1A1A1A"/>
                </a:solidFill>
                <a:latin typeface="Poppins"/>
                <a:ea typeface="Poppins"/>
                <a:cs typeface="Poppins"/>
                <a:sym typeface="Poppins"/>
              </a:rPr>
              <a:t> lag and slow processing</a:t>
            </a:r>
            <a:endParaRPr b="0" i="0" sz="1300" u="none" cap="none" strike="noStrike">
              <a:solidFill>
                <a:schemeClr val="dk1"/>
              </a:solidFill>
              <a:latin typeface="Calibri"/>
              <a:ea typeface="Calibri"/>
              <a:cs typeface="Calibri"/>
              <a:sym typeface="Calibri"/>
            </a:endParaRPr>
          </a:p>
        </p:txBody>
      </p:sp>
      <p:sp>
        <p:nvSpPr>
          <p:cNvPr id="340" name="Google Shape;340;g3d60807834f_0_264"/>
          <p:cNvSpPr/>
          <p:nvPr/>
        </p:nvSpPr>
        <p:spPr>
          <a:xfrm>
            <a:off x="731557" y="4472724"/>
            <a:ext cx="76809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1" lang="en-US" sz="1100" u="none" cap="none" strike="noStrike">
                <a:solidFill>
                  <a:srgbClr val="6B6B6B"/>
                </a:solidFill>
                <a:latin typeface="Poppins"/>
                <a:ea typeface="Poppins"/>
                <a:cs typeface="Poppins"/>
                <a:sym typeface="Poppins"/>
              </a:rPr>
              <a:t>“I find the lag to be difficult when editing on desktop, specifically on Adobe Lightroom. The download process seems to take a little bit longer too.”</a:t>
            </a:r>
            <a:endParaRPr b="0" i="0" sz="1100" u="none" cap="none" strike="noStrike">
              <a:solidFill>
                <a:schemeClr val="dk1"/>
              </a:solidFill>
              <a:latin typeface="Calibri"/>
              <a:ea typeface="Calibri"/>
              <a:cs typeface="Calibri"/>
              <a:sym typeface="Calibri"/>
            </a:endParaRPr>
          </a:p>
        </p:txBody>
      </p:sp>
      <p:sp>
        <p:nvSpPr>
          <p:cNvPr id="341" name="Google Shape;341;g3d60807834f_0_264"/>
          <p:cNvSpPr/>
          <p:nvPr/>
        </p:nvSpPr>
        <p:spPr>
          <a:xfrm>
            <a:off x="457238" y="2846817"/>
            <a:ext cx="54900" cy="822900"/>
          </a:xfrm>
          <a:prstGeom prst="rect">
            <a:avLst/>
          </a:prstGeom>
          <a:solidFill>
            <a:srgbClr val="C21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g3d60807834f_0_264"/>
          <p:cNvSpPr/>
          <p:nvPr/>
        </p:nvSpPr>
        <p:spPr>
          <a:xfrm>
            <a:off x="512101" y="2846817"/>
            <a:ext cx="8174700" cy="822900"/>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g3d60807834f_0_264"/>
          <p:cNvSpPr/>
          <p:nvPr/>
        </p:nvSpPr>
        <p:spPr>
          <a:xfrm>
            <a:off x="731557" y="2919969"/>
            <a:ext cx="76809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400"/>
              <a:buFont typeface="Poppins"/>
              <a:buNone/>
            </a:pPr>
            <a:r>
              <a:rPr b="1" i="0" lang="en-US" sz="1300" u="none" cap="none" strike="noStrike">
                <a:solidFill>
                  <a:srgbClr val="1A1A1A"/>
                </a:solidFill>
                <a:latin typeface="Poppins"/>
                <a:ea typeface="Poppins"/>
                <a:cs typeface="Poppins"/>
                <a:sym typeface="Poppins"/>
              </a:rPr>
              <a:t>Users wish desktop had mobile-like beauty features and presets</a:t>
            </a:r>
            <a:endParaRPr b="0" i="0" sz="1300" u="none" cap="none" strike="noStrike">
              <a:solidFill>
                <a:schemeClr val="dk1"/>
              </a:solidFill>
              <a:latin typeface="Calibri"/>
              <a:ea typeface="Calibri"/>
              <a:cs typeface="Calibri"/>
              <a:sym typeface="Calibri"/>
            </a:endParaRPr>
          </a:p>
        </p:txBody>
      </p:sp>
      <p:sp>
        <p:nvSpPr>
          <p:cNvPr id="344" name="Google Shape;344;g3d60807834f_0_264"/>
          <p:cNvSpPr/>
          <p:nvPr/>
        </p:nvSpPr>
        <p:spPr>
          <a:xfrm>
            <a:off x="731557" y="3304017"/>
            <a:ext cx="76809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1" lang="en-US" sz="1100" u="none" cap="none" strike="noStrike">
                <a:solidFill>
                  <a:srgbClr val="6B6B6B"/>
                </a:solidFill>
                <a:latin typeface="Poppins"/>
                <a:ea typeface="Poppins"/>
                <a:cs typeface="Poppins"/>
                <a:sym typeface="Poppins"/>
              </a:rPr>
              <a:t>“When using Canva I don’t have the ability to edit images as I would on Facetune. So I use it more for creating flyers and invites.”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11"/>
          <p:cNvSpPr/>
          <p:nvPr/>
        </p:nvSpPr>
        <p:spPr>
          <a:xfrm>
            <a:off x="640080" y="32004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400"/>
              <a:buFont typeface="Poppins"/>
              <a:buNone/>
            </a:pPr>
            <a:r>
              <a:rPr b="1" i="0" lang="en-US" sz="2400" u="none" cap="none" strike="noStrike">
                <a:solidFill>
                  <a:srgbClr val="C2185B"/>
                </a:solidFill>
                <a:latin typeface="Poppins"/>
                <a:ea typeface="Poppins"/>
                <a:cs typeface="Poppins"/>
                <a:sym typeface="Poppins"/>
              </a:rPr>
              <a:t>Age shapes device preference</a:t>
            </a:r>
            <a:r>
              <a:rPr b="1" lang="en-US" sz="2400">
                <a:solidFill>
                  <a:srgbClr val="C2185B"/>
                </a:solidFill>
                <a:latin typeface="Poppins"/>
                <a:ea typeface="Poppins"/>
                <a:cs typeface="Poppins"/>
                <a:sym typeface="Poppins"/>
              </a:rPr>
              <a:t> for FT users</a:t>
            </a:r>
            <a:endParaRPr b="0" i="0" sz="2400" u="none" cap="none" strike="noStrike">
              <a:solidFill>
                <a:schemeClr val="dk1"/>
              </a:solidFill>
              <a:latin typeface="Calibri"/>
              <a:ea typeface="Calibri"/>
              <a:cs typeface="Calibri"/>
              <a:sym typeface="Calibri"/>
            </a:endParaRPr>
          </a:p>
        </p:txBody>
      </p:sp>
      <p:sp>
        <p:nvSpPr>
          <p:cNvPr id="351" name="Google Shape;351;p11"/>
          <p:cNvSpPr/>
          <p:nvPr/>
        </p:nvSpPr>
        <p:spPr>
          <a:xfrm>
            <a:off x="457200" y="1383031"/>
            <a:ext cx="8229600" cy="365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
          <p:cNvSpPr/>
          <p:nvPr/>
        </p:nvSpPr>
        <p:spPr>
          <a:xfrm>
            <a:off x="548640" y="1410463"/>
            <a:ext cx="1097400" cy="320100"/>
          </a:xfrm>
          <a:prstGeom prst="rect">
            <a:avLst/>
          </a:prstGeom>
          <a:solidFill>
            <a:schemeClr val="dk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Age group</a:t>
            </a:r>
            <a:endParaRPr b="0" i="0" sz="1100" u="none" cap="none" strike="noStrike">
              <a:solidFill>
                <a:schemeClr val="dk1"/>
              </a:solidFill>
              <a:latin typeface="Calibri"/>
              <a:ea typeface="Calibri"/>
              <a:cs typeface="Calibri"/>
              <a:sym typeface="Calibri"/>
            </a:endParaRPr>
          </a:p>
        </p:txBody>
      </p:sp>
      <p:sp>
        <p:nvSpPr>
          <p:cNvPr id="353" name="Google Shape;353;p11"/>
          <p:cNvSpPr/>
          <p:nvPr/>
        </p:nvSpPr>
        <p:spPr>
          <a:xfrm>
            <a:off x="1737360" y="1410463"/>
            <a:ext cx="1371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 desktop-lean</a:t>
            </a:r>
            <a:endParaRPr b="0" i="0" sz="1100" u="none" cap="none" strike="noStrike">
              <a:solidFill>
                <a:schemeClr val="dk1"/>
              </a:solidFill>
              <a:latin typeface="Calibri"/>
              <a:ea typeface="Calibri"/>
              <a:cs typeface="Calibri"/>
              <a:sym typeface="Calibri"/>
            </a:endParaRPr>
          </a:p>
        </p:txBody>
      </p:sp>
      <p:sp>
        <p:nvSpPr>
          <p:cNvPr id="354" name="Google Shape;354;p11"/>
          <p:cNvSpPr/>
          <p:nvPr/>
        </p:nvSpPr>
        <p:spPr>
          <a:xfrm>
            <a:off x="3200400" y="1383031"/>
            <a:ext cx="1463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Poppins"/>
              <a:buNone/>
            </a:pPr>
            <a:r>
              <a:rPr b="1" i="0" lang="en-US" sz="1000" u="none" cap="none" strike="noStrike">
                <a:solidFill>
                  <a:srgbClr val="FFFFFF"/>
                </a:solidFill>
                <a:latin typeface="Poppins"/>
                <a:ea typeface="Poppins"/>
                <a:cs typeface="Poppins"/>
                <a:sym typeface="Poppins"/>
              </a:rPr>
              <a:t>Photo editing pref</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00"/>
              <a:buFont typeface="Poppins"/>
              <a:buNone/>
            </a:pPr>
            <a:r>
              <a:rPr b="1" i="0" lang="en-US" sz="1000" u="none" cap="none" strike="noStrike">
                <a:solidFill>
                  <a:srgbClr val="FFFFFF"/>
                </a:solidFill>
                <a:latin typeface="Poppins"/>
                <a:ea typeface="Poppins"/>
                <a:cs typeface="Poppins"/>
                <a:sym typeface="Poppins"/>
              </a:rPr>
              <a:t>(1=phone, 5=desktop)</a:t>
            </a:r>
            <a:endParaRPr b="0" i="0" sz="1000" u="none" cap="none" strike="noStrike">
              <a:solidFill>
                <a:schemeClr val="dk1"/>
              </a:solidFill>
              <a:latin typeface="Calibri"/>
              <a:ea typeface="Calibri"/>
              <a:cs typeface="Calibri"/>
              <a:sym typeface="Calibri"/>
            </a:endParaRPr>
          </a:p>
        </p:txBody>
      </p:sp>
      <p:sp>
        <p:nvSpPr>
          <p:cNvPr id="355" name="Google Shape;355;p11"/>
          <p:cNvSpPr/>
          <p:nvPr/>
        </p:nvSpPr>
        <p:spPr>
          <a:xfrm>
            <a:off x="4754880" y="1410463"/>
            <a:ext cx="393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Key behavior</a:t>
            </a:r>
            <a:endParaRPr b="0" i="0" sz="1100" u="none" cap="none" strike="noStrike">
              <a:solidFill>
                <a:schemeClr val="dk1"/>
              </a:solidFill>
              <a:latin typeface="Calibri"/>
              <a:ea typeface="Calibri"/>
              <a:cs typeface="Calibri"/>
              <a:sym typeface="Calibri"/>
            </a:endParaRPr>
          </a:p>
        </p:txBody>
      </p:sp>
      <p:sp>
        <p:nvSpPr>
          <p:cNvPr id="356" name="Google Shape;356;p11"/>
          <p:cNvSpPr/>
          <p:nvPr/>
        </p:nvSpPr>
        <p:spPr>
          <a:xfrm>
            <a:off x="457200" y="1794511"/>
            <a:ext cx="8229600" cy="4572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p:nvPr/>
        </p:nvSpPr>
        <p:spPr>
          <a:xfrm>
            <a:off x="548640" y="1867663"/>
            <a:ext cx="1097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18–24</a:t>
            </a:r>
            <a:endParaRPr b="0" i="0" sz="1100" u="none" cap="none" strike="noStrike">
              <a:solidFill>
                <a:schemeClr val="dk1"/>
              </a:solidFill>
              <a:latin typeface="Calibri"/>
              <a:ea typeface="Calibri"/>
              <a:cs typeface="Calibri"/>
              <a:sym typeface="Calibri"/>
            </a:endParaRPr>
          </a:p>
        </p:txBody>
      </p:sp>
      <p:sp>
        <p:nvSpPr>
          <p:cNvPr id="358" name="Google Shape;358;p11"/>
          <p:cNvSpPr/>
          <p:nvPr/>
        </p:nvSpPr>
        <p:spPr>
          <a:xfrm>
            <a:off x="1737360" y="1867663"/>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200"/>
              <a:buFont typeface="Poppins"/>
              <a:buNone/>
            </a:pPr>
            <a:r>
              <a:rPr b="1" i="0" lang="en-US" sz="1200" u="none" cap="none" strike="noStrike">
                <a:solidFill>
                  <a:srgbClr val="2D2D2D"/>
                </a:solidFill>
                <a:latin typeface="Poppins"/>
                <a:ea typeface="Poppins"/>
                <a:cs typeface="Poppins"/>
                <a:sym typeface="Poppins"/>
              </a:rPr>
              <a:t>22%</a:t>
            </a:r>
            <a:endParaRPr b="0" i="0" sz="1200" u="none" cap="none" strike="noStrike">
              <a:solidFill>
                <a:schemeClr val="dk1"/>
              </a:solidFill>
              <a:latin typeface="Calibri"/>
              <a:ea typeface="Calibri"/>
              <a:cs typeface="Calibri"/>
              <a:sym typeface="Calibri"/>
            </a:endParaRPr>
          </a:p>
        </p:txBody>
      </p:sp>
      <p:sp>
        <p:nvSpPr>
          <p:cNvPr id="359" name="Google Shape;359;p11"/>
          <p:cNvSpPr/>
          <p:nvPr/>
        </p:nvSpPr>
        <p:spPr>
          <a:xfrm>
            <a:off x="3200400" y="1867663"/>
            <a:ext cx="1463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2.67</a:t>
            </a:r>
            <a:endParaRPr b="0" i="0" sz="1100" u="none" cap="none" strike="noStrike">
              <a:solidFill>
                <a:schemeClr val="dk1"/>
              </a:solidFill>
              <a:latin typeface="Calibri"/>
              <a:ea typeface="Calibri"/>
              <a:cs typeface="Calibri"/>
              <a:sym typeface="Calibri"/>
            </a:endParaRPr>
          </a:p>
        </p:txBody>
      </p:sp>
      <p:sp>
        <p:nvSpPr>
          <p:cNvPr id="360" name="Google Shape;360;p11"/>
          <p:cNvSpPr/>
          <p:nvPr/>
        </p:nvSpPr>
        <p:spPr>
          <a:xfrm>
            <a:off x="4754880" y="1867663"/>
            <a:ext cx="39318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D2D2D"/>
              </a:buClr>
              <a:buSzPts val="1100"/>
              <a:buFont typeface="Poppins"/>
              <a:buNone/>
            </a:pPr>
            <a:r>
              <a:rPr b="1" i="0" lang="en-US" sz="1100" u="none" cap="none" strike="noStrike">
                <a:solidFill>
                  <a:srgbClr val="F48FB1"/>
                </a:solidFill>
                <a:latin typeface="Poppins"/>
                <a:ea typeface="Poppins"/>
                <a:cs typeface="Poppins"/>
                <a:sym typeface="Poppins"/>
              </a:rPr>
              <a:t>Most phone-oriented:</a:t>
            </a:r>
            <a:r>
              <a:rPr b="0" i="0" lang="en-US" sz="1100" u="none" cap="none" strike="noStrike">
                <a:solidFill>
                  <a:srgbClr val="2D2D2D"/>
                </a:solidFill>
                <a:latin typeface="Poppins"/>
                <a:ea typeface="Poppins"/>
                <a:cs typeface="Poppins"/>
                <a:sym typeface="Poppins"/>
              </a:rPr>
              <a:t> 67% say "it was more convenient" as their #1 reason for editing on phone</a:t>
            </a:r>
            <a:endParaRPr sz="1100">
              <a:solidFill>
                <a:srgbClr val="2D2D2D"/>
              </a:solidFill>
              <a:latin typeface="Poppins"/>
              <a:ea typeface="Poppins"/>
              <a:cs typeface="Poppins"/>
              <a:sym typeface="Poppins"/>
            </a:endParaRPr>
          </a:p>
        </p:txBody>
      </p:sp>
      <p:sp>
        <p:nvSpPr>
          <p:cNvPr id="361" name="Google Shape;361;p11"/>
          <p:cNvSpPr/>
          <p:nvPr/>
        </p:nvSpPr>
        <p:spPr>
          <a:xfrm>
            <a:off x="457200" y="2297431"/>
            <a:ext cx="8229600"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1"/>
          <p:cNvSpPr/>
          <p:nvPr/>
        </p:nvSpPr>
        <p:spPr>
          <a:xfrm>
            <a:off x="548640" y="2370583"/>
            <a:ext cx="1097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25–34</a:t>
            </a:r>
            <a:endParaRPr b="0" i="0" sz="1100" u="none" cap="none" strike="noStrike">
              <a:solidFill>
                <a:schemeClr val="dk1"/>
              </a:solidFill>
              <a:latin typeface="Calibri"/>
              <a:ea typeface="Calibri"/>
              <a:cs typeface="Calibri"/>
              <a:sym typeface="Calibri"/>
            </a:endParaRPr>
          </a:p>
        </p:txBody>
      </p:sp>
      <p:sp>
        <p:nvSpPr>
          <p:cNvPr id="363" name="Google Shape;363;p11"/>
          <p:cNvSpPr/>
          <p:nvPr/>
        </p:nvSpPr>
        <p:spPr>
          <a:xfrm>
            <a:off x="1737360" y="2370583"/>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200"/>
              <a:buFont typeface="Poppins"/>
              <a:buNone/>
            </a:pPr>
            <a:r>
              <a:rPr b="1" i="0" lang="en-US" sz="1200" u="none" cap="none" strike="noStrike">
                <a:solidFill>
                  <a:srgbClr val="2D2D2D"/>
                </a:solidFill>
                <a:latin typeface="Poppins"/>
                <a:ea typeface="Poppins"/>
                <a:cs typeface="Poppins"/>
                <a:sym typeface="Poppins"/>
              </a:rPr>
              <a:t>44%</a:t>
            </a:r>
            <a:endParaRPr b="0" i="0" sz="1200" u="none" cap="none" strike="noStrike">
              <a:solidFill>
                <a:schemeClr val="dk1"/>
              </a:solidFill>
              <a:latin typeface="Calibri"/>
              <a:ea typeface="Calibri"/>
              <a:cs typeface="Calibri"/>
              <a:sym typeface="Calibri"/>
            </a:endParaRPr>
          </a:p>
        </p:txBody>
      </p:sp>
      <p:sp>
        <p:nvSpPr>
          <p:cNvPr id="364" name="Google Shape;364;p11"/>
          <p:cNvSpPr/>
          <p:nvPr/>
        </p:nvSpPr>
        <p:spPr>
          <a:xfrm>
            <a:off x="3200400" y="2370583"/>
            <a:ext cx="1463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3.20</a:t>
            </a:r>
            <a:endParaRPr b="0" i="0" sz="1100" u="none" cap="none" strike="noStrike">
              <a:solidFill>
                <a:schemeClr val="dk1"/>
              </a:solidFill>
              <a:latin typeface="Calibri"/>
              <a:ea typeface="Calibri"/>
              <a:cs typeface="Calibri"/>
              <a:sym typeface="Calibri"/>
            </a:endParaRPr>
          </a:p>
        </p:txBody>
      </p:sp>
      <p:sp>
        <p:nvSpPr>
          <p:cNvPr id="365" name="Google Shape;365;p11"/>
          <p:cNvSpPr/>
          <p:nvPr/>
        </p:nvSpPr>
        <p:spPr>
          <a:xfrm>
            <a:off x="4754880" y="2370583"/>
            <a:ext cx="39318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Balanced: growing desktop use, especially for professional/work edits</a:t>
            </a:r>
            <a:endParaRPr b="0" i="0" sz="1100" u="none" cap="none" strike="noStrike">
              <a:solidFill>
                <a:schemeClr val="dk1"/>
              </a:solidFill>
              <a:latin typeface="Calibri"/>
              <a:ea typeface="Calibri"/>
              <a:cs typeface="Calibri"/>
              <a:sym typeface="Calibri"/>
            </a:endParaRPr>
          </a:p>
        </p:txBody>
      </p:sp>
      <p:sp>
        <p:nvSpPr>
          <p:cNvPr id="366" name="Google Shape;366;p11"/>
          <p:cNvSpPr/>
          <p:nvPr/>
        </p:nvSpPr>
        <p:spPr>
          <a:xfrm>
            <a:off x="457200" y="2800351"/>
            <a:ext cx="8229600" cy="4572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p:nvPr/>
        </p:nvSpPr>
        <p:spPr>
          <a:xfrm>
            <a:off x="548640" y="2873503"/>
            <a:ext cx="1097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35–44</a:t>
            </a:r>
            <a:endParaRPr b="0" i="0" sz="1100" u="none" cap="none" strike="noStrike">
              <a:solidFill>
                <a:schemeClr val="dk1"/>
              </a:solidFill>
              <a:latin typeface="Calibri"/>
              <a:ea typeface="Calibri"/>
              <a:cs typeface="Calibri"/>
              <a:sym typeface="Calibri"/>
            </a:endParaRPr>
          </a:p>
        </p:txBody>
      </p:sp>
      <p:sp>
        <p:nvSpPr>
          <p:cNvPr id="368" name="Google Shape;368;p11"/>
          <p:cNvSpPr/>
          <p:nvPr/>
        </p:nvSpPr>
        <p:spPr>
          <a:xfrm>
            <a:off x="1737360" y="2873503"/>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1E63"/>
              </a:buClr>
              <a:buSzPts val="1200"/>
              <a:buFont typeface="Poppins"/>
              <a:buNone/>
            </a:pPr>
            <a:r>
              <a:rPr b="1" i="0" lang="en-US" sz="1200" u="none" cap="none" strike="noStrike">
                <a:solidFill>
                  <a:srgbClr val="E91E63"/>
                </a:solidFill>
                <a:latin typeface="Poppins"/>
                <a:ea typeface="Poppins"/>
                <a:cs typeface="Poppins"/>
                <a:sym typeface="Poppins"/>
              </a:rPr>
              <a:t>57%</a:t>
            </a:r>
            <a:endParaRPr b="0" i="0" sz="1200" u="none" cap="none" strike="noStrike">
              <a:solidFill>
                <a:schemeClr val="dk1"/>
              </a:solidFill>
              <a:latin typeface="Calibri"/>
              <a:ea typeface="Calibri"/>
              <a:cs typeface="Calibri"/>
              <a:sym typeface="Calibri"/>
            </a:endParaRPr>
          </a:p>
        </p:txBody>
      </p:sp>
      <p:sp>
        <p:nvSpPr>
          <p:cNvPr id="369" name="Google Shape;369;p11"/>
          <p:cNvSpPr/>
          <p:nvPr/>
        </p:nvSpPr>
        <p:spPr>
          <a:xfrm>
            <a:off x="3200400" y="2873503"/>
            <a:ext cx="1463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3.58</a:t>
            </a:r>
            <a:endParaRPr b="0" i="0" sz="1100" u="none" cap="none" strike="noStrike">
              <a:solidFill>
                <a:schemeClr val="dk1"/>
              </a:solidFill>
              <a:latin typeface="Calibri"/>
              <a:ea typeface="Calibri"/>
              <a:cs typeface="Calibri"/>
              <a:sym typeface="Calibri"/>
            </a:endParaRPr>
          </a:p>
        </p:txBody>
      </p:sp>
      <p:sp>
        <p:nvSpPr>
          <p:cNvPr id="370" name="Google Shape;370;p11"/>
          <p:cNvSpPr/>
          <p:nvPr/>
        </p:nvSpPr>
        <p:spPr>
          <a:xfrm>
            <a:off x="4754880" y="2873503"/>
            <a:ext cx="39318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D2D2D"/>
              </a:buClr>
              <a:buSzPts val="1100"/>
              <a:buFont typeface="Poppins"/>
              <a:buNone/>
            </a:pPr>
            <a:r>
              <a:rPr b="1" i="0" lang="en-US" sz="1100" u="none" cap="none" strike="noStrike">
                <a:solidFill>
                  <a:srgbClr val="C2185B"/>
                </a:solidFill>
                <a:latin typeface="Poppins"/>
                <a:ea typeface="Poppins"/>
                <a:cs typeface="Poppins"/>
                <a:sym typeface="Poppins"/>
              </a:rPr>
              <a:t>Most desktop-leaning:</a:t>
            </a:r>
            <a:r>
              <a:rPr b="0" i="0" lang="en-US" sz="1100" u="none" cap="none" strike="noStrike">
                <a:solidFill>
                  <a:srgbClr val="2D2D2D"/>
                </a:solidFill>
                <a:latin typeface="Poppins"/>
                <a:ea typeface="Poppins"/>
                <a:cs typeface="Poppins"/>
                <a:sym typeface="Poppins"/>
              </a:rPr>
              <a:t> highest preference for precision and control</a:t>
            </a:r>
            <a:endParaRPr b="0" i="0" sz="1100" u="none" cap="none" strike="noStrike">
              <a:solidFill>
                <a:schemeClr val="dk1"/>
              </a:solidFill>
              <a:latin typeface="Calibri"/>
              <a:ea typeface="Calibri"/>
              <a:cs typeface="Calibri"/>
              <a:sym typeface="Calibri"/>
            </a:endParaRPr>
          </a:p>
        </p:txBody>
      </p:sp>
      <p:sp>
        <p:nvSpPr>
          <p:cNvPr id="371" name="Google Shape;371;p11"/>
          <p:cNvSpPr/>
          <p:nvPr/>
        </p:nvSpPr>
        <p:spPr>
          <a:xfrm>
            <a:off x="457200" y="3303271"/>
            <a:ext cx="8229600" cy="45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1"/>
          <p:cNvSpPr/>
          <p:nvPr/>
        </p:nvSpPr>
        <p:spPr>
          <a:xfrm>
            <a:off x="548640" y="3376423"/>
            <a:ext cx="1097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45–54</a:t>
            </a:r>
            <a:endParaRPr b="0" i="0" sz="1100" u="none" cap="none" strike="noStrike">
              <a:solidFill>
                <a:schemeClr val="dk1"/>
              </a:solidFill>
              <a:latin typeface="Calibri"/>
              <a:ea typeface="Calibri"/>
              <a:cs typeface="Calibri"/>
              <a:sym typeface="Calibri"/>
            </a:endParaRPr>
          </a:p>
        </p:txBody>
      </p:sp>
      <p:sp>
        <p:nvSpPr>
          <p:cNvPr id="373" name="Google Shape;373;p11"/>
          <p:cNvSpPr/>
          <p:nvPr/>
        </p:nvSpPr>
        <p:spPr>
          <a:xfrm>
            <a:off x="1737360" y="3376423"/>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200"/>
              <a:buFont typeface="Poppins"/>
              <a:buNone/>
            </a:pPr>
            <a:r>
              <a:rPr b="1" i="0" lang="en-US" sz="1200" u="none" cap="none" strike="noStrike">
                <a:solidFill>
                  <a:srgbClr val="2D2D2D"/>
                </a:solidFill>
                <a:latin typeface="Poppins"/>
                <a:ea typeface="Poppins"/>
                <a:cs typeface="Poppins"/>
                <a:sym typeface="Poppins"/>
              </a:rPr>
              <a:t>35%</a:t>
            </a:r>
            <a:endParaRPr b="0" i="0" sz="1200" u="none" cap="none" strike="noStrike">
              <a:solidFill>
                <a:schemeClr val="dk1"/>
              </a:solidFill>
              <a:latin typeface="Calibri"/>
              <a:ea typeface="Calibri"/>
              <a:cs typeface="Calibri"/>
              <a:sym typeface="Calibri"/>
            </a:endParaRPr>
          </a:p>
        </p:txBody>
      </p:sp>
      <p:sp>
        <p:nvSpPr>
          <p:cNvPr id="374" name="Google Shape;374;p11"/>
          <p:cNvSpPr/>
          <p:nvPr/>
        </p:nvSpPr>
        <p:spPr>
          <a:xfrm>
            <a:off x="3200400" y="3376423"/>
            <a:ext cx="1463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3.21</a:t>
            </a:r>
            <a:endParaRPr b="0" i="0" sz="1100" u="none" cap="none" strike="noStrike">
              <a:solidFill>
                <a:schemeClr val="dk1"/>
              </a:solidFill>
              <a:latin typeface="Calibri"/>
              <a:ea typeface="Calibri"/>
              <a:cs typeface="Calibri"/>
              <a:sym typeface="Calibri"/>
            </a:endParaRPr>
          </a:p>
        </p:txBody>
      </p:sp>
      <p:sp>
        <p:nvSpPr>
          <p:cNvPr id="375" name="Google Shape;375;p11"/>
          <p:cNvSpPr/>
          <p:nvPr/>
        </p:nvSpPr>
        <p:spPr>
          <a:xfrm>
            <a:off x="4754880" y="3376423"/>
            <a:ext cx="39318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Back toward middle: less likely to seek control/precision (30%)</a:t>
            </a:r>
            <a:endParaRPr b="0" i="0" sz="1100" u="none" cap="none" strike="noStrike">
              <a:solidFill>
                <a:schemeClr val="dk1"/>
              </a:solidFill>
              <a:latin typeface="Calibri"/>
              <a:ea typeface="Calibri"/>
              <a:cs typeface="Calibri"/>
              <a:sym typeface="Calibri"/>
            </a:endParaRPr>
          </a:p>
        </p:txBody>
      </p:sp>
      <p:sp>
        <p:nvSpPr>
          <p:cNvPr id="376" name="Google Shape;376;p11"/>
          <p:cNvSpPr/>
          <p:nvPr/>
        </p:nvSpPr>
        <p:spPr>
          <a:xfrm>
            <a:off x="457200" y="4526280"/>
            <a:ext cx="8229600" cy="4572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1"/>
          <p:cNvSpPr/>
          <p:nvPr/>
        </p:nvSpPr>
        <p:spPr>
          <a:xfrm>
            <a:off x="457200" y="4526280"/>
            <a:ext cx="54864" cy="457200"/>
          </a:xfrm>
          <a:prstGeom prst="rect">
            <a:avLst/>
          </a:prstGeom>
          <a:solidFill>
            <a:srgbClr val="E91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731520" y="4572000"/>
            <a:ext cx="7680960" cy="3657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91E63"/>
              </a:buClr>
              <a:buSzPts val="1100"/>
              <a:buFont typeface="Poppins"/>
              <a:buNone/>
            </a:pPr>
            <a:r>
              <a:rPr b="1" lang="en-US" sz="800">
                <a:solidFill>
                  <a:srgbClr val="E91E63"/>
                </a:solidFill>
                <a:latin typeface="Poppins"/>
                <a:ea typeface="Poppins"/>
                <a:cs typeface="Poppins"/>
                <a:sym typeface="Poppins"/>
              </a:rPr>
              <a:t>Note</a:t>
            </a:r>
            <a:r>
              <a:rPr b="1" i="0" lang="en-US" sz="800" u="none" cap="none" strike="noStrike">
                <a:solidFill>
                  <a:srgbClr val="E91E63"/>
                </a:solidFill>
                <a:latin typeface="Poppins"/>
                <a:ea typeface="Poppins"/>
                <a:cs typeface="Poppins"/>
                <a:sym typeface="Poppins"/>
              </a:rPr>
              <a:t>: </a:t>
            </a:r>
            <a:r>
              <a:rPr b="0" i="0" lang="en-US" sz="800" u="none" cap="none" strike="noStrike">
                <a:solidFill>
                  <a:srgbClr val="2D2D2D"/>
                </a:solidFill>
                <a:latin typeface="Poppins"/>
                <a:ea typeface="Poppins"/>
                <a:cs typeface="Poppins"/>
                <a:sym typeface="Poppins"/>
              </a:rPr>
              <a:t>Survey demographics ≠ app demographics. The 35–44 group is over-represented in our survey (~43% of respondents but ~20% of actual app users). These findings show </a:t>
            </a:r>
            <a:r>
              <a:rPr i="0" lang="en-US" sz="800" u="none" cap="none" strike="noStrike">
                <a:solidFill>
                  <a:srgbClr val="2D2D2D"/>
                </a:solidFill>
                <a:latin typeface="Poppins"/>
                <a:ea typeface="Poppins"/>
                <a:cs typeface="Poppins"/>
                <a:sym typeface="Poppins"/>
              </a:rPr>
              <a:t>behavioral differences between age groups, not the size of each group in our user base.</a:t>
            </a:r>
            <a:endParaRPr i="0" sz="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12"/>
          <p:cNvSpPr/>
          <p:nvPr/>
        </p:nvSpPr>
        <p:spPr>
          <a:xfrm>
            <a:off x="640080" y="320040"/>
            <a:ext cx="786384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2185B"/>
              </a:buClr>
              <a:buSzPts val="2400"/>
              <a:buFont typeface="Poppins"/>
              <a:buNone/>
            </a:pPr>
            <a:r>
              <a:rPr b="1" i="0" lang="en-US" sz="2100" u="none" cap="none" strike="noStrike">
                <a:solidFill>
                  <a:srgbClr val="C2185B"/>
                </a:solidFill>
                <a:latin typeface="Poppins"/>
                <a:ea typeface="Poppins"/>
                <a:cs typeface="Poppins"/>
                <a:sym typeface="Poppins"/>
              </a:rPr>
              <a:t>Gender differences in device preference are large </a:t>
            </a:r>
            <a:r>
              <a:rPr b="1" lang="en-US" sz="2100">
                <a:solidFill>
                  <a:srgbClr val="C2185B"/>
                </a:solidFill>
                <a:latin typeface="Poppins"/>
                <a:ea typeface="Poppins"/>
                <a:cs typeface="Poppins"/>
                <a:sym typeface="Poppins"/>
              </a:rPr>
              <a:t>-</a:t>
            </a:r>
            <a:r>
              <a:rPr b="1" i="0" lang="en-US" sz="2100" u="none" cap="none" strike="noStrike">
                <a:solidFill>
                  <a:srgbClr val="C2185B"/>
                </a:solidFill>
                <a:latin typeface="Poppins"/>
                <a:ea typeface="Poppins"/>
                <a:cs typeface="Poppins"/>
                <a:sym typeface="Poppins"/>
              </a:rPr>
              <a:t> especially for FT users</a:t>
            </a:r>
            <a:endParaRPr b="0" i="0" sz="2100" u="none" cap="none" strike="noStrike">
              <a:solidFill>
                <a:schemeClr val="dk1"/>
              </a:solidFill>
              <a:latin typeface="Calibri"/>
              <a:ea typeface="Calibri"/>
              <a:cs typeface="Calibri"/>
              <a:sym typeface="Calibri"/>
            </a:endParaRPr>
          </a:p>
        </p:txBody>
      </p:sp>
      <p:sp>
        <p:nvSpPr>
          <p:cNvPr id="385" name="Google Shape;385;p12"/>
          <p:cNvSpPr/>
          <p:nvPr/>
        </p:nvSpPr>
        <p:spPr>
          <a:xfrm>
            <a:off x="490175" y="1325880"/>
            <a:ext cx="3931800" cy="1280100"/>
          </a:xfrm>
          <a:prstGeom prst="rect">
            <a:avLst/>
          </a:prstGeom>
          <a:solidFill>
            <a:srgbClr val="FFFFFF"/>
          </a:solidFill>
          <a:ln>
            <a:noFill/>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2"/>
          <p:cNvSpPr/>
          <p:nvPr/>
        </p:nvSpPr>
        <p:spPr>
          <a:xfrm>
            <a:off x="490175" y="1325880"/>
            <a:ext cx="3931800" cy="54900"/>
          </a:xfrm>
          <a:prstGeom prst="rect">
            <a:avLst/>
          </a:prstGeom>
          <a:solidFill>
            <a:srgbClr val="C21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2"/>
          <p:cNvSpPr/>
          <p:nvPr/>
        </p:nvSpPr>
        <p:spPr>
          <a:xfrm>
            <a:off x="673055" y="1463040"/>
            <a:ext cx="347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Photo editing device preference (FT)</a:t>
            </a:r>
            <a:endParaRPr b="0" i="0" sz="1100" u="none" cap="none" strike="noStrike">
              <a:solidFill>
                <a:schemeClr val="dk1"/>
              </a:solidFill>
              <a:latin typeface="Calibri"/>
              <a:ea typeface="Calibri"/>
              <a:cs typeface="Calibri"/>
              <a:sym typeface="Calibri"/>
            </a:endParaRPr>
          </a:p>
        </p:txBody>
      </p:sp>
      <p:sp>
        <p:nvSpPr>
          <p:cNvPr id="388" name="Google Shape;388;p12"/>
          <p:cNvSpPr/>
          <p:nvPr/>
        </p:nvSpPr>
        <p:spPr>
          <a:xfrm>
            <a:off x="673055" y="1691643"/>
            <a:ext cx="3657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400"/>
              <a:buFont typeface="Poppins"/>
              <a:buNone/>
            </a:pPr>
            <a:r>
              <a:rPr b="1" i="0" lang="en-US" sz="1200" u="none" cap="none" strike="noStrike">
                <a:solidFill>
                  <a:srgbClr val="C2185B"/>
                </a:solidFill>
                <a:latin typeface="Poppins"/>
                <a:ea typeface="Poppins"/>
                <a:cs typeface="Poppins"/>
                <a:sym typeface="Poppins"/>
              </a:rPr>
              <a:t>Males: 3.</a:t>
            </a:r>
            <a:r>
              <a:rPr b="1" lang="en-US" sz="1200">
                <a:solidFill>
                  <a:srgbClr val="C2185B"/>
                </a:solidFill>
                <a:latin typeface="Poppins"/>
                <a:ea typeface="Poppins"/>
                <a:cs typeface="Poppins"/>
                <a:sym typeface="Poppins"/>
              </a:rPr>
              <a:t>7</a:t>
            </a:r>
            <a:r>
              <a:rPr b="0" i="0" lang="en-US" sz="1200" u="none" cap="none" strike="noStrike">
                <a:solidFill>
                  <a:srgbClr val="6B6B6B"/>
                </a:solidFill>
                <a:latin typeface="Calibri"/>
                <a:ea typeface="Calibri"/>
                <a:cs typeface="Calibri"/>
                <a:sym typeface="Calibri"/>
              </a:rPr>
              <a:t>  vs  </a:t>
            </a:r>
            <a:r>
              <a:rPr b="1" i="0" lang="en-US" sz="1200" u="none" cap="none" strike="noStrike">
                <a:solidFill>
                  <a:srgbClr val="F48FB1"/>
                </a:solidFill>
                <a:latin typeface="Poppins"/>
                <a:ea typeface="Poppins"/>
                <a:cs typeface="Poppins"/>
                <a:sym typeface="Poppins"/>
              </a:rPr>
              <a:t>Females: 2.9</a:t>
            </a:r>
            <a:endParaRPr b="0" i="0" sz="1200" u="none" cap="none" strike="noStrike">
              <a:solidFill>
                <a:schemeClr val="dk1"/>
              </a:solidFill>
              <a:latin typeface="Calibri"/>
              <a:ea typeface="Calibri"/>
              <a:cs typeface="Calibri"/>
              <a:sym typeface="Calibri"/>
            </a:endParaRPr>
          </a:p>
        </p:txBody>
      </p:sp>
      <p:sp>
        <p:nvSpPr>
          <p:cNvPr id="389" name="Google Shape;389;p12"/>
          <p:cNvSpPr/>
          <p:nvPr/>
        </p:nvSpPr>
        <p:spPr>
          <a:xfrm>
            <a:off x="673055" y="2263138"/>
            <a:ext cx="3474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0" lang="en-US" sz="1000" u="none" cap="none" strike="noStrike">
                <a:solidFill>
                  <a:srgbClr val="6B6B6B"/>
                </a:solidFill>
                <a:latin typeface="Poppins"/>
                <a:ea typeface="Poppins"/>
                <a:cs typeface="Poppins"/>
                <a:sym typeface="Poppins"/>
              </a:rPr>
              <a:t>(1=phone, 5=desktop) </a:t>
            </a:r>
            <a:endParaRPr b="0" i="0" sz="1000" u="none" cap="none" strike="noStrike">
              <a:solidFill>
                <a:schemeClr val="dk1"/>
              </a:solidFill>
              <a:latin typeface="Calibri"/>
              <a:ea typeface="Calibri"/>
              <a:cs typeface="Calibri"/>
              <a:sym typeface="Calibri"/>
            </a:endParaRPr>
          </a:p>
        </p:txBody>
      </p:sp>
      <p:sp>
        <p:nvSpPr>
          <p:cNvPr id="390" name="Google Shape;390;p12"/>
          <p:cNvSpPr/>
          <p:nvPr/>
        </p:nvSpPr>
        <p:spPr>
          <a:xfrm>
            <a:off x="640080" y="2926133"/>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300"/>
              <a:buFont typeface="Poppins"/>
              <a:buNone/>
            </a:pPr>
            <a:r>
              <a:rPr b="1" i="0" lang="en-US" sz="1300" u="none" cap="none" strike="noStrike">
                <a:solidFill>
                  <a:schemeClr val="dk1"/>
                </a:solidFill>
                <a:latin typeface="Poppins"/>
                <a:ea typeface="Poppins"/>
                <a:cs typeface="Poppins"/>
                <a:sym typeface="Poppins"/>
              </a:rPr>
              <a:t>What drives this gap:</a:t>
            </a:r>
            <a:endParaRPr b="0" i="0" sz="1300" u="none" cap="none" strike="noStrike">
              <a:solidFill>
                <a:schemeClr val="dk1"/>
              </a:solidFill>
              <a:latin typeface="Calibri"/>
              <a:ea typeface="Calibri"/>
              <a:cs typeface="Calibri"/>
              <a:sym typeface="Calibri"/>
            </a:endParaRPr>
          </a:p>
        </p:txBody>
      </p:sp>
      <p:sp>
        <p:nvSpPr>
          <p:cNvPr id="391" name="Google Shape;391;p12"/>
          <p:cNvSpPr/>
          <p:nvPr/>
        </p:nvSpPr>
        <p:spPr>
          <a:xfrm>
            <a:off x="457200" y="3337560"/>
            <a:ext cx="8229600" cy="320040"/>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2"/>
          <p:cNvSpPr/>
          <p:nvPr/>
        </p:nvSpPr>
        <p:spPr>
          <a:xfrm>
            <a:off x="640080" y="3355848"/>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chemeClr val="dk1"/>
                </a:solidFill>
                <a:latin typeface="Poppins"/>
                <a:ea typeface="Poppins"/>
                <a:cs typeface="Poppins"/>
                <a:sym typeface="Poppins"/>
              </a:rPr>
              <a:t>Finding</a:t>
            </a:r>
            <a:endParaRPr b="0" i="0" sz="1100" u="none" cap="none" strike="noStrike">
              <a:solidFill>
                <a:schemeClr val="dk1"/>
              </a:solidFill>
              <a:latin typeface="Calibri"/>
              <a:ea typeface="Calibri"/>
              <a:cs typeface="Calibri"/>
              <a:sym typeface="Calibri"/>
            </a:endParaRPr>
          </a:p>
        </p:txBody>
      </p:sp>
      <p:sp>
        <p:nvSpPr>
          <p:cNvPr id="393" name="Google Shape;393;p12"/>
          <p:cNvSpPr/>
          <p:nvPr/>
        </p:nvSpPr>
        <p:spPr>
          <a:xfrm>
            <a:off x="3566160" y="3355848"/>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chemeClr val="dk1"/>
                </a:solidFill>
                <a:latin typeface="Poppins"/>
                <a:ea typeface="Poppins"/>
                <a:cs typeface="Poppins"/>
                <a:sym typeface="Poppins"/>
              </a:rPr>
              <a:t>Female</a:t>
            </a:r>
            <a:endParaRPr b="0" i="0" sz="1100" u="none" cap="none" strike="noStrike">
              <a:solidFill>
                <a:schemeClr val="dk1"/>
              </a:solidFill>
              <a:latin typeface="Calibri"/>
              <a:ea typeface="Calibri"/>
              <a:cs typeface="Calibri"/>
              <a:sym typeface="Calibri"/>
            </a:endParaRPr>
          </a:p>
        </p:txBody>
      </p:sp>
      <p:sp>
        <p:nvSpPr>
          <p:cNvPr id="394" name="Google Shape;394;p12"/>
          <p:cNvSpPr/>
          <p:nvPr/>
        </p:nvSpPr>
        <p:spPr>
          <a:xfrm>
            <a:off x="4572000" y="3355848"/>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chemeClr val="dk1"/>
                </a:solidFill>
                <a:latin typeface="Poppins"/>
                <a:ea typeface="Poppins"/>
                <a:cs typeface="Poppins"/>
                <a:sym typeface="Poppins"/>
              </a:rPr>
              <a:t>Male</a:t>
            </a:r>
            <a:endParaRPr b="0" i="0" sz="1100" u="none" cap="none" strike="noStrike">
              <a:solidFill>
                <a:schemeClr val="dk1"/>
              </a:solidFill>
              <a:latin typeface="Calibri"/>
              <a:ea typeface="Calibri"/>
              <a:cs typeface="Calibri"/>
              <a:sym typeface="Calibri"/>
            </a:endParaRPr>
          </a:p>
        </p:txBody>
      </p:sp>
      <p:sp>
        <p:nvSpPr>
          <p:cNvPr id="395" name="Google Shape;395;p12"/>
          <p:cNvSpPr/>
          <p:nvPr/>
        </p:nvSpPr>
        <p:spPr>
          <a:xfrm>
            <a:off x="5669280" y="3355848"/>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chemeClr val="dk1"/>
                </a:solidFill>
                <a:latin typeface="Poppins"/>
                <a:ea typeface="Poppins"/>
                <a:cs typeface="Poppins"/>
                <a:sym typeface="Poppins"/>
              </a:rPr>
              <a:t>Direction</a:t>
            </a:r>
            <a:endParaRPr b="0" i="0" sz="1100" u="none" cap="none" strike="noStrike">
              <a:solidFill>
                <a:schemeClr val="dk1"/>
              </a:solidFill>
              <a:latin typeface="Calibri"/>
              <a:ea typeface="Calibri"/>
              <a:cs typeface="Calibri"/>
              <a:sym typeface="Calibri"/>
            </a:endParaRPr>
          </a:p>
        </p:txBody>
      </p:sp>
      <p:sp>
        <p:nvSpPr>
          <p:cNvPr id="396" name="Google Shape;396;p12"/>
          <p:cNvSpPr/>
          <p:nvPr/>
        </p:nvSpPr>
        <p:spPr>
          <a:xfrm>
            <a:off x="640080" y="3703320"/>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Selfie editing on phone</a:t>
            </a:r>
            <a:endParaRPr b="0" i="0" sz="1100" u="none" cap="none" strike="noStrike">
              <a:solidFill>
                <a:schemeClr val="dk1"/>
              </a:solidFill>
              <a:latin typeface="Calibri"/>
              <a:ea typeface="Calibri"/>
              <a:cs typeface="Calibri"/>
              <a:sym typeface="Calibri"/>
            </a:endParaRPr>
          </a:p>
        </p:txBody>
      </p:sp>
      <p:sp>
        <p:nvSpPr>
          <p:cNvPr id="397" name="Google Shape;397;p12"/>
          <p:cNvSpPr/>
          <p:nvPr/>
        </p:nvSpPr>
        <p:spPr>
          <a:xfrm>
            <a:off x="3566160" y="370332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86%</a:t>
            </a:r>
            <a:endParaRPr b="0" i="0" sz="1100" u="none" cap="none" strike="noStrike">
              <a:solidFill>
                <a:schemeClr val="dk1"/>
              </a:solidFill>
              <a:latin typeface="Calibri"/>
              <a:ea typeface="Calibri"/>
              <a:cs typeface="Calibri"/>
              <a:sym typeface="Calibri"/>
            </a:endParaRPr>
          </a:p>
        </p:txBody>
      </p:sp>
      <p:sp>
        <p:nvSpPr>
          <p:cNvPr id="398" name="Google Shape;398;p12"/>
          <p:cNvSpPr/>
          <p:nvPr/>
        </p:nvSpPr>
        <p:spPr>
          <a:xfrm>
            <a:off x="4572000" y="370332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73%</a:t>
            </a:r>
            <a:endParaRPr b="0" i="0" sz="1100" u="none" cap="none" strike="noStrike">
              <a:solidFill>
                <a:schemeClr val="dk1"/>
              </a:solidFill>
              <a:latin typeface="Calibri"/>
              <a:ea typeface="Calibri"/>
              <a:cs typeface="Calibri"/>
              <a:sym typeface="Calibri"/>
            </a:endParaRPr>
          </a:p>
        </p:txBody>
      </p:sp>
      <p:sp>
        <p:nvSpPr>
          <p:cNvPr id="399" name="Google Shape;399;p12"/>
          <p:cNvSpPr/>
          <p:nvPr/>
        </p:nvSpPr>
        <p:spPr>
          <a:xfrm>
            <a:off x="5669280" y="3703320"/>
            <a:ext cx="3017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Females dominate</a:t>
            </a:r>
            <a:endParaRPr b="0" i="0" sz="1100" u="none" cap="none" strike="noStrike">
              <a:solidFill>
                <a:schemeClr val="dk1"/>
              </a:solidFill>
              <a:latin typeface="Calibri"/>
              <a:ea typeface="Calibri"/>
              <a:cs typeface="Calibri"/>
              <a:sym typeface="Calibri"/>
            </a:endParaRPr>
          </a:p>
        </p:txBody>
      </p:sp>
      <p:sp>
        <p:nvSpPr>
          <p:cNvPr id="400" name="Google Shape;400;p12"/>
          <p:cNvSpPr/>
          <p:nvPr/>
        </p:nvSpPr>
        <p:spPr>
          <a:xfrm>
            <a:off x="640080" y="3977640"/>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Food photography on desktop</a:t>
            </a:r>
            <a:endParaRPr b="0" i="0" sz="1100" u="none" cap="none" strike="noStrike">
              <a:solidFill>
                <a:schemeClr val="dk1"/>
              </a:solidFill>
              <a:latin typeface="Calibri"/>
              <a:ea typeface="Calibri"/>
              <a:cs typeface="Calibri"/>
              <a:sym typeface="Calibri"/>
            </a:endParaRPr>
          </a:p>
        </p:txBody>
      </p:sp>
      <p:sp>
        <p:nvSpPr>
          <p:cNvPr id="401" name="Google Shape;401;p12"/>
          <p:cNvSpPr/>
          <p:nvPr/>
        </p:nvSpPr>
        <p:spPr>
          <a:xfrm>
            <a:off x="3566160" y="397764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19%</a:t>
            </a:r>
            <a:endParaRPr b="0" i="0" sz="1100" u="none" cap="none" strike="noStrike">
              <a:solidFill>
                <a:schemeClr val="dk1"/>
              </a:solidFill>
              <a:latin typeface="Calibri"/>
              <a:ea typeface="Calibri"/>
              <a:cs typeface="Calibri"/>
              <a:sym typeface="Calibri"/>
            </a:endParaRPr>
          </a:p>
        </p:txBody>
      </p:sp>
      <p:sp>
        <p:nvSpPr>
          <p:cNvPr id="402" name="Google Shape;402;p12"/>
          <p:cNvSpPr/>
          <p:nvPr/>
        </p:nvSpPr>
        <p:spPr>
          <a:xfrm>
            <a:off x="4572000" y="397764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40%</a:t>
            </a:r>
            <a:endParaRPr b="0" i="0" sz="1100" u="none" cap="none" strike="noStrike">
              <a:solidFill>
                <a:schemeClr val="dk1"/>
              </a:solidFill>
              <a:latin typeface="Calibri"/>
              <a:ea typeface="Calibri"/>
              <a:cs typeface="Calibri"/>
              <a:sym typeface="Calibri"/>
            </a:endParaRPr>
          </a:p>
        </p:txBody>
      </p:sp>
      <p:sp>
        <p:nvSpPr>
          <p:cNvPr id="403" name="Google Shape;403;p12"/>
          <p:cNvSpPr/>
          <p:nvPr/>
        </p:nvSpPr>
        <p:spPr>
          <a:xfrm>
            <a:off x="5669280" y="3977640"/>
            <a:ext cx="3017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Males 2x higher</a:t>
            </a:r>
            <a:endParaRPr b="0" i="0" sz="1100" u="none" cap="none" strike="noStrike">
              <a:solidFill>
                <a:schemeClr val="dk1"/>
              </a:solidFill>
              <a:latin typeface="Calibri"/>
              <a:ea typeface="Calibri"/>
              <a:cs typeface="Calibri"/>
              <a:sym typeface="Calibri"/>
            </a:endParaRPr>
          </a:p>
        </p:txBody>
      </p:sp>
      <p:sp>
        <p:nvSpPr>
          <p:cNvPr id="404" name="Google Shape;404;p12"/>
          <p:cNvSpPr/>
          <p:nvPr/>
        </p:nvSpPr>
        <p:spPr>
          <a:xfrm>
            <a:off x="640080" y="4251960"/>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100" u="none" cap="none" strike="noStrike">
                <a:solidFill>
                  <a:srgbClr val="2D2D2D"/>
                </a:solidFill>
                <a:latin typeface="Poppins"/>
                <a:ea typeface="Poppins"/>
                <a:cs typeface="Poppins"/>
                <a:sym typeface="Poppins"/>
              </a:rPr>
              <a:t>Videos on desktop</a:t>
            </a:r>
            <a:endParaRPr b="0" i="0" sz="1100" u="none" cap="none" strike="noStrike">
              <a:solidFill>
                <a:schemeClr val="dk1"/>
              </a:solidFill>
              <a:latin typeface="Calibri"/>
              <a:ea typeface="Calibri"/>
              <a:cs typeface="Calibri"/>
              <a:sym typeface="Calibri"/>
            </a:endParaRPr>
          </a:p>
        </p:txBody>
      </p:sp>
      <p:sp>
        <p:nvSpPr>
          <p:cNvPr id="405" name="Google Shape;405;p12"/>
          <p:cNvSpPr/>
          <p:nvPr/>
        </p:nvSpPr>
        <p:spPr>
          <a:xfrm>
            <a:off x="3566160" y="425196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100"/>
              <a:buFont typeface="Poppins"/>
              <a:buNone/>
            </a:pPr>
            <a:r>
              <a:rPr b="1" i="0" lang="en-US" sz="1100" u="none" cap="none" strike="noStrike">
                <a:solidFill>
                  <a:srgbClr val="F48FB1"/>
                </a:solidFill>
                <a:latin typeface="Poppins"/>
                <a:ea typeface="Poppins"/>
                <a:cs typeface="Poppins"/>
                <a:sym typeface="Poppins"/>
              </a:rPr>
              <a:t>54%</a:t>
            </a:r>
            <a:endParaRPr b="0" i="0" sz="1100" u="none" cap="none" strike="noStrike">
              <a:solidFill>
                <a:schemeClr val="dk1"/>
              </a:solidFill>
              <a:latin typeface="Calibri"/>
              <a:ea typeface="Calibri"/>
              <a:cs typeface="Calibri"/>
              <a:sym typeface="Calibri"/>
            </a:endParaRPr>
          </a:p>
        </p:txBody>
      </p:sp>
      <p:sp>
        <p:nvSpPr>
          <p:cNvPr id="406" name="Google Shape;406;p12"/>
          <p:cNvSpPr/>
          <p:nvPr/>
        </p:nvSpPr>
        <p:spPr>
          <a:xfrm>
            <a:off x="4572000" y="425196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100" u="none" cap="none" strike="noStrike">
                <a:solidFill>
                  <a:srgbClr val="C2185B"/>
                </a:solidFill>
                <a:latin typeface="Poppins"/>
                <a:ea typeface="Poppins"/>
                <a:cs typeface="Poppins"/>
                <a:sym typeface="Poppins"/>
              </a:rPr>
              <a:t>74%</a:t>
            </a:r>
            <a:endParaRPr b="0" i="0" sz="1100" u="none" cap="none" strike="noStrike">
              <a:solidFill>
                <a:schemeClr val="dk1"/>
              </a:solidFill>
              <a:latin typeface="Calibri"/>
              <a:ea typeface="Calibri"/>
              <a:cs typeface="Calibri"/>
              <a:sym typeface="Calibri"/>
            </a:endParaRPr>
          </a:p>
        </p:txBody>
      </p:sp>
      <p:sp>
        <p:nvSpPr>
          <p:cNvPr id="407" name="Google Shape;407;p12"/>
          <p:cNvSpPr/>
          <p:nvPr/>
        </p:nvSpPr>
        <p:spPr>
          <a:xfrm>
            <a:off x="5669280" y="4251960"/>
            <a:ext cx="3017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Males 20pp higher</a:t>
            </a:r>
            <a:endParaRPr b="0" i="0" sz="1100" u="none" cap="none" strike="noStrike">
              <a:solidFill>
                <a:schemeClr val="dk1"/>
              </a:solidFill>
              <a:latin typeface="Calibri"/>
              <a:ea typeface="Calibri"/>
              <a:cs typeface="Calibri"/>
              <a:sym typeface="Calibri"/>
            </a:endParaRPr>
          </a:p>
        </p:txBody>
      </p:sp>
      <p:sp>
        <p:nvSpPr>
          <p:cNvPr id="408" name="Google Shape;408;p12"/>
          <p:cNvSpPr/>
          <p:nvPr/>
        </p:nvSpPr>
        <p:spPr>
          <a:xfrm>
            <a:off x="532929" y="4687900"/>
            <a:ext cx="1626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Poppins"/>
              <a:buNone/>
            </a:pPr>
            <a:r>
              <a:rPr b="0" i="1" lang="en-US" sz="800" u="none" cap="none" strike="noStrike">
                <a:solidFill>
                  <a:srgbClr val="6B6B6B"/>
                </a:solidFill>
                <a:latin typeface="Poppins"/>
                <a:ea typeface="Poppins"/>
                <a:cs typeface="Poppins"/>
                <a:sym typeface="Poppins"/>
              </a:rPr>
              <a:t>All differences p&lt;0.001. </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13"/>
          <p:cNvSpPr/>
          <p:nvPr/>
        </p:nvSpPr>
        <p:spPr>
          <a:xfrm>
            <a:off x="640080" y="32004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400"/>
              <a:buFont typeface="Poppins"/>
              <a:buNone/>
            </a:pPr>
            <a:r>
              <a:rPr b="1" i="0" lang="en-US" sz="2400" u="none" cap="none" strike="noStrike">
                <a:solidFill>
                  <a:srgbClr val="C2185B"/>
                </a:solidFill>
                <a:latin typeface="Poppins"/>
                <a:ea typeface="Poppins"/>
                <a:cs typeface="Poppins"/>
                <a:sym typeface="Poppins"/>
              </a:rPr>
              <a:t>FT users already work across devices</a:t>
            </a:r>
            <a:endParaRPr b="0" i="0" sz="2400" u="none" cap="none" strike="noStrike">
              <a:solidFill>
                <a:schemeClr val="dk1"/>
              </a:solidFill>
              <a:latin typeface="Calibri"/>
              <a:ea typeface="Calibri"/>
              <a:cs typeface="Calibri"/>
              <a:sym typeface="Calibri"/>
            </a:endParaRPr>
          </a:p>
        </p:txBody>
      </p:sp>
      <p:sp>
        <p:nvSpPr>
          <p:cNvPr id="415" name="Google Shape;415;p13"/>
          <p:cNvSpPr/>
          <p:nvPr/>
        </p:nvSpPr>
        <p:spPr>
          <a:xfrm>
            <a:off x="640075" y="1431275"/>
            <a:ext cx="7322400" cy="2047200"/>
          </a:xfrm>
          <a:prstGeom prst="rect">
            <a:avLst/>
          </a:prstGeom>
          <a:solidFill>
            <a:srgbClr val="FFFFFF"/>
          </a:solidFill>
          <a:ln>
            <a:noFill/>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grpSp>
        <p:nvGrpSpPr>
          <p:cNvPr id="416" name="Google Shape;416;p13"/>
          <p:cNvGrpSpPr/>
          <p:nvPr/>
        </p:nvGrpSpPr>
        <p:grpSpPr>
          <a:xfrm>
            <a:off x="927383" y="1667725"/>
            <a:ext cx="7498080" cy="201300"/>
            <a:chOff x="914395" y="1522725"/>
            <a:chExt cx="7498080" cy="201300"/>
          </a:xfrm>
        </p:grpSpPr>
        <p:sp>
          <p:nvSpPr>
            <p:cNvPr id="417" name="Google Shape;417;p13"/>
            <p:cNvSpPr/>
            <p:nvPr/>
          </p:nvSpPr>
          <p:spPr>
            <a:xfrm>
              <a:off x="914395" y="1522725"/>
              <a:ext cx="548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500" u="none" cap="none" strike="noStrike">
                  <a:solidFill>
                    <a:srgbClr val="C2185B"/>
                  </a:solidFill>
                  <a:latin typeface="Poppins"/>
                  <a:ea typeface="Poppins"/>
                  <a:cs typeface="Poppins"/>
                  <a:sym typeface="Poppins"/>
                </a:rPr>
                <a:t>39%</a:t>
              </a:r>
              <a:endParaRPr b="0" i="0" sz="1500" u="none" cap="none" strike="noStrike">
                <a:solidFill>
                  <a:schemeClr val="dk1"/>
                </a:solidFill>
                <a:latin typeface="Calibri"/>
                <a:ea typeface="Calibri"/>
                <a:cs typeface="Calibri"/>
                <a:sym typeface="Calibri"/>
              </a:endParaRPr>
            </a:p>
          </p:txBody>
        </p:sp>
        <p:sp>
          <p:nvSpPr>
            <p:cNvPr id="418" name="Google Shape;418;p13"/>
            <p:cNvSpPr/>
            <p:nvPr/>
          </p:nvSpPr>
          <p:spPr>
            <a:xfrm>
              <a:off x="1554475" y="1522725"/>
              <a:ext cx="6858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300" u="none" cap="none" strike="noStrike">
                  <a:solidFill>
                    <a:srgbClr val="2D2D2D"/>
                  </a:solidFill>
                  <a:latin typeface="Poppins"/>
                  <a:ea typeface="Poppins"/>
                  <a:cs typeface="Poppins"/>
                  <a:sym typeface="Poppins"/>
                </a:rPr>
                <a:t>edit on both devices depending on situation</a:t>
              </a:r>
              <a:endParaRPr b="0" i="0" sz="1300" u="none" cap="none" strike="noStrike">
                <a:solidFill>
                  <a:schemeClr val="dk1"/>
                </a:solidFill>
                <a:latin typeface="Calibri"/>
                <a:ea typeface="Calibri"/>
                <a:cs typeface="Calibri"/>
                <a:sym typeface="Calibri"/>
              </a:endParaRPr>
            </a:p>
          </p:txBody>
        </p:sp>
      </p:grpSp>
      <p:grpSp>
        <p:nvGrpSpPr>
          <p:cNvPr id="419" name="Google Shape;419;p13"/>
          <p:cNvGrpSpPr/>
          <p:nvPr/>
        </p:nvGrpSpPr>
        <p:grpSpPr>
          <a:xfrm>
            <a:off x="927383" y="2125391"/>
            <a:ext cx="7498080" cy="201300"/>
            <a:chOff x="914395" y="1996912"/>
            <a:chExt cx="7498080" cy="201300"/>
          </a:xfrm>
        </p:grpSpPr>
        <p:sp>
          <p:nvSpPr>
            <p:cNvPr id="420" name="Google Shape;420;p13"/>
            <p:cNvSpPr/>
            <p:nvPr/>
          </p:nvSpPr>
          <p:spPr>
            <a:xfrm>
              <a:off x="914395" y="1996912"/>
              <a:ext cx="548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500" u="none" cap="none" strike="noStrike">
                  <a:solidFill>
                    <a:srgbClr val="C2185B"/>
                  </a:solidFill>
                  <a:latin typeface="Poppins"/>
                  <a:ea typeface="Poppins"/>
                  <a:cs typeface="Poppins"/>
                  <a:sym typeface="Poppins"/>
                </a:rPr>
                <a:t>14%</a:t>
              </a:r>
              <a:endParaRPr b="0" i="0" sz="1500" u="none" cap="none" strike="noStrike">
                <a:solidFill>
                  <a:schemeClr val="dk1"/>
                </a:solidFill>
                <a:latin typeface="Calibri"/>
                <a:ea typeface="Calibri"/>
                <a:cs typeface="Calibri"/>
                <a:sym typeface="Calibri"/>
              </a:endParaRPr>
            </a:p>
          </p:txBody>
        </p:sp>
        <p:sp>
          <p:nvSpPr>
            <p:cNvPr id="421" name="Google Shape;421;p13"/>
            <p:cNvSpPr/>
            <p:nvPr/>
          </p:nvSpPr>
          <p:spPr>
            <a:xfrm>
              <a:off x="1554475" y="1996912"/>
              <a:ext cx="6858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300" u="none" cap="none" strike="noStrike">
                  <a:solidFill>
                    <a:srgbClr val="2D2D2D"/>
                  </a:solidFill>
                  <a:latin typeface="Poppins"/>
                  <a:ea typeface="Poppins"/>
                  <a:cs typeface="Poppins"/>
                  <a:sym typeface="Poppins"/>
                </a:rPr>
                <a:t>regularly start on phone, finish on desktop</a:t>
              </a:r>
              <a:endParaRPr b="0" i="0" sz="1300" u="none" cap="none" strike="noStrike">
                <a:solidFill>
                  <a:schemeClr val="dk1"/>
                </a:solidFill>
                <a:latin typeface="Calibri"/>
                <a:ea typeface="Calibri"/>
                <a:cs typeface="Calibri"/>
                <a:sym typeface="Calibri"/>
              </a:endParaRPr>
            </a:p>
          </p:txBody>
        </p:sp>
      </p:grpSp>
      <p:grpSp>
        <p:nvGrpSpPr>
          <p:cNvPr id="422" name="Google Shape;422;p13"/>
          <p:cNvGrpSpPr/>
          <p:nvPr/>
        </p:nvGrpSpPr>
        <p:grpSpPr>
          <a:xfrm>
            <a:off x="927383" y="2583057"/>
            <a:ext cx="7498080" cy="201300"/>
            <a:chOff x="927383" y="2471112"/>
            <a:chExt cx="7498080" cy="201300"/>
          </a:xfrm>
        </p:grpSpPr>
        <p:sp>
          <p:nvSpPr>
            <p:cNvPr id="423" name="Google Shape;423;p13"/>
            <p:cNvSpPr/>
            <p:nvPr/>
          </p:nvSpPr>
          <p:spPr>
            <a:xfrm>
              <a:off x="927383" y="2471112"/>
              <a:ext cx="548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500" u="none" cap="none" strike="noStrike">
                  <a:solidFill>
                    <a:srgbClr val="C2185B"/>
                  </a:solidFill>
                  <a:latin typeface="Poppins"/>
                  <a:ea typeface="Poppins"/>
                  <a:cs typeface="Poppins"/>
                  <a:sym typeface="Poppins"/>
                </a:rPr>
                <a:t>8%</a:t>
              </a:r>
              <a:endParaRPr b="0" i="0" sz="1500" u="none" cap="none" strike="noStrike">
                <a:solidFill>
                  <a:schemeClr val="dk1"/>
                </a:solidFill>
                <a:latin typeface="Calibri"/>
                <a:ea typeface="Calibri"/>
                <a:cs typeface="Calibri"/>
                <a:sym typeface="Calibri"/>
              </a:endParaRPr>
            </a:p>
          </p:txBody>
        </p:sp>
        <p:sp>
          <p:nvSpPr>
            <p:cNvPr id="424" name="Google Shape;424;p13"/>
            <p:cNvSpPr/>
            <p:nvPr/>
          </p:nvSpPr>
          <p:spPr>
            <a:xfrm>
              <a:off x="1567463" y="2471112"/>
              <a:ext cx="6858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300" u="none" cap="none" strike="noStrike">
                  <a:solidFill>
                    <a:srgbClr val="2D2D2D"/>
                  </a:solidFill>
                  <a:latin typeface="Poppins"/>
                  <a:ea typeface="Poppins"/>
                  <a:cs typeface="Poppins"/>
                  <a:sym typeface="Poppins"/>
                </a:rPr>
                <a:t>go the other direction (desktop → phone)</a:t>
              </a:r>
              <a:endParaRPr b="0" i="0" sz="1300" u="none" cap="none" strike="noStrike">
                <a:solidFill>
                  <a:schemeClr val="dk1"/>
                </a:solidFill>
                <a:latin typeface="Calibri"/>
                <a:ea typeface="Calibri"/>
                <a:cs typeface="Calibri"/>
                <a:sym typeface="Calibri"/>
              </a:endParaRPr>
            </a:p>
          </p:txBody>
        </p:sp>
      </p:grpSp>
      <p:grpSp>
        <p:nvGrpSpPr>
          <p:cNvPr id="425" name="Google Shape;425;p13"/>
          <p:cNvGrpSpPr/>
          <p:nvPr/>
        </p:nvGrpSpPr>
        <p:grpSpPr>
          <a:xfrm>
            <a:off x="927383" y="3040724"/>
            <a:ext cx="7498080" cy="201300"/>
            <a:chOff x="927383" y="2895724"/>
            <a:chExt cx="7498080" cy="201300"/>
          </a:xfrm>
        </p:grpSpPr>
        <p:sp>
          <p:nvSpPr>
            <p:cNvPr id="426" name="Google Shape;426;p13"/>
            <p:cNvSpPr/>
            <p:nvPr/>
          </p:nvSpPr>
          <p:spPr>
            <a:xfrm>
              <a:off x="927383" y="2895724"/>
              <a:ext cx="548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100"/>
                <a:buFont typeface="Poppins"/>
                <a:buNone/>
              </a:pPr>
              <a:r>
                <a:rPr b="1" i="0" lang="en-US" sz="1500" u="none" cap="none" strike="noStrike">
                  <a:solidFill>
                    <a:srgbClr val="C2185B"/>
                  </a:solidFill>
                  <a:latin typeface="Poppins"/>
                  <a:ea typeface="Poppins"/>
                  <a:cs typeface="Poppins"/>
                  <a:sym typeface="Poppins"/>
                </a:rPr>
                <a:t>38%</a:t>
              </a:r>
              <a:endParaRPr b="0" i="0" sz="1500" u="none" cap="none" strike="noStrike">
                <a:solidFill>
                  <a:schemeClr val="dk1"/>
                </a:solidFill>
                <a:latin typeface="Calibri"/>
                <a:ea typeface="Calibri"/>
                <a:cs typeface="Calibri"/>
                <a:sym typeface="Calibri"/>
              </a:endParaRPr>
            </a:p>
          </p:txBody>
        </p:sp>
        <p:sp>
          <p:nvSpPr>
            <p:cNvPr id="427" name="Google Shape;427;p13"/>
            <p:cNvSpPr/>
            <p:nvPr/>
          </p:nvSpPr>
          <p:spPr>
            <a:xfrm>
              <a:off x="1567463" y="2895724"/>
              <a:ext cx="6858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100"/>
                <a:buFont typeface="Poppins"/>
                <a:buNone/>
              </a:pPr>
              <a:r>
                <a:rPr b="0" i="0" lang="en-US" sz="1300" u="none" cap="none" strike="noStrike">
                  <a:solidFill>
                    <a:srgbClr val="2D2D2D"/>
                  </a:solidFill>
                  <a:latin typeface="Poppins"/>
                  <a:ea typeface="Poppins"/>
                  <a:cs typeface="Poppins"/>
                  <a:sym typeface="Poppins"/>
                </a:rPr>
                <a:t>always stick to one device</a:t>
              </a:r>
              <a:endParaRPr b="0" i="0" sz="1300" u="none" cap="none" strike="noStrike">
                <a:solidFill>
                  <a:schemeClr val="dk1"/>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432" name="Shape 432"/>
        <p:cNvGrpSpPr/>
        <p:nvPr/>
      </p:nvGrpSpPr>
      <p:grpSpPr>
        <a:xfrm>
          <a:off x="0" y="0"/>
          <a:ext cx="0" cy="0"/>
          <a:chOff x="0" y="0"/>
          <a:chExt cx="0" cy="0"/>
        </a:xfrm>
      </p:grpSpPr>
      <p:sp>
        <p:nvSpPr>
          <p:cNvPr id="433" name="Google Shape;433;p14"/>
          <p:cNvSpPr/>
          <p:nvPr/>
        </p:nvSpPr>
        <p:spPr>
          <a:xfrm>
            <a:off x="640080" y="731520"/>
            <a:ext cx="914400" cy="45720"/>
          </a:xfrm>
          <a:prstGeom prst="rect">
            <a:avLst/>
          </a:prstGeom>
          <a:solidFill>
            <a:srgbClr val="F48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4"/>
          <p:cNvSpPr/>
          <p:nvPr/>
        </p:nvSpPr>
        <p:spPr>
          <a:xfrm>
            <a:off x="640080" y="91440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Poppins"/>
              <a:buNone/>
            </a:pPr>
            <a:r>
              <a:rPr b="1" i="0" lang="en-US" sz="3000" u="none" cap="none" strike="noStrike">
                <a:solidFill>
                  <a:srgbClr val="FFFFFF"/>
                </a:solidFill>
                <a:latin typeface="Poppins"/>
                <a:ea typeface="Poppins"/>
                <a:cs typeface="Poppins"/>
                <a:sym typeface="Poppins"/>
              </a:rPr>
              <a:t>Should Facetune build for desktop?</a:t>
            </a:r>
            <a:endParaRPr b="0" i="0" sz="3000" u="none" cap="none" strike="noStrike">
              <a:solidFill>
                <a:schemeClr val="dk1"/>
              </a:solidFill>
              <a:latin typeface="Calibri"/>
              <a:ea typeface="Calibri"/>
              <a:cs typeface="Calibri"/>
              <a:sym typeface="Calibri"/>
            </a:endParaRPr>
          </a:p>
        </p:txBody>
      </p:sp>
      <p:sp>
        <p:nvSpPr>
          <p:cNvPr id="435" name="Google Shape;435;p14"/>
          <p:cNvSpPr/>
          <p:nvPr/>
        </p:nvSpPr>
        <p:spPr>
          <a:xfrm>
            <a:off x="640080" y="164592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800"/>
              <a:buFont typeface="Poppins"/>
              <a:buNone/>
            </a:pPr>
            <a:r>
              <a:rPr lang="en-US" sz="1800">
                <a:solidFill>
                  <a:srgbClr val="F48FB1"/>
                </a:solidFill>
                <a:latin typeface="Poppins"/>
                <a:ea typeface="Poppins"/>
                <a:cs typeface="Poppins"/>
                <a:sym typeface="Poppins"/>
              </a:rPr>
              <a:t>The data reveals an opportunity. Here's why</a:t>
            </a:r>
            <a:endParaRPr b="0" i="0" sz="1800" u="none" cap="none" strike="noStrike">
              <a:solidFill>
                <a:schemeClr val="dk1"/>
              </a:solidFill>
              <a:latin typeface="Calibri"/>
              <a:ea typeface="Calibri"/>
              <a:cs typeface="Calibri"/>
              <a:sym typeface="Calibri"/>
            </a:endParaRPr>
          </a:p>
        </p:txBody>
      </p:sp>
      <p:sp>
        <p:nvSpPr>
          <p:cNvPr id="436" name="Google Shape;436;p14"/>
          <p:cNvSpPr/>
          <p:nvPr/>
        </p:nvSpPr>
        <p:spPr>
          <a:xfrm>
            <a:off x="640080" y="2331720"/>
            <a:ext cx="274320" cy="274320"/>
          </a:xfrm>
          <a:prstGeom prst="ellipse">
            <a:avLst/>
          </a:prstGeom>
          <a:solidFill>
            <a:srgbClr val="F48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4"/>
          <p:cNvSpPr/>
          <p:nvPr/>
        </p:nvSpPr>
        <p:spPr>
          <a:xfrm>
            <a:off x="640080" y="233172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Poppins"/>
              <a:buNone/>
            </a:pPr>
            <a:r>
              <a:rPr b="1" i="0" lang="en-US" sz="1100" u="none" cap="none" strike="noStrike">
                <a:solidFill>
                  <a:srgbClr val="1A1A1A"/>
                </a:solidFill>
                <a:latin typeface="Poppins"/>
                <a:ea typeface="Poppins"/>
                <a:cs typeface="Poppins"/>
                <a:sym typeface="Poppins"/>
              </a:rPr>
              <a:t>1</a:t>
            </a:r>
            <a:endParaRPr b="0" i="0" sz="1100" u="none" cap="none" strike="noStrike">
              <a:solidFill>
                <a:schemeClr val="dk1"/>
              </a:solidFill>
              <a:latin typeface="Calibri"/>
              <a:ea typeface="Calibri"/>
              <a:cs typeface="Calibri"/>
              <a:sym typeface="Calibri"/>
            </a:endParaRPr>
          </a:p>
        </p:txBody>
      </p:sp>
      <p:sp>
        <p:nvSpPr>
          <p:cNvPr id="438" name="Google Shape;438;p14"/>
          <p:cNvSpPr/>
          <p:nvPr/>
        </p:nvSpPr>
        <p:spPr>
          <a:xfrm>
            <a:off x="1097275" y="2286000"/>
            <a:ext cx="7863900" cy="411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0E0E0"/>
              </a:buClr>
              <a:buSzPts val="1100"/>
              <a:buFont typeface="Poppins"/>
              <a:buNone/>
            </a:pPr>
            <a:r>
              <a:rPr lang="en-US" sz="1100">
                <a:solidFill>
                  <a:srgbClr val="E0E0E0"/>
                </a:solidFill>
                <a:latin typeface="Poppins"/>
                <a:ea typeface="Poppins"/>
                <a:cs typeface="Poppins"/>
                <a:sym typeface="Poppins"/>
              </a:rPr>
              <a:t>Both sides feel incomplete - Users wish for mobile-like beauty tools on desktop, and desktop precision on mobile</a:t>
            </a:r>
            <a:endParaRPr b="0" i="0" sz="1100" u="none" cap="none" strike="noStrike">
              <a:solidFill>
                <a:schemeClr val="lt1"/>
              </a:solidFill>
              <a:latin typeface="Calibri"/>
              <a:ea typeface="Calibri"/>
              <a:cs typeface="Calibri"/>
              <a:sym typeface="Calibri"/>
            </a:endParaRPr>
          </a:p>
        </p:txBody>
      </p:sp>
      <p:sp>
        <p:nvSpPr>
          <p:cNvPr id="439" name="Google Shape;439;p14"/>
          <p:cNvSpPr/>
          <p:nvPr/>
        </p:nvSpPr>
        <p:spPr>
          <a:xfrm>
            <a:off x="640080" y="2834640"/>
            <a:ext cx="274320" cy="274320"/>
          </a:xfrm>
          <a:prstGeom prst="ellipse">
            <a:avLst/>
          </a:prstGeom>
          <a:solidFill>
            <a:srgbClr val="F48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4"/>
          <p:cNvSpPr/>
          <p:nvPr/>
        </p:nvSpPr>
        <p:spPr>
          <a:xfrm>
            <a:off x="640080" y="28346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Poppins"/>
              <a:buNone/>
            </a:pPr>
            <a:r>
              <a:rPr b="1" i="0" lang="en-US" sz="1100" u="none" cap="none" strike="noStrike">
                <a:solidFill>
                  <a:srgbClr val="1A1A1A"/>
                </a:solidFill>
                <a:latin typeface="Poppins"/>
                <a:ea typeface="Poppins"/>
                <a:cs typeface="Poppins"/>
                <a:sym typeface="Poppins"/>
              </a:rPr>
              <a:t>2</a:t>
            </a:r>
            <a:endParaRPr b="0" i="0" sz="1100" u="none" cap="none" strike="noStrike">
              <a:solidFill>
                <a:schemeClr val="dk1"/>
              </a:solidFill>
              <a:latin typeface="Calibri"/>
              <a:ea typeface="Calibri"/>
              <a:cs typeface="Calibri"/>
              <a:sym typeface="Calibri"/>
            </a:endParaRPr>
          </a:p>
        </p:txBody>
      </p:sp>
      <p:sp>
        <p:nvSpPr>
          <p:cNvPr id="441" name="Google Shape;441;p14"/>
          <p:cNvSpPr/>
          <p:nvPr/>
        </p:nvSpPr>
        <p:spPr>
          <a:xfrm>
            <a:off x="1097275" y="2788925"/>
            <a:ext cx="7812300" cy="411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0E0E0"/>
              </a:buClr>
              <a:buSzPts val="1100"/>
              <a:buFont typeface="Poppins"/>
              <a:buNone/>
            </a:pPr>
            <a:r>
              <a:rPr b="0" i="0" lang="en-US" sz="1100" u="none" cap="none" strike="noStrike">
                <a:solidFill>
                  <a:srgbClr val="E0E0E0"/>
                </a:solidFill>
                <a:latin typeface="Poppins"/>
                <a:ea typeface="Poppins"/>
                <a:cs typeface="Poppins"/>
                <a:sym typeface="Poppins"/>
              </a:rPr>
              <a:t>They want what Facetune does best </a:t>
            </a:r>
            <a:r>
              <a:rPr lang="en-US" sz="1100">
                <a:solidFill>
                  <a:srgbClr val="E0E0E0"/>
                </a:solidFill>
                <a:latin typeface="Poppins"/>
                <a:ea typeface="Poppins"/>
                <a:cs typeface="Poppins"/>
                <a:sym typeface="Poppins"/>
              </a:rPr>
              <a:t>-</a:t>
            </a:r>
            <a:r>
              <a:rPr b="0" i="0" lang="en-US" sz="1100" u="none" cap="none" strike="noStrike">
                <a:solidFill>
                  <a:srgbClr val="E0E0E0"/>
                </a:solidFill>
                <a:latin typeface="Poppins"/>
                <a:ea typeface="Poppins"/>
                <a:cs typeface="Poppins"/>
                <a:sym typeface="Poppins"/>
              </a:rPr>
              <a:t> </a:t>
            </a:r>
            <a:r>
              <a:rPr lang="en-US" sz="1100">
                <a:solidFill>
                  <a:srgbClr val="E0E0E0"/>
                </a:solidFill>
                <a:latin typeface="Poppins"/>
                <a:ea typeface="Poppins"/>
                <a:cs typeface="Poppins"/>
                <a:sym typeface="Poppins"/>
              </a:rPr>
              <a:t>appearance</a:t>
            </a:r>
            <a:r>
              <a:rPr lang="en-US" sz="1100">
                <a:solidFill>
                  <a:srgbClr val="E0E0E0"/>
                </a:solidFill>
                <a:latin typeface="Poppins"/>
                <a:ea typeface="Poppins"/>
                <a:cs typeface="Poppins"/>
                <a:sym typeface="Poppins"/>
              </a:rPr>
              <a:t> editing -</a:t>
            </a:r>
            <a:r>
              <a:rPr b="0" i="0" lang="en-US" sz="1100" u="none" cap="none" strike="noStrike">
                <a:solidFill>
                  <a:srgbClr val="E0E0E0"/>
                </a:solidFill>
                <a:latin typeface="Poppins"/>
                <a:ea typeface="Poppins"/>
                <a:cs typeface="Poppins"/>
                <a:sym typeface="Poppins"/>
              </a:rPr>
              <a:t> but with desktop precision they can’t get on phone</a:t>
            </a:r>
            <a:endParaRPr b="0" i="0" sz="1100" u="none" cap="none" strike="noStrike">
              <a:solidFill>
                <a:schemeClr val="dk1"/>
              </a:solidFill>
              <a:latin typeface="Calibri"/>
              <a:ea typeface="Calibri"/>
              <a:cs typeface="Calibri"/>
              <a:sym typeface="Calibri"/>
            </a:endParaRPr>
          </a:p>
        </p:txBody>
      </p:sp>
      <p:sp>
        <p:nvSpPr>
          <p:cNvPr id="442" name="Google Shape;442;p14"/>
          <p:cNvSpPr/>
          <p:nvPr/>
        </p:nvSpPr>
        <p:spPr>
          <a:xfrm>
            <a:off x="640080" y="3337560"/>
            <a:ext cx="274320" cy="274320"/>
          </a:xfrm>
          <a:prstGeom prst="ellipse">
            <a:avLst/>
          </a:prstGeom>
          <a:solidFill>
            <a:srgbClr val="F48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4"/>
          <p:cNvSpPr/>
          <p:nvPr/>
        </p:nvSpPr>
        <p:spPr>
          <a:xfrm>
            <a:off x="640080" y="333756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Poppins"/>
              <a:buNone/>
            </a:pPr>
            <a:r>
              <a:rPr b="1" i="0" lang="en-US" sz="1100" u="none" cap="none" strike="noStrike">
                <a:solidFill>
                  <a:srgbClr val="1A1A1A"/>
                </a:solidFill>
                <a:latin typeface="Poppins"/>
                <a:ea typeface="Poppins"/>
                <a:cs typeface="Poppins"/>
                <a:sym typeface="Poppins"/>
              </a:rPr>
              <a:t>3</a:t>
            </a:r>
            <a:endParaRPr b="0" i="0" sz="1100" u="none" cap="none" strike="noStrike">
              <a:solidFill>
                <a:schemeClr val="dk1"/>
              </a:solidFill>
              <a:latin typeface="Calibri"/>
              <a:ea typeface="Calibri"/>
              <a:cs typeface="Calibri"/>
              <a:sym typeface="Calibri"/>
            </a:endParaRPr>
          </a:p>
        </p:txBody>
      </p:sp>
      <p:sp>
        <p:nvSpPr>
          <p:cNvPr id="444" name="Google Shape;444;p14"/>
          <p:cNvSpPr/>
          <p:nvPr/>
        </p:nvSpPr>
        <p:spPr>
          <a:xfrm>
            <a:off x="1097280" y="3291840"/>
            <a:ext cx="7498080" cy="411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0E0E0"/>
              </a:buClr>
              <a:buSzPts val="1100"/>
              <a:buFont typeface="Poppins"/>
              <a:buNone/>
            </a:pPr>
            <a:r>
              <a:rPr b="0" i="0" lang="en-US" sz="1100" u="none" cap="none" strike="noStrike">
                <a:solidFill>
                  <a:srgbClr val="E0E0E0"/>
                </a:solidFill>
                <a:latin typeface="Poppins"/>
                <a:ea typeface="Poppins"/>
                <a:cs typeface="Poppins"/>
                <a:sym typeface="Poppins"/>
              </a:rPr>
              <a:t>The #1 phone complaint is lack of precision. Desktop solves that by default</a:t>
            </a:r>
            <a:endParaRPr b="0" i="0" sz="1100" u="none" cap="none" strike="noStrike">
              <a:solidFill>
                <a:schemeClr val="dk1"/>
              </a:solidFill>
              <a:latin typeface="Calibri"/>
              <a:ea typeface="Calibri"/>
              <a:cs typeface="Calibri"/>
              <a:sym typeface="Calibri"/>
            </a:endParaRPr>
          </a:p>
        </p:txBody>
      </p:sp>
      <p:sp>
        <p:nvSpPr>
          <p:cNvPr id="445" name="Google Shape;445;p14"/>
          <p:cNvSpPr/>
          <p:nvPr/>
        </p:nvSpPr>
        <p:spPr>
          <a:xfrm>
            <a:off x="640080" y="3840480"/>
            <a:ext cx="274320" cy="274320"/>
          </a:xfrm>
          <a:prstGeom prst="ellipse">
            <a:avLst/>
          </a:prstGeom>
          <a:solidFill>
            <a:srgbClr val="F48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4"/>
          <p:cNvSpPr/>
          <p:nvPr/>
        </p:nvSpPr>
        <p:spPr>
          <a:xfrm>
            <a:off x="640080" y="384048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Poppins"/>
              <a:buNone/>
            </a:pPr>
            <a:r>
              <a:rPr b="1" i="0" lang="en-US" sz="1100" u="none" cap="none" strike="noStrike">
                <a:solidFill>
                  <a:srgbClr val="1A1A1A"/>
                </a:solidFill>
                <a:latin typeface="Poppins"/>
                <a:ea typeface="Poppins"/>
                <a:cs typeface="Poppins"/>
                <a:sym typeface="Poppins"/>
              </a:rPr>
              <a:t>4</a:t>
            </a:r>
            <a:endParaRPr b="0" i="0" sz="1100" u="none" cap="none" strike="noStrike">
              <a:solidFill>
                <a:schemeClr val="dk1"/>
              </a:solidFill>
              <a:latin typeface="Calibri"/>
              <a:ea typeface="Calibri"/>
              <a:cs typeface="Calibri"/>
              <a:sym typeface="Calibri"/>
            </a:endParaRPr>
          </a:p>
        </p:txBody>
      </p:sp>
      <p:sp>
        <p:nvSpPr>
          <p:cNvPr id="447" name="Google Shape;447;p14"/>
          <p:cNvSpPr/>
          <p:nvPr/>
        </p:nvSpPr>
        <p:spPr>
          <a:xfrm>
            <a:off x="1097280" y="3794760"/>
            <a:ext cx="7498080" cy="411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0E0E0"/>
              </a:buClr>
              <a:buSzPts val="1100"/>
              <a:buFont typeface="Poppins"/>
              <a:buNone/>
            </a:pPr>
            <a:r>
              <a:rPr b="0" i="0" lang="en-US" sz="1100" u="none" cap="none" strike="noStrike">
                <a:solidFill>
                  <a:srgbClr val="E0E0E0"/>
                </a:solidFill>
                <a:latin typeface="Poppins"/>
                <a:ea typeface="Poppins"/>
                <a:cs typeface="Poppins"/>
                <a:sym typeface="Poppins"/>
              </a:rPr>
              <a:t>14% of dual-device users already start on phone and finish on desktop. We can own that workflow</a:t>
            </a:r>
            <a:endParaRPr b="0" i="0" sz="1100" u="none" cap="none" strike="noStrike">
              <a:solidFill>
                <a:schemeClr val="dk1"/>
              </a:solidFill>
              <a:latin typeface="Calibri"/>
              <a:ea typeface="Calibri"/>
              <a:cs typeface="Calibri"/>
              <a:sym typeface="Calibri"/>
            </a:endParaRPr>
          </a:p>
        </p:txBody>
      </p:sp>
      <p:sp>
        <p:nvSpPr>
          <p:cNvPr id="448" name="Google Shape;448;p14"/>
          <p:cNvSpPr/>
          <p:nvPr/>
        </p:nvSpPr>
        <p:spPr>
          <a:xfrm>
            <a:off x="640080" y="4343400"/>
            <a:ext cx="274320" cy="274320"/>
          </a:xfrm>
          <a:prstGeom prst="ellipse">
            <a:avLst/>
          </a:prstGeom>
          <a:solidFill>
            <a:srgbClr val="F48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4"/>
          <p:cNvSpPr/>
          <p:nvPr/>
        </p:nvSpPr>
        <p:spPr>
          <a:xfrm>
            <a:off x="640080" y="434340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Poppins"/>
              <a:buNone/>
            </a:pPr>
            <a:r>
              <a:rPr b="1" i="0" lang="en-US" sz="1100" u="none" cap="none" strike="noStrike">
                <a:solidFill>
                  <a:srgbClr val="1A1A1A"/>
                </a:solidFill>
                <a:latin typeface="Poppins"/>
                <a:ea typeface="Poppins"/>
                <a:cs typeface="Poppins"/>
                <a:sym typeface="Poppins"/>
              </a:rPr>
              <a:t>5</a:t>
            </a:r>
            <a:endParaRPr b="0" i="0" sz="1100" u="none" cap="none" strike="noStrike">
              <a:solidFill>
                <a:schemeClr val="dk1"/>
              </a:solidFill>
              <a:latin typeface="Calibri"/>
              <a:ea typeface="Calibri"/>
              <a:cs typeface="Calibri"/>
              <a:sym typeface="Calibri"/>
            </a:endParaRPr>
          </a:p>
        </p:txBody>
      </p:sp>
      <p:sp>
        <p:nvSpPr>
          <p:cNvPr id="450" name="Google Shape;450;p14"/>
          <p:cNvSpPr/>
          <p:nvPr/>
        </p:nvSpPr>
        <p:spPr>
          <a:xfrm>
            <a:off x="1097280" y="4297680"/>
            <a:ext cx="7498080" cy="4114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0E0E0"/>
              </a:buClr>
              <a:buSzPts val="1100"/>
              <a:buFont typeface="Poppins"/>
              <a:buNone/>
            </a:pPr>
            <a:r>
              <a:rPr b="0" i="0" lang="en-US" sz="1100" u="none" cap="none" strike="noStrike">
                <a:solidFill>
                  <a:srgbClr val="E0E0E0"/>
                </a:solidFill>
                <a:latin typeface="Poppins"/>
                <a:ea typeface="Poppins"/>
                <a:cs typeface="Poppins"/>
                <a:sym typeface="Poppins"/>
              </a:rPr>
              <a:t>Existing desktop tools are powerful but complex</a:t>
            </a:r>
            <a:r>
              <a:rPr lang="en-US" sz="1100">
                <a:solidFill>
                  <a:srgbClr val="E0E0E0"/>
                </a:solidFill>
                <a:latin typeface="Poppins"/>
                <a:ea typeface="Poppins"/>
                <a:cs typeface="Poppins"/>
                <a:sym typeface="Poppins"/>
              </a:rPr>
              <a:t>, we can aim for </a:t>
            </a:r>
            <a:r>
              <a:rPr b="0" i="0" lang="en-US" sz="1100" u="none" cap="none" strike="noStrike">
                <a:solidFill>
                  <a:srgbClr val="E0E0E0"/>
                </a:solidFill>
                <a:latin typeface="Poppins"/>
                <a:ea typeface="Poppins"/>
                <a:cs typeface="Poppins"/>
                <a:sym typeface="Poppins"/>
              </a:rPr>
              <a:t>simplicity </a:t>
            </a:r>
            <a:r>
              <a:rPr lang="en-US" sz="1100">
                <a:solidFill>
                  <a:srgbClr val="E0E0E0"/>
                </a:solidFill>
                <a:latin typeface="Poppins"/>
                <a:ea typeface="Poppins"/>
                <a:cs typeface="Poppins"/>
                <a:sym typeface="Poppins"/>
              </a:rPr>
              <a:t>as</a:t>
            </a:r>
            <a:r>
              <a:rPr b="0" i="0" lang="en-US" sz="1100" u="none" cap="none" strike="noStrike">
                <a:solidFill>
                  <a:srgbClr val="E0E0E0"/>
                </a:solidFill>
                <a:latin typeface="Poppins"/>
                <a:ea typeface="Poppins"/>
                <a:cs typeface="Poppins"/>
                <a:sym typeface="Poppins"/>
              </a:rPr>
              <a:t> the competitive advantage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sp>
        <p:nvSpPr>
          <p:cNvPr id="456" name="Google Shape;456;p15"/>
          <p:cNvSpPr/>
          <p:nvPr/>
        </p:nvSpPr>
        <p:spPr>
          <a:xfrm>
            <a:off x="640080" y="32004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2400"/>
              <a:buFont typeface="Poppins"/>
              <a:buNone/>
            </a:pPr>
            <a:r>
              <a:rPr b="1" i="0" lang="en-US" sz="2400" u="none" cap="none" strike="noStrike">
                <a:solidFill>
                  <a:srgbClr val="C2185B"/>
                </a:solidFill>
                <a:latin typeface="Poppins"/>
                <a:ea typeface="Poppins"/>
                <a:cs typeface="Poppins"/>
                <a:sym typeface="Poppins"/>
              </a:rPr>
              <a:t>What a desktop Facetune should be</a:t>
            </a:r>
            <a:endParaRPr b="0" i="0" sz="2400" u="none" cap="none" strike="noStrike">
              <a:solidFill>
                <a:schemeClr val="dk1"/>
              </a:solidFill>
              <a:latin typeface="Calibri"/>
              <a:ea typeface="Calibri"/>
              <a:cs typeface="Calibri"/>
              <a:sym typeface="Calibri"/>
            </a:endParaRPr>
          </a:p>
        </p:txBody>
      </p:sp>
      <p:sp>
        <p:nvSpPr>
          <p:cNvPr id="457" name="Google Shape;457;p15"/>
          <p:cNvSpPr/>
          <p:nvPr/>
        </p:nvSpPr>
        <p:spPr>
          <a:xfrm>
            <a:off x="640080" y="96012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Based on what users told us about their needs, behaviors, and frustrations:</a:t>
            </a:r>
            <a:endParaRPr b="0" i="0" sz="1100" u="none" cap="none" strike="noStrike">
              <a:solidFill>
                <a:schemeClr val="dk1"/>
              </a:solidFill>
              <a:latin typeface="Calibri"/>
              <a:ea typeface="Calibri"/>
              <a:cs typeface="Calibri"/>
              <a:sym typeface="Calibri"/>
            </a:endParaRPr>
          </a:p>
        </p:txBody>
      </p:sp>
      <p:sp>
        <p:nvSpPr>
          <p:cNvPr id="458" name="Google Shape;458;p15"/>
          <p:cNvSpPr/>
          <p:nvPr/>
        </p:nvSpPr>
        <p:spPr>
          <a:xfrm>
            <a:off x="457200" y="1554480"/>
            <a:ext cx="2697480" cy="3200400"/>
          </a:xfrm>
          <a:prstGeom prst="rect">
            <a:avLst/>
          </a:prstGeom>
          <a:solidFill>
            <a:srgbClr val="FFFFFF"/>
          </a:solidFill>
          <a:ln>
            <a:noFill/>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5"/>
          <p:cNvSpPr/>
          <p:nvPr/>
        </p:nvSpPr>
        <p:spPr>
          <a:xfrm>
            <a:off x="457200" y="1554480"/>
            <a:ext cx="2697480" cy="54864"/>
          </a:xfrm>
          <a:prstGeom prst="rect">
            <a:avLst/>
          </a:prstGeom>
          <a:solidFill>
            <a:srgbClr val="F48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5"/>
          <p:cNvSpPr/>
          <p:nvPr/>
        </p:nvSpPr>
        <p:spPr>
          <a:xfrm>
            <a:off x="640080" y="173736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1400"/>
              <a:buFont typeface="Poppins"/>
              <a:buNone/>
            </a:pPr>
            <a:r>
              <a:rPr b="1" lang="en-US">
                <a:solidFill>
                  <a:srgbClr val="F48FB1"/>
                </a:solidFill>
                <a:latin typeface="Poppins"/>
                <a:ea typeface="Poppins"/>
                <a:cs typeface="Poppins"/>
                <a:sym typeface="Poppins"/>
              </a:rPr>
              <a:t>Appearance </a:t>
            </a:r>
            <a:r>
              <a:rPr b="1" i="0" lang="en-US" sz="1400" u="none" cap="none" strike="noStrike">
                <a:solidFill>
                  <a:srgbClr val="F48FB1"/>
                </a:solidFill>
                <a:latin typeface="Poppins"/>
                <a:ea typeface="Poppins"/>
                <a:cs typeface="Poppins"/>
                <a:sym typeface="Poppins"/>
              </a:rPr>
              <a: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48FB1"/>
              </a:buClr>
              <a:buSzPts val="1400"/>
              <a:buFont typeface="Poppins"/>
              <a:buNone/>
            </a:pPr>
            <a:r>
              <a:rPr b="1" i="0" lang="en-US" sz="1400" u="none" cap="none" strike="noStrike">
                <a:solidFill>
                  <a:srgbClr val="F48FB1"/>
                </a:solidFill>
                <a:latin typeface="Poppins"/>
                <a:ea typeface="Poppins"/>
                <a:cs typeface="Poppins"/>
                <a:sym typeface="Poppins"/>
              </a:rPr>
              <a:t>precision</a:t>
            </a:r>
            <a:endParaRPr b="0" i="0" sz="1400" u="none" cap="none" strike="noStrike">
              <a:solidFill>
                <a:schemeClr val="dk1"/>
              </a:solidFill>
              <a:latin typeface="Calibri"/>
              <a:ea typeface="Calibri"/>
              <a:cs typeface="Calibri"/>
              <a:sym typeface="Calibri"/>
            </a:endParaRPr>
          </a:p>
        </p:txBody>
      </p:sp>
      <p:sp>
        <p:nvSpPr>
          <p:cNvPr id="461" name="Google Shape;461;p15"/>
          <p:cNvSpPr/>
          <p:nvPr/>
        </p:nvSpPr>
        <p:spPr>
          <a:xfrm>
            <a:off x="640080" y="2286000"/>
            <a:ext cx="2286000" cy="22860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D2D2D"/>
              </a:buClr>
              <a:buSzPts val="1150"/>
              <a:buFont typeface="Poppins"/>
              <a:buNone/>
            </a:pPr>
            <a:r>
              <a:rPr b="0" i="0" lang="en-US" sz="1150" u="none" cap="none" strike="noStrike">
                <a:solidFill>
                  <a:srgbClr val="2D2D2D"/>
                </a:solidFill>
                <a:latin typeface="Poppins"/>
                <a:ea typeface="Poppins"/>
                <a:cs typeface="Poppins"/>
                <a:sym typeface="Poppins"/>
              </a:rPr>
              <a:t>Face, skin, body, makeup editing are Facetune’s differentiator. On desktop, pair these with the precision and control users can’t get on phone.</a:t>
            </a:r>
            <a:endParaRPr b="0" i="0" sz="11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2D2D2D"/>
              </a:buClr>
              <a:buSzPts val="1150"/>
              <a:buFont typeface="Poppins"/>
              <a:buNone/>
            </a:pPr>
            <a:r>
              <a:t/>
            </a:r>
            <a:endParaRPr b="0" i="0" sz="1150" u="none" cap="none" strike="noStrike">
              <a:solidFill>
                <a:schemeClr val="dk1"/>
              </a:solidFill>
              <a:latin typeface="Calibri"/>
              <a:ea typeface="Calibri"/>
              <a:cs typeface="Calibri"/>
              <a:sym typeface="Calibri"/>
            </a:endParaRPr>
          </a:p>
        </p:txBody>
      </p:sp>
      <p:sp>
        <p:nvSpPr>
          <p:cNvPr id="462" name="Google Shape;462;p15"/>
          <p:cNvSpPr/>
          <p:nvPr/>
        </p:nvSpPr>
        <p:spPr>
          <a:xfrm>
            <a:off x="3337560" y="1554480"/>
            <a:ext cx="2697480" cy="3200400"/>
          </a:xfrm>
          <a:prstGeom prst="rect">
            <a:avLst/>
          </a:prstGeom>
          <a:solidFill>
            <a:srgbClr val="FFFFFF"/>
          </a:solidFill>
          <a:ln>
            <a:noFill/>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5"/>
          <p:cNvSpPr/>
          <p:nvPr/>
        </p:nvSpPr>
        <p:spPr>
          <a:xfrm>
            <a:off x="3337560" y="1554480"/>
            <a:ext cx="2697480" cy="54864"/>
          </a:xfrm>
          <a:prstGeom prst="rect">
            <a:avLst/>
          </a:prstGeom>
          <a:solidFill>
            <a:srgbClr val="C218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5"/>
          <p:cNvSpPr/>
          <p:nvPr/>
        </p:nvSpPr>
        <p:spPr>
          <a:xfrm>
            <a:off x="3520440" y="173736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185B"/>
              </a:buClr>
              <a:buSzPts val="1400"/>
              <a:buFont typeface="Poppins"/>
              <a:buNone/>
            </a:pPr>
            <a:r>
              <a:rPr b="1" i="0" lang="en-US" sz="1400" u="none" cap="none" strike="noStrike">
                <a:solidFill>
                  <a:srgbClr val="C2185B"/>
                </a:solidFill>
                <a:latin typeface="Poppins"/>
                <a:ea typeface="Poppins"/>
                <a:cs typeface="Poppins"/>
                <a:sym typeface="Poppins"/>
              </a:rPr>
              <a:t>Simple, not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2185B"/>
              </a:buClr>
              <a:buSzPts val="1400"/>
              <a:buFont typeface="Poppins"/>
              <a:buNone/>
            </a:pPr>
            <a:r>
              <a:rPr b="1" i="0" lang="en-US" sz="1400" u="none" cap="none" strike="noStrike">
                <a:solidFill>
                  <a:srgbClr val="C2185B"/>
                </a:solidFill>
                <a:latin typeface="Poppins"/>
                <a:ea typeface="Poppins"/>
                <a:cs typeface="Poppins"/>
                <a:sym typeface="Poppins"/>
              </a:rPr>
              <a:t>complex</a:t>
            </a:r>
            <a:endParaRPr b="0" i="0" sz="1400" u="none" cap="none" strike="noStrike">
              <a:solidFill>
                <a:schemeClr val="dk1"/>
              </a:solidFill>
              <a:latin typeface="Calibri"/>
              <a:ea typeface="Calibri"/>
              <a:cs typeface="Calibri"/>
              <a:sym typeface="Calibri"/>
            </a:endParaRPr>
          </a:p>
        </p:txBody>
      </p:sp>
      <p:sp>
        <p:nvSpPr>
          <p:cNvPr id="465" name="Google Shape;465;p15"/>
          <p:cNvSpPr/>
          <p:nvPr/>
        </p:nvSpPr>
        <p:spPr>
          <a:xfrm>
            <a:off x="3520440" y="2286000"/>
            <a:ext cx="2286000" cy="22860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D2D2D"/>
              </a:buClr>
              <a:buSzPts val="1150"/>
              <a:buFont typeface="Poppins"/>
              <a:buNone/>
            </a:pPr>
            <a:r>
              <a:rPr b="0" i="0" lang="en-US" sz="1150" u="none" cap="none" strike="noStrike">
                <a:solidFill>
                  <a:srgbClr val="2D2D2D"/>
                </a:solidFill>
                <a:latin typeface="Poppins"/>
                <a:ea typeface="Poppins"/>
                <a:cs typeface="Poppins"/>
                <a:sym typeface="Poppins"/>
              </a:rPr>
              <a:t>FT users complain about desktop tool complexity. The opportunity is professional-quality results with mobile-level simplicity.</a:t>
            </a:r>
            <a:endParaRPr b="0" i="0" sz="11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2D2D2D"/>
              </a:buClr>
              <a:buSzPts val="1150"/>
              <a:buFont typeface="Poppins"/>
              <a:buNone/>
            </a:pPr>
            <a:r>
              <a:t/>
            </a:r>
            <a:endParaRPr b="0" i="0" sz="1150" u="none" cap="none" strike="noStrike">
              <a:solidFill>
                <a:schemeClr val="dk1"/>
              </a:solidFill>
              <a:latin typeface="Calibri"/>
              <a:ea typeface="Calibri"/>
              <a:cs typeface="Calibri"/>
              <a:sym typeface="Calibri"/>
            </a:endParaRPr>
          </a:p>
        </p:txBody>
      </p:sp>
      <p:sp>
        <p:nvSpPr>
          <p:cNvPr id="466" name="Google Shape;466;p15"/>
          <p:cNvSpPr/>
          <p:nvPr/>
        </p:nvSpPr>
        <p:spPr>
          <a:xfrm>
            <a:off x="6217920" y="1554480"/>
            <a:ext cx="2697480" cy="3200400"/>
          </a:xfrm>
          <a:prstGeom prst="rect">
            <a:avLst/>
          </a:prstGeom>
          <a:solidFill>
            <a:srgbClr val="FFFFFF"/>
          </a:solidFill>
          <a:ln>
            <a:noFill/>
          </a:ln>
          <a:effectLst>
            <a:outerShdw blurRad="762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5"/>
          <p:cNvSpPr/>
          <p:nvPr/>
        </p:nvSpPr>
        <p:spPr>
          <a:xfrm>
            <a:off x="6217920" y="1554480"/>
            <a:ext cx="2697480" cy="54864"/>
          </a:xfrm>
          <a:prstGeom prst="rect">
            <a:avLst/>
          </a:prstGeom>
          <a:solidFill>
            <a:srgbClr val="E91E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5"/>
          <p:cNvSpPr/>
          <p:nvPr/>
        </p:nvSpPr>
        <p:spPr>
          <a:xfrm>
            <a:off x="6400800" y="173736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1E63"/>
              </a:buClr>
              <a:buSzPts val="1400"/>
              <a:buFont typeface="Poppins"/>
              <a:buNone/>
            </a:pPr>
            <a:r>
              <a:rPr b="1" i="0" lang="en-US" sz="1400" u="none" cap="none" strike="noStrike">
                <a:solidFill>
                  <a:srgbClr val="E91E63"/>
                </a:solidFill>
                <a:latin typeface="Poppins"/>
                <a:ea typeface="Poppins"/>
                <a:cs typeface="Poppins"/>
                <a:sym typeface="Poppins"/>
              </a:rPr>
              <a:t>Phone → desktop</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91E63"/>
              </a:buClr>
              <a:buSzPts val="1400"/>
              <a:buFont typeface="Poppins"/>
              <a:buNone/>
            </a:pPr>
            <a:r>
              <a:rPr b="1" i="0" lang="en-US" sz="1400" u="none" cap="none" strike="noStrike">
                <a:solidFill>
                  <a:srgbClr val="E91E63"/>
                </a:solidFill>
                <a:latin typeface="Poppins"/>
                <a:ea typeface="Poppins"/>
                <a:cs typeface="Poppins"/>
                <a:sym typeface="Poppins"/>
              </a:rPr>
              <a:t>sync</a:t>
            </a:r>
            <a:endParaRPr b="0" i="0" sz="1400" u="none" cap="none" strike="noStrike">
              <a:solidFill>
                <a:schemeClr val="dk1"/>
              </a:solidFill>
              <a:latin typeface="Calibri"/>
              <a:ea typeface="Calibri"/>
              <a:cs typeface="Calibri"/>
              <a:sym typeface="Calibri"/>
            </a:endParaRPr>
          </a:p>
        </p:txBody>
      </p:sp>
      <p:sp>
        <p:nvSpPr>
          <p:cNvPr id="469" name="Google Shape;469;p15"/>
          <p:cNvSpPr/>
          <p:nvPr/>
        </p:nvSpPr>
        <p:spPr>
          <a:xfrm>
            <a:off x="6400800" y="2286000"/>
            <a:ext cx="2286000" cy="22860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D2D2D"/>
              </a:buClr>
              <a:buSzPts val="1150"/>
              <a:buFont typeface="Poppins"/>
              <a:buNone/>
            </a:pPr>
            <a:r>
              <a:rPr b="0" i="0" lang="en-US" sz="1150" u="none" cap="none" strike="noStrike">
                <a:solidFill>
                  <a:srgbClr val="2D2D2D"/>
                </a:solidFill>
                <a:latin typeface="Poppins"/>
                <a:ea typeface="Poppins"/>
                <a:cs typeface="Poppins"/>
                <a:sym typeface="Poppins"/>
              </a:rPr>
              <a:t>14% already start on phone and finish on desktop. Make this seamless: capture on phone, refine on web, export for professional use</a:t>
            </a:r>
            <a:r>
              <a:rPr lang="en-US" sz="1150">
                <a:solidFill>
                  <a:srgbClr val="2D2D2D"/>
                </a:solidFill>
                <a:latin typeface="Poppins"/>
                <a:ea typeface="Poppins"/>
                <a:cs typeface="Poppins"/>
                <a:sym typeface="Poppins"/>
              </a:rPr>
              <a:t>.</a:t>
            </a:r>
            <a:endParaRPr b="0" i="0" sz="11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2D2D2D"/>
              </a:buClr>
              <a:buSzPts val="1150"/>
              <a:buFont typeface="Poppins"/>
              <a:buNone/>
            </a:pPr>
            <a:r>
              <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474" name="Shape 474"/>
        <p:cNvGrpSpPr/>
        <p:nvPr/>
      </p:nvGrpSpPr>
      <p:grpSpPr>
        <a:xfrm>
          <a:off x="0" y="0"/>
          <a:ext cx="0" cy="0"/>
          <a:chOff x="0" y="0"/>
          <a:chExt cx="0" cy="0"/>
        </a:xfrm>
      </p:grpSpPr>
      <p:sp>
        <p:nvSpPr>
          <p:cNvPr id="475" name="Google Shape;475;p17"/>
          <p:cNvSpPr/>
          <p:nvPr/>
        </p:nvSpPr>
        <p:spPr>
          <a:xfrm>
            <a:off x="640080" y="1645920"/>
            <a:ext cx="914400" cy="45720"/>
          </a:xfrm>
          <a:prstGeom prst="rect">
            <a:avLst/>
          </a:prstGeom>
          <a:solidFill>
            <a:srgbClr val="F48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7"/>
          <p:cNvSpPr/>
          <p:nvPr/>
        </p:nvSpPr>
        <p:spPr>
          <a:xfrm>
            <a:off x="640080" y="1828800"/>
            <a:ext cx="7315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Poppins"/>
              <a:buNone/>
            </a:pPr>
            <a:r>
              <a:rPr b="1" i="0" lang="en-US" sz="4400" u="none" cap="none" strike="noStrike">
                <a:solidFill>
                  <a:srgbClr val="FFFFFF"/>
                </a:solidFill>
                <a:latin typeface="Poppins"/>
                <a:ea typeface="Poppins"/>
                <a:cs typeface="Poppins"/>
                <a:sym typeface="Poppins"/>
              </a:rPr>
              <a:t>Thank You</a:t>
            </a:r>
            <a:endParaRPr b="0" i="0" sz="4400" u="none" cap="none" strike="noStrike">
              <a:solidFill>
                <a:schemeClr val="dk1"/>
              </a:solidFill>
              <a:latin typeface="Calibri"/>
              <a:ea typeface="Calibri"/>
              <a:cs typeface="Calibri"/>
              <a:sym typeface="Calibri"/>
            </a:endParaRPr>
          </a:p>
        </p:txBody>
      </p:sp>
      <p:sp>
        <p:nvSpPr>
          <p:cNvPr id="477" name="Google Shape;477;p17"/>
          <p:cNvSpPr/>
          <p:nvPr/>
        </p:nvSpPr>
        <p:spPr>
          <a:xfrm>
            <a:off x="640080" y="265176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8FB1"/>
              </a:buClr>
              <a:buSzPts val="2000"/>
              <a:buFont typeface="Poppins"/>
              <a:buNone/>
            </a:pPr>
            <a:r>
              <a:rPr b="0" i="0" lang="en-US" sz="2000" u="none" cap="none" strike="noStrike">
                <a:solidFill>
                  <a:srgbClr val="F48FB1"/>
                </a:solidFill>
                <a:latin typeface="Poppins"/>
                <a:ea typeface="Poppins"/>
                <a:cs typeface="Poppins"/>
                <a:sym typeface="Poppins"/>
              </a:rPr>
              <a:t>Questions?</a:t>
            </a:r>
            <a:endParaRPr b="0" i="0" sz="2000" u="none" cap="none" strike="noStrike">
              <a:solidFill>
                <a:schemeClr val="dk1"/>
              </a:solidFill>
              <a:latin typeface="Calibri"/>
              <a:ea typeface="Calibri"/>
              <a:cs typeface="Calibri"/>
              <a:sym typeface="Calibri"/>
            </a:endParaRPr>
          </a:p>
        </p:txBody>
      </p:sp>
      <p:sp>
        <p:nvSpPr>
          <p:cNvPr id="478" name="Google Shape;478;p17"/>
          <p:cNvSpPr/>
          <p:nvPr/>
        </p:nvSpPr>
        <p:spPr>
          <a:xfrm>
            <a:off x="640080" y="384048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Poppins"/>
              <a:buNone/>
            </a:pPr>
            <a:r>
              <a:rPr b="0" i="0" lang="en-US" sz="1100" u="none" cap="none" strike="noStrike">
                <a:solidFill>
                  <a:srgbClr val="6B6B6B"/>
                </a:solidFill>
                <a:latin typeface="Poppins"/>
                <a:ea typeface="Poppins"/>
                <a:cs typeface="Poppins"/>
                <a:sym typeface="Poppins"/>
              </a:rPr>
              <a:t>Shira Kedem  |  UX Research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2026-04-14T08:58:44Z</dcterms:created>
  <dc:creator>Shira Kedem</dc:creator>
</cp:coreProperties>
</file>