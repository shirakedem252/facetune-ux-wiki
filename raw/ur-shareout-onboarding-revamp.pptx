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5143500" cy="9144000"/>
  <p:embeddedFontLst>
    <p:embeddedFont>
      <p:font typeface="Lora Medium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Lora SemiBold"/>
      <p:regular r:id="rId38"/>
      <p:bold r:id="rId39"/>
      <p:italic r:id="rId40"/>
      <p:boldItalic r:id="rId41"/>
    </p:embeddedFont>
    <p:embeddedFont>
      <p:font typeface="Lora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9o74/0x5utyu3ZCvAn0J81aUU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5D4923-797E-4BDB-927C-D5248A806A87}">
  <a:tblStyle styleId="{735D4923-797E-4BDB-927C-D5248A806A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raSemiBold-italic.fntdata"/><Relationship Id="rId20" Type="http://schemas.openxmlformats.org/officeDocument/2006/relationships/slide" Target="slides/slide15.xml"/><Relationship Id="rId42" Type="http://schemas.openxmlformats.org/officeDocument/2006/relationships/font" Target="fonts/Lora-regular.fntdata"/><Relationship Id="rId41" Type="http://schemas.openxmlformats.org/officeDocument/2006/relationships/font" Target="fonts/LoraSemiBold-boldItalic.fntdata"/><Relationship Id="rId22" Type="http://schemas.openxmlformats.org/officeDocument/2006/relationships/slide" Target="slides/slide17.xml"/><Relationship Id="rId44" Type="http://schemas.openxmlformats.org/officeDocument/2006/relationships/font" Target="fonts/Lora-italic.fntdata"/><Relationship Id="rId21" Type="http://schemas.openxmlformats.org/officeDocument/2006/relationships/slide" Target="slides/slide16.xml"/><Relationship Id="rId43" Type="http://schemas.openxmlformats.org/officeDocument/2006/relationships/font" Target="fonts/Lora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Lora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Medium-bold.fntdata"/><Relationship Id="rId30" Type="http://schemas.openxmlformats.org/officeDocument/2006/relationships/font" Target="fonts/LoraMedium-regular.fntdata"/><Relationship Id="rId11" Type="http://schemas.openxmlformats.org/officeDocument/2006/relationships/slide" Target="slides/slide6.xml"/><Relationship Id="rId33" Type="http://schemas.openxmlformats.org/officeDocument/2006/relationships/font" Target="fonts/Lora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LoraMedium-italic.fntdata"/><Relationship Id="rId13" Type="http://schemas.openxmlformats.org/officeDocument/2006/relationships/slide" Target="slides/slide8.xml"/><Relationship Id="rId35" Type="http://schemas.openxmlformats.org/officeDocument/2006/relationships/font" Target="fonts/Poppins-bold.fntdata"/><Relationship Id="rId12" Type="http://schemas.openxmlformats.org/officeDocument/2006/relationships/slide" Target="slides/slide7.xml"/><Relationship Id="rId34" Type="http://schemas.openxmlformats.org/officeDocument/2006/relationships/font" Target="fonts/Poppins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-italic.fntdata"/><Relationship Id="rId17" Type="http://schemas.openxmlformats.org/officeDocument/2006/relationships/slide" Target="slides/slide12.xml"/><Relationship Id="rId39" Type="http://schemas.openxmlformats.org/officeDocument/2006/relationships/font" Target="fonts/LoraSemiBold-bold.fntdata"/><Relationship Id="rId16" Type="http://schemas.openxmlformats.org/officeDocument/2006/relationships/slide" Target="slides/slide11.xml"/><Relationship Id="rId38" Type="http://schemas.openxmlformats.org/officeDocument/2006/relationships/font" Target="fonts/LoraSemiBo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7bcc7f2d8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97bcc7f2d8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97bcc7f2d8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7bcc7f2d8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97bcc7f2d8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97bcc7f2d8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5bcc6b2d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d5bcc6b2d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d5bcc6b2d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OT4MgaEU55MAuYIYjh0cNBG5k2BJo8cd/view" TargetMode="External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fsEbSIWVt1bDxLYlvFi6Wlzet6rtuiIP/view" TargetMode="External"/><Relationship Id="rId4" Type="http://schemas.openxmlformats.org/officeDocument/2006/relationships/image" Target="../media/image4.jp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pOnRzGpPHZwckNKrlFtS5np68OO11NAG/view" TargetMode="External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Ogk6SI5xNCOzXrylJtNbLyRo2lBvgr7y/view" TargetMode="External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oppins"/>
              <a:buNone/>
            </a:pPr>
            <a:r>
              <a:rPr i="0" lang="en-US" sz="4200" u="none" cap="none" strike="noStrike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Onboarding Revamp</a:t>
            </a:r>
            <a:endParaRPr i="0" sz="4200" u="none" cap="none" strike="noStrike">
              <a:solidFill>
                <a:schemeClr val="dk1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Poppin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Unmoderated Usability Test </a:t>
            </a:r>
            <a:r>
              <a:rPr lang="en-US" sz="20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000" u="none" cap="none" strike="noStrike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 </a:t>
            </a:r>
            <a:r>
              <a:rPr lang="en-US" sz="20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insights </a:t>
            </a:r>
            <a:endParaRPr i="0" sz="20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5" y="3181309"/>
            <a:ext cx="7680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6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Facetune </a:t>
            </a:r>
            <a:r>
              <a:rPr lang="en-US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design</a:t>
            </a:r>
            <a:r>
              <a:rPr lang="en-US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 group &amp;</a:t>
            </a:r>
            <a:r>
              <a:rPr b="0" i="0" lang="en-US" sz="1400" u="none" cap="none" strike="noStrike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  UX Research  </a:t>
            </a:r>
            <a:endParaRPr b="0" i="0" sz="1400" u="none" cap="none" strike="noStrike">
              <a:solidFill>
                <a:srgbClr val="8896A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6"/>
              </a:buClr>
              <a:buSzPts val="1400"/>
              <a:buFont typeface="Poppins"/>
              <a:buNone/>
            </a:pPr>
            <a:r>
              <a:t/>
            </a:r>
            <a:endParaRPr>
              <a:solidFill>
                <a:srgbClr val="8896A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6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 April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Poppins"/>
              <a:buNone/>
            </a:pPr>
            <a:r>
              <a:rPr i="0" lang="en-US" sz="30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Study Overview</a:t>
            </a:r>
            <a:endParaRPr i="0" sz="30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118872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640080" y="1188720"/>
            <a:ext cx="3931920" cy="54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14400" y="14173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Poppins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Background</a:t>
            </a:r>
            <a:endParaRPr i="0" sz="1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14400" y="187452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We want to improve the onboarding experience to feel more up to date, more engaging, and more interactive </a:t>
            </a:r>
            <a:r>
              <a:rPr lang="en-US" sz="13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so that users are excited to get started with the app.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We explored two new onboarding concepts and tested them against the current baseline to understand how users react to each approach.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846320" y="1188720"/>
            <a:ext cx="3931920" cy="54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120640" y="14173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Poppins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Methodology</a:t>
            </a:r>
            <a:endParaRPr i="0" sz="1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120640" y="187452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Mix-methods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Unmoderated usability testing &amp; ranking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Participants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40 per concept (n=120 total)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18–40, non-FT users, 50/50 gender split</a:t>
            </a:r>
            <a:b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UserTesting.com + Figma prototypes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Poppins"/>
              <a:buNone/>
            </a:pPr>
            <a:r>
              <a:rPr i="0" lang="en-US" sz="30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The 3 Onboarding Experiences</a:t>
            </a:r>
            <a:endParaRPr i="0" sz="30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40" name="Google Shape;40;p3" title="Screen Recording 2026-04-26 at 15.38.0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75" y="1174697"/>
            <a:ext cx="1688600" cy="3658615"/>
          </a:xfrm>
          <a:prstGeom prst="rect">
            <a:avLst/>
          </a:prstGeom>
          <a:noFill/>
          <a:ln>
            <a:noFill/>
          </a:ln>
          <a:effectLst>
            <a:outerShdw blurRad="54773" rotWithShape="0" algn="bl" dir="5400000" dist="18258">
              <a:srgbClr val="000000">
                <a:alpha val="50000"/>
              </a:srgbClr>
            </a:outerShdw>
          </a:effectLst>
        </p:spPr>
      </p:pic>
      <p:pic>
        <p:nvPicPr>
          <p:cNvPr id="41" name="Google Shape;4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5950" y="1173600"/>
            <a:ext cx="1688601" cy="366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1223" y="1173618"/>
            <a:ext cx="1688601" cy="366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7bcc7f2d8_0_21"/>
          <p:cNvSpPr/>
          <p:nvPr/>
        </p:nvSpPr>
        <p:spPr>
          <a:xfrm>
            <a:off x="640080" y="36576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Poppins"/>
              <a:buNone/>
            </a:pPr>
            <a:r>
              <a:rPr lang="en-US" sz="30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The 3 Onboarding Experiences</a:t>
            </a:r>
            <a:endParaRPr sz="3000">
              <a:solidFill>
                <a:srgbClr val="1E293B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49" name="Google Shape;49;g397bcc7f2d8_0_21" title="Screen Recording 1405-02-06 at 15.38.1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200" y="1173625"/>
            <a:ext cx="1745130" cy="3660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0" name="Google Shape;50;g397bcc7f2d8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702" y="1175762"/>
            <a:ext cx="1688599" cy="3656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97bcc7f2d8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1223" y="1173618"/>
            <a:ext cx="1688601" cy="366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7bcc7f2d8_0_8"/>
          <p:cNvSpPr/>
          <p:nvPr/>
        </p:nvSpPr>
        <p:spPr>
          <a:xfrm>
            <a:off x="640080" y="36576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Poppins"/>
              <a:buNone/>
            </a:pPr>
            <a:r>
              <a:rPr lang="en-US" sz="30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The 3 Onboarding Experiences</a:t>
            </a:r>
            <a:endParaRPr sz="3000">
              <a:solidFill>
                <a:srgbClr val="1E293B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58" name="Google Shape;58;g397bcc7f2d8_0_8" title="Screen Recording 2026-04-26 at 15.37.1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5749" y="1174688"/>
            <a:ext cx="1688600" cy="365866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9" name="Google Shape;59;g397bcc7f2d8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9725" y="1173613"/>
            <a:ext cx="1688601" cy="366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97bcc7f2d8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702" y="1175762"/>
            <a:ext cx="1688599" cy="3656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731520" y="12801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01</a:t>
            </a:r>
            <a:endParaRPr b="1" i="0" sz="48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</a:pPr>
            <a:r>
              <a:rPr i="0" lang="en-US" sz="3600" u="none" cap="none" strike="noStrike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Qualitative</a:t>
            </a:r>
            <a:r>
              <a:rPr i="0" lang="en-US" sz="3600" u="none" cap="none" strike="noStrike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 Findings</a:t>
            </a:r>
            <a:endParaRPr i="0" sz="3600" u="none" cap="none" strike="noStrike">
              <a:solidFill>
                <a:schemeClr val="dk1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6"/>
              </a:buClr>
              <a:buSzPts val="1600"/>
              <a:buFont typeface="Poppins"/>
              <a:buNone/>
            </a:pPr>
            <a:r>
              <a:rPr b="0" i="0" lang="en-US" sz="1600" u="none" cap="none" strike="noStrike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Themes, pain points, and risks per onboarding experience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Baseline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Key Themes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1380410"/>
            <a:ext cx="40233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85800" y="151757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rgbClr val="6B7280"/>
                </a:solidFill>
                <a:latin typeface="Lora Medium"/>
                <a:ea typeface="Lora Medium"/>
                <a:cs typeface="Lora Medium"/>
                <a:sym typeface="Lora Medium"/>
              </a:rPr>
              <a:t>Simplicity is the #1 strength 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5800" y="1883330"/>
            <a:ext cx="3566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consistently praised the 3-question, skippable flow as short, simple, and easy. The step counter (1/3) set good expectations and made the experience feel quick.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764230" y="1380400"/>
            <a:ext cx="40233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992830" y="151756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rgbClr val="6B7280"/>
                </a:solidFill>
                <a:latin typeface="Lora Medium"/>
                <a:ea typeface="Lora Medium"/>
                <a:cs typeface="Lora Medium"/>
                <a:sym typeface="Lora Medium"/>
              </a:rPr>
              <a:t>Clean design, but lacking personality 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992830" y="1883320"/>
            <a:ext cx="3566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Design praised as modern and clean with large, easy-to-tap buttons. But about a third of users wanted more color, imagery, or visual personality. A subset found emojis "childish".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Baseline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Pain Points &amp; Risks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57200" y="1051560"/>
            <a:ext cx="64008" cy="10058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77240" y="11430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Poppins"/>
              <a:buNone/>
            </a:pPr>
            <a:r>
              <a:rPr lang="en-US" sz="1300">
                <a:solidFill>
                  <a:srgbClr val="6B7280"/>
                </a:solidFill>
                <a:latin typeface="Lora Medium"/>
                <a:ea typeface="Lora Medium"/>
                <a:cs typeface="Lora Medium"/>
                <a:sym typeface="Lora Medium"/>
              </a:rPr>
              <a:t>The gender question felt uncomfortable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77240" y="1600197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i="1" lang="en-US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“Why does my gender matter when I'm editing a photo?</a:t>
            </a:r>
            <a:r>
              <a:rPr lang="en-US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" Nearly half the participants called it intrusive, confusing, or irrelevant. The "this helps us improve" copy was not convincing enough.</a:t>
            </a:r>
            <a:endParaRPr sz="11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t/>
            </a:r>
            <a:endParaRPr sz="11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224028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57200" y="2240280"/>
            <a:ext cx="64008" cy="10058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77240" y="23317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Poppins"/>
              <a:buNone/>
            </a:pPr>
            <a:r>
              <a:rPr i="0" lang="en-US" sz="1300" u="none" cap="none" strike="noStrike">
                <a:solidFill>
                  <a:srgbClr val="6B7280"/>
                </a:solidFill>
                <a:latin typeface="Lora Medium"/>
                <a:ea typeface="Lora Medium"/>
                <a:cs typeface="Lora Medium"/>
                <a:sym typeface="Lora Medium"/>
              </a:rPr>
              <a:t>No visible personalization payoff 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77240" y="267919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questioned why they were being asked these questions and what impact their answers would have. The onboarding promises to "improve your experience" but users finish without a sense of purpose or payoff.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57200" y="3429000"/>
            <a:ext cx="64008" cy="10058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77240" y="3520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Poppins"/>
              <a:buNone/>
            </a:pPr>
            <a:r>
              <a:rPr i="0" lang="en-US" sz="1300" u="none" cap="none" strike="noStrike">
                <a:solidFill>
                  <a:srgbClr val="6B7280"/>
                </a:solidFill>
                <a:latin typeface="Lora Medium"/>
                <a:ea typeface="Lora Medium"/>
                <a:cs typeface="Lora Medium"/>
                <a:sym typeface="Lora Medium"/>
              </a:rPr>
              <a:t>Engagement ceiling is low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77240" y="3867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With only 3 generic questions, about a third of users rated engagement 2–3/5. The flow is efficient but not memorable </a:t>
            </a:r>
            <a:r>
              <a:rPr lang="en-US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0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"just another survey."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4F7F9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bcc6b2d2_0_0"/>
          <p:cNvSpPr/>
          <p:nvPr/>
        </p:nvSpPr>
        <p:spPr>
          <a:xfrm>
            <a:off x="0" y="0"/>
            <a:ext cx="73200" cy="51435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5bcc6b2d2_0_0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Baseline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Pain Points &amp; Risks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109" name="Google Shape;109;g3d5bcc6b2d2_0_0" title="UserTesting-Reaction-to-the-baseline-tes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0502" y="223052"/>
            <a:ext cx="2154025" cy="4683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Persona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Key Themes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105156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400"/>
              <a:buFont typeface="Poppins"/>
              <a:buNone/>
            </a:pPr>
            <a:r>
              <a:rPr lang="en-US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The experience</a:t>
            </a:r>
            <a:r>
              <a:rPr i="0" lang="en-US" sz="1400" u="none" cap="none" strike="noStrike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 sparks delight 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85800" y="155448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flow-chart navigation </a:t>
            </a:r>
            <a:r>
              <a:rPr lang="en-US" sz="11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experience</a:t>
            </a: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praised as "unique," "creative," "like a journey" </a:t>
            </a:r>
            <a:r>
              <a:rPr lang="en-US" sz="11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a map, tree, or canvas. Strong emotional differentiation from standard onboarding.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754880" y="105156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Visually appealing &amp; </a:t>
            </a:r>
            <a:r>
              <a:rPr lang="en-US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clear aesthtic 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983480" y="155448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consistently praised the visual design as fresh, modern, and artistic. Colors, graphics, imagery, and overall polish contributed to a premium feel that stood out from other apps.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Quick &amp; engaging despite 5 questions 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85800" y="347472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appreciated that the onboarding was brief and didn't feel time-consuming. The interactive format kept attention and made the 5-question depth feel effortless.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754880" y="297180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983480" y="3108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Personality result felt meaningful 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983480" y="347472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who engaged with their personality result found it relevant and true to themselves. The badge/label metaphor created a collectible moment, reminiscent of Spotify Wrapped.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Persona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Pain Points &amp; Risks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57200" y="1051550"/>
            <a:ext cx="8229600" cy="126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57200" y="1051547"/>
            <a:ext cx="63900" cy="12648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777240" y="11430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300"/>
              <a:buFont typeface="Poppins"/>
              <a:buNone/>
            </a:pPr>
            <a:r>
              <a:rPr lang="en-US" sz="1300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The quiz may feel disconnected from the product experience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77250" y="1469310"/>
            <a:ext cx="76809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questioned whether their answers would actually shape what they see in the app, fearing that a single selection might lock them into a limited experience. Questions felt broad or "not scientifically accurate," raising doubts about whether the quiz has any real functional value.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57200" y="2451925"/>
            <a:ext cx="8229600" cy="1052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57200" y="2451925"/>
            <a:ext cx="63900" cy="1052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777240" y="254337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300"/>
              <a:buFont typeface="Poppins"/>
              <a:buNone/>
            </a:pPr>
            <a:r>
              <a:rPr lang="en-US" sz="1300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Answer options feel too narrow and binary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77240" y="2859092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felt pigeonholed by limited choices and wanted more nuance; the ability to select multiple answers or have an "other" option. The current structure doesn't reflect the range of how people actually see themselves.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3640650"/>
            <a:ext cx="8229600" cy="126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57200" y="3640650"/>
            <a:ext cx="73200" cy="12648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777240" y="373209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300"/>
              <a:buFont typeface="Poppins"/>
              <a:buNone/>
            </a:pPr>
            <a:r>
              <a:rPr lang="en-US" sz="1300">
                <a:solidFill>
                  <a:srgbClr val="EC4899"/>
                </a:solidFill>
                <a:latin typeface="Lora Medium"/>
                <a:ea typeface="Lora Medium"/>
                <a:cs typeface="Lora Medium"/>
                <a:sym typeface="Lora Medium"/>
              </a:rPr>
              <a:t>The flow may not resonate equally across genders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77240" y="4079562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77250" y="4079554"/>
            <a:ext cx="76809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who gave lower ratings or expressed criticism were mainly men, which may suggest the flow has a more feminine feel — whether in tone, visual language, or the framing of the questions. This is worth investigating further to understand whether inclusivity plays a role.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Poll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Key Themes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57200" y="105156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rgbClr val="3B82F6"/>
                </a:solidFill>
                <a:latin typeface="Lora Medium"/>
                <a:ea typeface="Lora Medium"/>
                <a:cs typeface="Lora Medium"/>
                <a:sym typeface="Lora Medium"/>
              </a:rPr>
              <a:t>Short, easy, and not overwhelming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85800" y="155448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experience was consistently described as short and easy to go through. The 3-question structure supported a solid baseline level of engagement without feeling like a burden.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754880" y="1051560"/>
            <a:ext cx="4023360" cy="169164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rgbClr val="3B82F6"/>
                </a:solidFill>
                <a:latin typeface="Lora Medium"/>
                <a:ea typeface="Lora Medium"/>
                <a:cs typeface="Lora Medium"/>
                <a:sym typeface="Lora Medium"/>
              </a:rPr>
              <a:t>Percentages: reactions were mixed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983480" y="155448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Seeing how others answered created a sense of community: users felt "part of something bigger." However, others often described as "nice but not important." Users didn't connect the data to their goals and just wanted to move 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192" y="2971800"/>
            <a:ext cx="4023300" cy="16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85792" y="310896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Poppins"/>
              <a:buNone/>
            </a:pPr>
            <a:r>
              <a:rPr lang="en-US">
                <a:solidFill>
                  <a:srgbClr val="3B82F6"/>
                </a:solidFill>
                <a:latin typeface="Lora Medium"/>
                <a:ea typeface="Lora Medium"/>
                <a:cs typeface="Lora Medium"/>
                <a:sym typeface="Lora Medium"/>
              </a:rPr>
              <a:t>Aesthetic visuals, but no clear purpose of the app 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85792" y="3474720"/>
            <a:ext cx="3566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Design was appealing but didn't communicate what the app does. Felt like nice imagery rather than a showcase of editing capabilities.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Poll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Pain Points &amp; Risks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57200" y="1051548"/>
            <a:ext cx="8229600" cy="1202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457200" y="1051548"/>
            <a:ext cx="63900" cy="12021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777240" y="11430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Poppins"/>
              <a:buNone/>
            </a:pPr>
            <a:r>
              <a:rPr i="0" lang="en-US" sz="1300" u="none" cap="none" strike="noStrike">
                <a:solidFill>
                  <a:srgbClr val="3B82F6"/>
                </a:solidFill>
                <a:latin typeface="Lora Medium"/>
                <a:ea typeface="Lora Medium"/>
                <a:cs typeface="Lora Medium"/>
                <a:sym typeface="Lora Medium"/>
              </a:rPr>
              <a:t>Percentages lacked clear purpose </a:t>
            </a:r>
            <a:r>
              <a:rPr lang="en-US" sz="1300">
                <a:solidFill>
                  <a:srgbClr val="3B82F6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1300" u="none" cap="none" strike="noStrike">
                <a:solidFill>
                  <a:srgbClr val="3B82F6"/>
                </a:solidFill>
                <a:latin typeface="Lora Medium"/>
                <a:ea typeface="Lora Medium"/>
                <a:cs typeface="Lora Medium"/>
                <a:sym typeface="Lora Medium"/>
              </a:rPr>
              <a:t> felt like a survey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777250" y="1490475"/>
            <a:ext cx="768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Users repeatedly asked why the percentages were shown. The feature felt like survey data, creating a strong perception that the onboarding is a survey rather than a product experience. </a:t>
            </a:r>
            <a:r>
              <a:rPr b="1"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No users recognized the intended Instagram story-poll pattern</a:t>
            </a: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- the social media connection did not come through.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57200" y="2469355"/>
            <a:ext cx="82296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57200" y="2469355"/>
            <a:ext cx="63900" cy="10059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777240" y="2560795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Poppins"/>
              <a:buNone/>
            </a:pPr>
            <a:r>
              <a:rPr i="0" lang="en-US" sz="1300" u="none" cap="none" strike="noStrike">
                <a:solidFill>
                  <a:srgbClr val="3B82F6"/>
                </a:solidFill>
                <a:latin typeface="Lora Medium"/>
                <a:ea typeface="Lora Medium"/>
                <a:cs typeface="Lora Medium"/>
                <a:sym typeface="Lora Medium"/>
              </a:rPr>
              <a:t>Questions too general and lacking depth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777240" y="2908267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Questions felt too basic and disconnected from the app's features. Users expected specifics - filters, AI tools, types of edits.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731520" y="12801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4800"/>
              <a:buFont typeface="Poppins"/>
              <a:buNone/>
            </a:pPr>
            <a:r>
              <a:rPr i="0" lang="en-US" sz="4800" u="none" cap="none" strike="noStrike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02</a:t>
            </a:r>
            <a:endParaRPr i="0" sz="4800" u="none" cap="none" strike="noStrike">
              <a:solidFill>
                <a:schemeClr val="dk1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</a:pPr>
            <a:r>
              <a:rPr i="0" lang="en-US" sz="3600" u="none" cap="none" strike="noStrike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Quantitative Comparison</a:t>
            </a:r>
            <a:endParaRPr i="0" sz="3600" u="none" cap="none" strike="noStrike">
              <a:solidFill>
                <a:schemeClr val="dk1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6"/>
              </a:buClr>
              <a:buSzPts val="1600"/>
              <a:buFont typeface="Poppins"/>
              <a:buNone/>
            </a:pPr>
            <a:r>
              <a:rPr b="0" i="0" lang="en-US" sz="1600" u="none" cap="none" strike="noStrike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Statistical comparison of rating-scale questions across all three groups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Mean Ratings Across Groups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descr="/sessions/stoic-elegant-ptolemy/charts/mean_ratings.png"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14400"/>
            <a:ext cx="82296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/>
          <p:nvPr/>
        </p:nvSpPr>
        <p:spPr>
          <a:xfrm>
            <a:off x="731540" y="4754887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9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*No statistically significant differences were found between the three groups.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Statistical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s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ignificance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t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esting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graphicFrame>
        <p:nvGraphicFramePr>
          <p:cNvPr id="204" name="Google Shape;204;p13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{735D4923-797E-4BDB-927C-D5248A806A87}</a:tableStyleId>
              </a:tblPr>
              <a:tblGrid>
                <a:gridCol w="1554475"/>
                <a:gridCol w="1280150"/>
                <a:gridCol w="1280150"/>
                <a:gridCol w="1280150"/>
                <a:gridCol w="1005850"/>
                <a:gridCol w="11887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Question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Baseline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Mean (SD)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Persona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Mean (SD)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Poll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Mean (SD)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p-value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Significant?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Visual Appeal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4.17 (0.93)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4.35 (0.77)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4.12 (0.94)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 = .562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6A6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8896A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Engagement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3.77 (1.07)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4.28 (0.75)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4.08 (0.94)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 = .107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6A6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8896A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Scenario Fit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4.22 (0.95)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4.25 (0.93)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3.77 (1.21)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 = .145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6A6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8896A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3"/>
          <p:cNvSpPr/>
          <p:nvPr/>
        </p:nvSpPr>
        <p:spPr>
          <a:xfrm>
            <a:off x="457200" y="3291853"/>
            <a:ext cx="8229600" cy="1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457200" y="3291853"/>
            <a:ext cx="63900" cy="155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777240" y="33832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Poppins"/>
              <a:buNone/>
            </a:pPr>
            <a:r>
              <a:rPr i="0" lang="en-US" sz="1400" u="none" cap="none" strike="noStrike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Key Takeaway</a:t>
            </a:r>
            <a:endParaRPr i="0" sz="1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777265" y="3901495"/>
            <a:ext cx="768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None of the differences between groups reached statistical significance (all p &gt; .05).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directional patterns (Persona trending highest on Engagement; Poll trending lowest on Scenario Fit) are consistent with the qualitative findings, but would require larger samples to confirm statistically.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/>
          <p:nvPr/>
        </p:nvSpPr>
        <p:spPr>
          <a:xfrm>
            <a:off x="288550" y="274450"/>
            <a:ext cx="8686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Poppins"/>
              <a:buNone/>
            </a:pP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How </a:t>
            </a:r>
            <a:r>
              <a:rPr lang="en-US" sz="24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d</a:t>
            </a: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id </a:t>
            </a:r>
            <a:r>
              <a:rPr lang="en-US" sz="24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u</a:t>
            </a: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sers </a:t>
            </a:r>
            <a:r>
              <a:rPr lang="en-US" sz="24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r</a:t>
            </a: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eact to </a:t>
            </a:r>
            <a:r>
              <a:rPr lang="en-US" sz="24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e</a:t>
            </a: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ach </a:t>
            </a:r>
            <a:r>
              <a:rPr lang="en-US" sz="24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c</a:t>
            </a: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oncept's </a:t>
            </a:r>
            <a:r>
              <a:rPr lang="en-US" sz="24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u</a:t>
            </a: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nique </a:t>
            </a:r>
            <a:r>
              <a:rPr lang="en-US" sz="24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f</a:t>
            </a:r>
            <a:r>
              <a:rPr i="0" lang="en-US" sz="24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eature?</a:t>
            </a:r>
            <a:endParaRPr i="0" sz="24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88550" y="899025"/>
            <a:ext cx="8433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Poppi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Persona users were asked how they felt seeing their editing personality type. Poll users were asked how they felt seeing other users' percentages. </a:t>
            </a:r>
            <a:r>
              <a:rPr lang="en-US" sz="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No statistically significant differences were found within each group.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toic-elegant-ptolemy/charts/concept_specific.png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36560"/>
            <a:ext cx="8229598" cy="35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Rating Distribution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-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 Visual Appeal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descr="/sessions/stoic-elegant-ptolemy/charts/dist_visual_appeal_v2.png"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914400"/>
            <a:ext cx="7680959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Rating Distribution — Engagement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descr="/sessions/stoic-elegant-ptolemy/charts/dist_engagement_v2.png" id="230" name="Google Shape;2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914400"/>
            <a:ext cx="768096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Rating Distribution — Scenario Fit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descr="/sessions/stoic-elegant-ptolemy/charts/dist_scenario_fit_v2.png" id="237" name="Google Shape;2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914400"/>
            <a:ext cx="768096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A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n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ote on </a:t>
            </a:r>
            <a:r>
              <a:rPr lang="en-US" sz="2600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v</a:t>
            </a: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ariance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40075" y="1097275"/>
            <a:ext cx="7863900" cy="339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640074" y="1097275"/>
            <a:ext cx="63900" cy="339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1005840" y="128016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Standard deviation (SD) measures how much individual ratings spread from the mean. A low SD means users mostly agreed; a high SD means opinions were divided.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1005840" y="1920240"/>
            <a:ext cx="72237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4899"/>
                </a:solidFill>
                <a:latin typeface="Poppins"/>
                <a:ea typeface="Poppins"/>
                <a:cs typeface="Poppins"/>
                <a:sym typeface="Poppins"/>
              </a:rPr>
              <a:t>Persona shows the tightest spread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(SD 0.75–0.93 across the three shared questions) </a:t>
            </a:r>
            <a:r>
              <a:rPr lang="en-US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users mostly agreed these ratings were high. This suggests a consistently positive experience.</a:t>
            </a:r>
            <a:b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12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Poll's Scenario Fit has the widest spread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(SD 1.21) </a:t>
            </a:r>
            <a:r>
              <a:rPr lang="en-US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ratings ranged from 1 to 5, with no clear consensus. The percentages feature divides opinion on whether it belongs in a photo editing app.</a:t>
            </a:r>
            <a:b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12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concept-specific questions are even more polarizing: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Persona personality type SD = 1.29, Poll percentages SD = 1.37. Both unique features have fans and skeptics,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but Poll is the most divisive overall.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/>
          <p:nvPr/>
        </p:nvSpPr>
        <p:spPr>
          <a:xfrm>
            <a:off x="731520" y="12801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4800"/>
              <a:buFont typeface="Poppins"/>
              <a:buNone/>
            </a:pPr>
            <a:r>
              <a:rPr i="0" lang="en-US" sz="4800" u="none" cap="none" strike="noStrike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03</a:t>
            </a:r>
            <a:endParaRPr i="0" sz="48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</a:pPr>
            <a:r>
              <a:rPr i="0" lang="en-US" sz="3600" u="none" cap="none" strike="noStrike">
                <a:solidFill>
                  <a:srgbClr val="FFFFFF"/>
                </a:solidFill>
                <a:latin typeface="Lora Medium"/>
                <a:ea typeface="Lora Medium"/>
                <a:cs typeface="Lora Medium"/>
                <a:sym typeface="Lora Medium"/>
              </a:rPr>
              <a:t>Recommendations</a:t>
            </a:r>
            <a:endParaRPr i="0" sz="3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6"/>
              </a:buClr>
              <a:buSzPts val="1600"/>
              <a:buFont typeface="Poppins"/>
              <a:buNone/>
            </a:pPr>
            <a:r>
              <a:rPr b="0" i="0" lang="en-US" sz="1600" u="none" cap="none" strike="noStrike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Next steps based on the findings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Poppins"/>
              <a:buNone/>
            </a:pPr>
            <a:r>
              <a:rPr i="0" lang="en-US" sz="26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Recommendations</a:t>
            </a:r>
            <a:endParaRPr i="0" sz="26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1280160" y="107899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Poppins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Persona concept is the strongest candidate for further development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1280160" y="1365774"/>
            <a:ext cx="713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0" i="0" lang="en-US" sz="11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he flow created </a:t>
            </a:r>
            <a:r>
              <a:rPr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0" i="0" lang="en-US" sz="11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delight and intrest. We should keep improving it - </a:t>
            </a:r>
            <a:r>
              <a:rPr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b="0" i="0" lang="en-US" sz="11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efine the personality quiz with broader answer options and a clear explanation of how the result impacts the in-app experience.</a:t>
            </a:r>
            <a:endParaRPr b="0" i="0" sz="11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57200" y="2180770"/>
            <a:ext cx="8229600" cy="86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640080" y="236365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40080" y="23636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lang="en-U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1280160" y="2253922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Poppins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Add a visible personalization payoff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280160" y="2540704"/>
            <a:ext cx="713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In all three experiences, users wanted to see how their answers changed the app. A "based on your answers, we recommend..." moment would close the loop and justify the onboarding effort.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57200" y="3355823"/>
            <a:ext cx="8229600" cy="103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640080" y="3645315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640080" y="364531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lang="en-U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1280160" y="3428987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Poppins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Lora Medium"/>
                <a:ea typeface="Lora Medium"/>
                <a:cs typeface="Lora Medium"/>
                <a:sym typeface="Lora Medium"/>
              </a:rPr>
              <a:t>Consider hybrid: Persona flow + Poll element</a:t>
            </a:r>
            <a:endParaRPr i="0" sz="13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1280150" y="3739872"/>
            <a:ext cx="713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poll's percentage reveal could enhance the Persona flow without replacing it. Showing social proof at the personality result ("38% of users share your type") could combine the best of both concepts.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oppins"/>
              <a:buNone/>
            </a:pPr>
            <a:r>
              <a:rPr i="0" lang="en-US" sz="4200" u="none" cap="none" strike="noStrike">
                <a:solidFill>
                  <a:srgbClr val="FFFFFF"/>
                </a:solidFill>
                <a:latin typeface="Lora Medium"/>
                <a:ea typeface="Lora Medium"/>
                <a:cs typeface="Lora Medium"/>
                <a:sym typeface="Lora Medium"/>
              </a:rPr>
              <a:t>Thank You</a:t>
            </a:r>
            <a:endParaRPr i="0" sz="4200" u="none" cap="none" strike="noStrike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6"/>
              </a:buClr>
              <a:buSzPts val="1600"/>
              <a:buFont typeface="Poppins"/>
              <a:buNone/>
            </a:pPr>
            <a:r>
              <a:rPr b="0" i="0" lang="en-US" sz="1600" u="none" cap="none" strike="noStrike">
                <a:solidFill>
                  <a:srgbClr val="8896A6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Poppin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375FFF"/>
      </a:dk1>
      <a:lt1>
        <a:srgbClr val="FFFFFF"/>
      </a:lt1>
      <a:dk2>
        <a:srgbClr val="44546A"/>
      </a:dk2>
      <a:lt2>
        <a:srgbClr val="0F0F1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2026-04-13T11:37:44Z</dcterms:created>
  <dc:creator>Shira Kedem</dc:creator>
</cp:coreProperties>
</file>